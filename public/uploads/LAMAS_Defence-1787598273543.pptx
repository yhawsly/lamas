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1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8" r:id="rId14"/>
    <p:sldId id="269" r:id="rId15"/>
    <p:sldId id="270" r:id="rId16"/>
    <p:sldId id="267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2018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DD95B-AF49-7545-8436-DA38B737E5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1A5256-15A0-0FB4-BDEB-F4EF830B2E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7A77BDA-33CA-7479-ED92-C22A07C06C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20E4FA-99D4-A84A-5695-021FBDBA57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48472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182880"/>
            <a:ext cx="2743200" cy="274320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680960" y="640080"/>
            <a:ext cx="1645920" cy="164592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77724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1783080"/>
            <a:ext cx="74980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 Academic Management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Accountability System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18872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999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 Technical University – Dept. of Computer Science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3186684"/>
            <a:ext cx="8229600" cy="6377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 Mr. </a:t>
            </a:r>
            <a:r>
              <a:rPr lang="en-US" sz="1200" b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Ankrah </a:t>
            </a:r>
            <a:endParaRPr lang="en-US" sz="1200" b="1" dirty="0">
              <a:solidFill>
                <a:srgbClr val="CADCF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Authors: </a:t>
            </a:r>
            <a:r>
              <a:rPr lang="en-US" sz="1200" i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Sylvester Fiagbedzi  ·  Redeemer Botchway  ·  Manuel </a:t>
            </a:r>
            <a:r>
              <a:rPr lang="en-US" sz="1200" i="1" dirty="0" err="1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Aformaley</a:t>
            </a:r>
            <a:endParaRPr lang="en-US" sz="1200" i="1" dirty="0">
              <a:solidFill>
                <a:srgbClr val="E2E8F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40080" y="3739896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Course: </a:t>
            </a: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BTech ICT 400  ·  May 2024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4008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Defence Presentation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384048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9669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49808" y="960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49808" y="1152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 was necessary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627632"/>
            <a:ext cx="384048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274320" y="166420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49808" y="1627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&amp; Objectives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49808" y="18196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set out to achieve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295144"/>
            <a:ext cx="384048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33172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49808" y="2295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&amp; Gaps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49808" y="2487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 and what is missing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2962656"/>
            <a:ext cx="384048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29992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29626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(LAMAS)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49808" y="3154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system does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3630168"/>
            <a:ext cx="384048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274320" y="366674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49808" y="3630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49808" y="38221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4320" y="4297680"/>
            <a:ext cx="384048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8" name="Text 26"/>
          <p:cNvSpPr/>
          <p:nvPr/>
        </p:nvSpPr>
        <p:spPr>
          <a:xfrm>
            <a:off x="274320" y="433425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49808" y="4297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749808" y="44897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design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960120"/>
            <a:ext cx="384048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2" name="Text 30"/>
          <p:cNvSpPr/>
          <p:nvPr/>
        </p:nvSpPr>
        <p:spPr>
          <a:xfrm>
            <a:off x="4663440" y="99669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38928" y="96012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138928" y="115214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functional modules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663440" y="1627632"/>
            <a:ext cx="384048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6" name="Text 34"/>
          <p:cNvSpPr/>
          <p:nvPr/>
        </p:nvSpPr>
        <p:spPr>
          <a:xfrm>
            <a:off x="4663440" y="166420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138928" y="162763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138928" y="181965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16-model relational schema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295144"/>
            <a:ext cx="384048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0" name="Text 38"/>
          <p:cNvSpPr/>
          <p:nvPr/>
        </p:nvSpPr>
        <p:spPr>
          <a:xfrm>
            <a:off x="4663440" y="233172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38928" y="2295144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Access Control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38928" y="2487168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and auth flow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63440" y="2962656"/>
            <a:ext cx="384048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4" name="Text 42"/>
          <p:cNvSpPr/>
          <p:nvPr/>
        </p:nvSpPr>
        <p:spPr>
          <a:xfrm>
            <a:off x="4663440" y="2999232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38928" y="29626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&amp; Analytics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138928" y="315468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scoring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3630168"/>
            <a:ext cx="384048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8" name="Text 46"/>
          <p:cNvSpPr/>
          <p:nvPr/>
        </p:nvSpPr>
        <p:spPr>
          <a:xfrm>
            <a:off x="4663440" y="366674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5138928" y="363016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Impact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5138928" y="382219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of the system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4663440" y="4297680"/>
            <a:ext cx="384048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52" name="Text 50"/>
          <p:cNvSpPr/>
          <p:nvPr/>
        </p:nvSpPr>
        <p:spPr>
          <a:xfrm>
            <a:off x="4663440" y="433425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5138928" y="429768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300" dirty="0"/>
          </a:p>
        </p:txBody>
      </p:sp>
      <p:sp>
        <p:nvSpPr>
          <p:cNvPr id="54" name="Text 52"/>
          <p:cNvSpPr/>
          <p:nvPr/>
        </p:nvSpPr>
        <p:spPr>
          <a:xfrm>
            <a:off x="5138928" y="448970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74320" y="1620774"/>
            <a:ext cx="2331720" cy="9453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274320" y="2665222"/>
            <a:ext cx="2331720" cy="8110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academic reports submitted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deadlines using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methods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880360" y="1442720"/>
            <a:ext cx="64008" cy="47548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3017520" y="1442720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Submissions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050540" y="1653032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processes and informal email channels result in chronic late filing of semester plans and reports.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80360" y="2090674"/>
            <a:ext cx="64008" cy="47548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3017520" y="2090674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Storage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017520" y="2300986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are scattered across emails and drives — impossible to audit or retrieve reliably.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880360" y="2681478"/>
            <a:ext cx="64008" cy="47548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3017520" y="2681478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Accountability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017520" y="289179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Administrators cannot easily verify whether required documents have been submitted within stipulated timelines.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880360" y="3265932"/>
            <a:ext cx="64008" cy="4754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8"/>
          <p:cNvSpPr/>
          <p:nvPr/>
        </p:nvSpPr>
        <p:spPr>
          <a:xfrm>
            <a:off x="3017520" y="3265932"/>
            <a:ext cx="58521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Audit Trails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017520" y="347624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structured tracking, institutions lack the evidence needed for quality assurance reviews.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977640"/>
            <a:ext cx="8595360" cy="34747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9776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Findings confirmed: existing processes are fragmented, untracked, and error-prone.</a:t>
            </a:r>
            <a:endParaRPr lang="en-US" sz="1200" dirty="0"/>
          </a:p>
        </p:txBody>
      </p:sp>
      <p:sp>
        <p:nvSpPr>
          <p:cNvPr id="24" name="Shape 5">
            <a:extLst>
              <a:ext uri="{FF2B5EF4-FFF2-40B4-BE49-F238E27FC236}">
                <a16:creationId xmlns:a16="http://schemas.microsoft.com/office/drawing/2014/main" id="{2AB7CF16-C583-F992-913E-330FAEB4711D}"/>
              </a:ext>
            </a:extLst>
          </p:cNvPr>
          <p:cNvSpPr/>
          <p:nvPr/>
        </p:nvSpPr>
        <p:spPr>
          <a:xfrm>
            <a:off x="274320" y="1398270"/>
            <a:ext cx="2331720" cy="2331720"/>
          </a:xfrm>
          <a:prstGeom prst="rect">
            <a:avLst/>
          </a:prstGeom>
          <a:solidFill>
            <a:srgbClr val="0D2B55"/>
          </a:solidFill>
          <a:ln/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B938AE-60AF-E223-0517-70F257294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060" y="1935495"/>
            <a:ext cx="2174240" cy="12938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D19F4C-A465-B41D-E571-F85928CAF1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E85550CA-384C-B130-C9E4-D808730172E5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7453BF5-46EA-9C3F-98F3-9FD698237BAA}"/>
              </a:ext>
            </a:extLst>
          </p:cNvPr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CEEC1C5-698F-C608-FDAA-75EA8C00E645}"/>
              </a:ext>
            </a:extLst>
          </p:cNvPr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We Are Solving</a:t>
            </a:r>
            <a:endParaRPr lang="en-US" sz="26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55577A7-6ACD-2B98-1470-4AD1B0F81A82}"/>
              </a:ext>
            </a:extLst>
          </p:cNvPr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09DA4E26-1840-A927-641F-4D8506130688}"/>
              </a:ext>
            </a:extLst>
          </p:cNvPr>
          <p:cNvSpPr/>
          <p:nvPr/>
        </p:nvSpPr>
        <p:spPr>
          <a:xfrm>
            <a:off x="274320" y="3977640"/>
            <a:ext cx="8595360" cy="34747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1E3FAAFD-FFA3-6CD6-FA6C-26BE33B31D4C}"/>
              </a:ext>
            </a:extLst>
          </p:cNvPr>
          <p:cNvSpPr/>
          <p:nvPr/>
        </p:nvSpPr>
        <p:spPr>
          <a:xfrm>
            <a:off x="274320" y="397764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 Findings confirmed: existing processes are fragmented, untracked, and error-prone.</a:t>
            </a:r>
            <a:endParaRPr lang="en-US" sz="1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E8FF6C4-979D-CFD1-20DC-7282C8B936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5" y="955548"/>
            <a:ext cx="4743450" cy="2846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51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Aims &amp; Objectives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8595360" cy="438912"/>
          </a:xfrm>
          <a:prstGeom prst="rect">
            <a:avLst/>
          </a:prstGeom>
          <a:solidFill>
            <a:srgbClr val="028090">
              <a:alpha val="8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978408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 — Design and implement a lecturer academic management and accountability system that enables structured submission, efficient tracking, and centralized management of lecturer-related academic activities.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572768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572768"/>
            <a:ext cx="347472" cy="9601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8653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13232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Submission Framework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13232" y="19019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lecturers to submit semester calendars and course topics in a standardized, trackable digital format.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670048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70048"/>
            <a:ext cx="347472" cy="9601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6" name="Text 14"/>
          <p:cNvSpPr/>
          <p:nvPr/>
        </p:nvSpPr>
        <p:spPr>
          <a:xfrm>
            <a:off x="274320" y="29626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13232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Reporting Hub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13232" y="29992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platform for uploading, storing, and retrieving observation reports and academic documentation.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767328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767328"/>
            <a:ext cx="347472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0599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13232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 Management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" y="4096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notifications and reminders to promote timely submission of all required documents.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1572768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572768"/>
            <a:ext cx="347472" cy="9601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86537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193792" y="16459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Administrative Dashboard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193792" y="190195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visualization of submission status and lecturer activity summaries for HODs and admins.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2670048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670048"/>
            <a:ext cx="347472" cy="9601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96265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193792" y="27432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Tracking &amp; Audit Log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193792" y="299923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logging of every lecturer action for monitoring, compliance, and institutional audit.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3767328"/>
            <a:ext cx="4251960" cy="9601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3767328"/>
            <a:ext cx="347472" cy="9601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4059936"/>
            <a:ext cx="3474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193792" y="3840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Centralized Database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193792" y="4096512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data integrity, structured storage, and efficient retrieval of all academic records.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Research Gaps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96012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Already Exists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" y="1481328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417320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lecturer evaluation (96% MLP prediction accuracy)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92608" y="2048256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1984248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lecture style assessment (biometric indicators)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92608" y="2615184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2551176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Web-based monitoring systems (LEMS – attendance tracking)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2608" y="3182112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118104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ERP modules (GeniusEduERP – scheduling, payroll)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92608" y="374904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3685032"/>
            <a:ext cx="352044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 Systems (LMS adoption studies)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07408" y="960120"/>
            <a:ext cx="50292" cy="3474720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960120"/>
            <a:ext cx="420624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663440" y="960120"/>
            <a:ext cx="4206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Gaps (Justifying LAMAS)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663440" y="1527048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3" name="Text 21"/>
          <p:cNvSpPr/>
          <p:nvPr/>
        </p:nvSpPr>
        <p:spPr>
          <a:xfrm>
            <a:off x="4956048" y="141732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need heavy infrastructure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16367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Impractical for technical universities in Ghana.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663440" y="2093976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956048" y="198424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modules are expensive &amp; complex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956048" y="2203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Bundled features don't fit lean institutional needs.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63440" y="2660904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9" name="Text 27"/>
          <p:cNvSpPr/>
          <p:nvPr/>
        </p:nvSpPr>
        <p:spPr>
          <a:xfrm>
            <a:off x="4956048" y="25511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standalone lecturer-only platform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956048" y="27706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systems embed lecturer modules inside student-facing systems.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663440" y="3227832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2" name="Text 30"/>
          <p:cNvSpPr/>
          <p:nvPr/>
        </p:nvSpPr>
        <p:spPr>
          <a:xfrm>
            <a:off x="4956048" y="31181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submission + deadline + notification combo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956048" y="33375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tools don't integrate these three in one lightweight app.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663440" y="3794760"/>
            <a:ext cx="201168" cy="20116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4956048" y="368503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research for Ghanaian tech. education context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956048" y="39044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Infrastructure, culture, and budget differ from developed-country studies.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74320" y="4526280"/>
            <a:ext cx="8595360" cy="30175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526280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LAMAS directly addresses all five gaps identified above.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— What LAMAS Does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91440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LAMAS is a web-based, role-aware academic management platform that digitises every step of lecturer compliance — from document submission to administrative oversight.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" y="1554480"/>
            <a:ext cx="201168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554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938528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84048" y="2011680"/>
            <a:ext cx="1792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Submits semester calendars, course topics &amp; weekly plans. Views deadlines &amp; personal compliance score.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450592" y="1554480"/>
            <a:ext cx="2011680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3" name="Text 11"/>
          <p:cNvSpPr/>
          <p:nvPr/>
        </p:nvSpPr>
        <p:spPr>
          <a:xfrm>
            <a:off x="2450592" y="1554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450592" y="1938528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2560320" y="2011680"/>
            <a:ext cx="1792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and approves/rejects lecturer submissions. Views departmental compliance heatmaps.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26864" y="1554480"/>
            <a:ext cx="201168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626864" y="1554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26864" y="1938528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36592" y="2011680"/>
            <a:ext cx="1792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Provisions accounts, manages deadlines, sends broadcast messages, exports Excel reports.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803136" y="1554480"/>
            <a:ext cx="201168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803136" y="1554480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803136" y="1938528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912864" y="2011680"/>
            <a:ext cx="1792224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system access across all departments. Configures academic terms and system-wide settings.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950208"/>
            <a:ext cx="1920240" cy="38404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5" name="Text 23"/>
          <p:cNvSpPr/>
          <p:nvPr/>
        </p:nvSpPr>
        <p:spPr>
          <a:xfrm>
            <a:off x="274320" y="3950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Documents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194560" y="395020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450592" y="3950208"/>
            <a:ext cx="1920240" cy="38404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8" name="Text 26"/>
          <p:cNvSpPr/>
          <p:nvPr/>
        </p:nvSpPr>
        <p:spPr>
          <a:xfrm>
            <a:off x="2450592" y="3950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Deadlines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370832" y="395020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26864" y="3950208"/>
            <a:ext cx="192024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1" name="Text 29"/>
          <p:cNvSpPr/>
          <p:nvPr/>
        </p:nvSpPr>
        <p:spPr>
          <a:xfrm>
            <a:off x="4626864" y="3950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&amp; Approve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47104" y="3950208"/>
            <a:ext cx="256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803136" y="3950208"/>
            <a:ext cx="1920240" cy="38404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6803136" y="395020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Report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92608" cy="8961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58368" y="10058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75888" y="1051560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3675888" y="1051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Router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658368" y="126187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server rendering, collocated API routes, Middleware RBAC guards, security headers.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84248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1984248"/>
            <a:ext cx="292608" cy="89611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" y="20299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 5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75888" y="2075688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0D2B55"/>
          </a:solidFill>
          <a:ln/>
        </p:spPr>
      </p:sp>
      <p:sp>
        <p:nvSpPr>
          <p:cNvPr id="17" name="Text 15"/>
          <p:cNvSpPr/>
          <p:nvPr/>
        </p:nvSpPr>
        <p:spPr>
          <a:xfrm>
            <a:off x="3675888" y="20756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58368" y="228600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type safety across all models, API handlers, and UI components. Prevents runtime role-check bugs.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008376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008376"/>
            <a:ext cx="292608" cy="89611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" y="30540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7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5082" y="3099816"/>
            <a:ext cx="777240" cy="283464"/>
          </a:xfrm>
          <a:prstGeom prst="roundRect">
            <a:avLst>
              <a:gd name="adj" fmla="val 22727"/>
            </a:avLst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3675888" y="30998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/ PostgreSQL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658368" y="331012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Type-safe queries, 16-model relational schema, connection pooling (max 20), ACID compliance.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4032504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274320" y="4032504"/>
            <a:ext cx="292608" cy="89611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7" name="Text 25"/>
          <p:cNvSpPr/>
          <p:nvPr/>
        </p:nvSpPr>
        <p:spPr>
          <a:xfrm>
            <a:off x="658368" y="40782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v5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75888" y="4123944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F59E0B"/>
          </a:solidFill>
          <a:ln/>
        </p:spPr>
      </p:sp>
      <p:sp>
        <p:nvSpPr>
          <p:cNvPr id="29" name="Text 27"/>
          <p:cNvSpPr/>
          <p:nvPr/>
        </p:nvSpPr>
        <p:spPr>
          <a:xfrm>
            <a:off x="3675888" y="41239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58368" y="433425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sessions, bcrypt hashing, role + departmentId embedded in token, 30-min timeout with refresh.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960120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754880" y="960120"/>
            <a:ext cx="292608" cy="89611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5138928" y="100584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v4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8156448" y="1051560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8156448" y="1051560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138928" y="1261872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Bi-directional WebSocket for live broadcast announcements pushed to all connected users instantly.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1984248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754880" y="1984248"/>
            <a:ext cx="292608" cy="89611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39" name="Text 37"/>
          <p:cNvSpPr/>
          <p:nvPr/>
        </p:nvSpPr>
        <p:spPr>
          <a:xfrm>
            <a:off x="5138928" y="202996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SDK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8156448" y="2075688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64748B"/>
          </a:solidFill>
          <a:ln/>
        </p:spPr>
      </p:sp>
      <p:sp>
        <p:nvSpPr>
          <p:cNvPr id="41" name="Text 39"/>
          <p:cNvSpPr/>
          <p:nvPr/>
        </p:nvSpPr>
        <p:spPr>
          <a:xfrm>
            <a:off x="8156448" y="2075688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Delivery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38928" y="2286000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Transactional emails for account provisioning, deadline reminders, and admin broadcasts via DKIM-signed service.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008376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54880" y="3008376"/>
            <a:ext cx="292608" cy="89611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5" name="Text 43"/>
          <p:cNvSpPr/>
          <p:nvPr/>
        </p:nvSpPr>
        <p:spPr>
          <a:xfrm>
            <a:off x="5138928" y="305409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156448" y="3099816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028090"/>
          </a:solidFill>
          <a:ln/>
        </p:spPr>
      </p:sp>
      <p:sp>
        <p:nvSpPr>
          <p:cNvPr id="47" name="Text 45"/>
          <p:cNvSpPr/>
          <p:nvPr/>
        </p:nvSpPr>
        <p:spPr>
          <a:xfrm>
            <a:off x="8156448" y="3099816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Styling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5138928" y="3310128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Utility-first CSS across 4 role dashboards — consistent spacing, responsive breakpoints, zero bespoke CSS files.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754880" y="4032504"/>
            <a:ext cx="4251960" cy="896112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754880" y="4032504"/>
            <a:ext cx="292608" cy="89611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51" name="Text 49"/>
          <p:cNvSpPr/>
          <p:nvPr/>
        </p:nvSpPr>
        <p:spPr>
          <a:xfrm>
            <a:off x="5138928" y="407822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node-cron + Zod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8024191" y="4123944"/>
            <a:ext cx="909497" cy="237744"/>
          </a:xfrm>
          <a:prstGeom prst="roundRect">
            <a:avLst>
              <a:gd name="adj" fmla="val 22727"/>
            </a:avLst>
          </a:prstGeom>
          <a:solidFill>
            <a:srgbClr val="0D2B55"/>
          </a:solidFill>
          <a:ln/>
        </p:spPr>
      </p:sp>
      <p:sp>
        <p:nvSpPr>
          <p:cNvPr id="53" name="Text 51"/>
          <p:cNvSpPr/>
          <p:nvPr/>
        </p:nvSpPr>
        <p:spPr>
          <a:xfrm>
            <a:off x="8156448" y="4123944"/>
            <a:ext cx="777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+ Validation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5138928" y="4334256"/>
            <a:ext cx="3749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CRON pipeline for deadline processing; Zod validates every API request body at runtime.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Three-Tier System Architecture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28600" y="960120"/>
            <a:ext cx="8686800" cy="1051560"/>
          </a:xfrm>
          <a:prstGeom prst="rect">
            <a:avLst/>
          </a:prstGeom>
          <a:solidFill>
            <a:srgbClr val="028090">
              <a:alpha val="12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228600" y="960120"/>
            <a:ext cx="182880" cy="10515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7840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LAYER (Browser)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280160"/>
            <a:ext cx="192024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280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UI Components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606040" y="1280160"/>
            <a:ext cx="192024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280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v4 Styling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709160" y="1280160"/>
            <a:ext cx="192024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4709160" y="1280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Dashboards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12280" y="1280160"/>
            <a:ext cx="1920240" cy="566928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6812280" y="128016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Client (WebSocket)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0" y="2039112"/>
            <a:ext cx="914400" cy="182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206654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/ WebSocket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286000"/>
            <a:ext cx="8686800" cy="1051560"/>
          </a:xfrm>
          <a:prstGeom prst="rect">
            <a:avLst/>
          </a:prstGeom>
          <a:solidFill>
            <a:srgbClr val="0D2B55">
              <a:alpha val="12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28600" y="2286000"/>
            <a:ext cx="182880" cy="105156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230428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SERVER LAYER (Next.js 16)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02920" y="2606040"/>
            <a:ext cx="1920240" cy="56692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26060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Middleware.ts (RBAC)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606040" y="2606040"/>
            <a:ext cx="1920240" cy="56692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6" name="Text 24"/>
          <p:cNvSpPr/>
          <p:nvPr/>
        </p:nvSpPr>
        <p:spPr>
          <a:xfrm>
            <a:off x="2606040" y="26060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Route Handlers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09160" y="2606040"/>
            <a:ext cx="1920240" cy="56692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8" name="Text 26"/>
          <p:cNvSpPr/>
          <p:nvPr/>
        </p:nvSpPr>
        <p:spPr>
          <a:xfrm>
            <a:off x="4709160" y="26060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v5 (JWT)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812280" y="2606040"/>
            <a:ext cx="1920240" cy="56692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0" name="Text 28"/>
          <p:cNvSpPr/>
          <p:nvPr/>
        </p:nvSpPr>
        <p:spPr>
          <a:xfrm>
            <a:off x="6812280" y="2606040"/>
            <a:ext cx="19202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/deadlines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200400" y="3392424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Client / pg Pool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611880"/>
            <a:ext cx="8686800" cy="960120"/>
          </a:xfrm>
          <a:prstGeom prst="rect">
            <a:avLst/>
          </a:prstGeom>
          <a:solidFill>
            <a:srgbClr val="10B981">
              <a:alpha val="12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28600" y="3611880"/>
            <a:ext cx="182880" cy="9601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4" name="Text 32"/>
          <p:cNvSpPr/>
          <p:nvPr/>
        </p:nvSpPr>
        <p:spPr>
          <a:xfrm>
            <a:off x="502920" y="36301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SERVICES LAYER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" y="3913632"/>
            <a:ext cx="1920240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6" name="Text 34"/>
          <p:cNvSpPr/>
          <p:nvPr/>
        </p:nvSpPr>
        <p:spPr>
          <a:xfrm>
            <a:off x="502920" y="391363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(pg Pool·20)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2606040" y="3913632"/>
            <a:ext cx="1920240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2606040" y="391363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Client 7 (ORM)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709160" y="3913632"/>
            <a:ext cx="1920240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709160" y="391363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(Email)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280" y="3913632"/>
            <a:ext cx="1920240" cy="5303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2" name="Text 40"/>
          <p:cNvSpPr/>
          <p:nvPr/>
        </p:nvSpPr>
        <p:spPr>
          <a:xfrm>
            <a:off x="6812280" y="3913632"/>
            <a:ext cx="19202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Socket.IO Server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 of LAMAS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4251960" cy="34747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" y="10149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bg1"/>
                </a:solidFill>
              </a:rPr>
              <a:t>Structured Submission Workflow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384048" y="1371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Lecturers submit semester calendars, course topic plans, and weekly topics through structured, validated forms — versioned and stored centrally.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960120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960120"/>
            <a:ext cx="4251960" cy="34747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014984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Deadline Engine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64608" y="137160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 job scans deadlines every cycle: sends 24-hr reminders to non-submitters and escalates 7-day overdue reports to HODs.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2313432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313432"/>
            <a:ext cx="4251960" cy="347472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84048" y="23682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chemeClr val="bg1"/>
                </a:solidFill>
              </a:rPr>
              <a:t>Analytics &amp; Reporting</a:t>
            </a:r>
            <a:endParaRPr lang="en-US" sz="13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384048" y="272491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002060"/>
                </a:solidFill>
              </a:rPr>
              <a:t>Visual analytics that provide a high-level view of academic performance and contribution.</a:t>
            </a:r>
          </a:p>
        </p:txBody>
      </p:sp>
      <p:sp>
        <p:nvSpPr>
          <p:cNvPr id="19" name="Shape 17"/>
          <p:cNvSpPr/>
          <p:nvPr/>
        </p:nvSpPr>
        <p:spPr>
          <a:xfrm>
            <a:off x="4754880" y="2313432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313432"/>
            <a:ext cx="4251960" cy="34747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864608" y="2368296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Observation Management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64608" y="2724912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HODs schedule peer classroom observations; lifecycle tracked (Pending → Completed → Reviewed) with written feedback attached.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74320" y="3666744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666744"/>
            <a:ext cx="4251960" cy="34747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5" name="Text 23"/>
          <p:cNvSpPr/>
          <p:nvPr/>
        </p:nvSpPr>
        <p:spPr>
          <a:xfrm>
            <a:off x="384048" y="3721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84048" y="407822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(Approved on-time submissions / Total required) × 100. Late and rejected submissions are penalised in the numerator.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754880" y="3666744"/>
            <a:ext cx="4251960" cy="1207008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666744"/>
            <a:ext cx="4251960" cy="347472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9" name="Text 27"/>
          <p:cNvSpPr/>
          <p:nvPr/>
        </p:nvSpPr>
        <p:spPr>
          <a:xfrm>
            <a:off x="4864608" y="3721608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&amp; Notifications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64608" y="4078224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Admins push real-time announcements via Socket.IO; all in-app alerts persisted to Notification table; email via Resend SDK.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 — 16-Model Relational Schema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000" dirty="0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88D8AC0-9DB5-818A-249A-101FF77FA0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21" y="832104"/>
            <a:ext cx="6443869" cy="40142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ext 2"/>
          <p:cNvSpPr/>
          <p:nvPr/>
        </p:nvSpPr>
        <p:spPr>
          <a:xfrm>
            <a:off x="411480" y="7315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Role-Based Access Control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0" y="137160"/>
            <a:ext cx="777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74320" y="96012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&amp; Authorisation Flow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1325880"/>
            <a:ext cx="3200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32588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Login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" y="154533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 email + password to /api/auth/callback/credentials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74320" y="1911096"/>
            <a:ext cx="320040" cy="4572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911096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DB Lookup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" y="213055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queries PostgreSQL for matching active user record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496312"/>
            <a:ext cx="32004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685800" y="2496312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bcrypt Verify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" y="271576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bcryptjs compares plaintext password against stored hash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81528"/>
            <a:ext cx="32004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08152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JWT Issued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" y="330098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Auth.js embeds { id, role, departmentId, lastActivity } into signed JWT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74320" y="3666744"/>
            <a:ext cx="320040" cy="4572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3666744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HttpOnly Cookie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85800" y="388620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stored as secure, HttpOnly cookie — inaccessible to client JS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74320" y="4251960"/>
            <a:ext cx="32004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251960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2B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Middleware RBAC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5800" y="4471416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request: Middleware decodes JWT, checks role vs path, rejects if unauthorised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7" name="Text 25"/>
          <p:cNvSpPr/>
          <p:nvPr/>
        </p:nvSpPr>
        <p:spPr>
          <a:xfrm>
            <a:off x="5577840" y="960120"/>
            <a:ext cx="3291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Access Matrix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596128" y="1325880"/>
            <a:ext cx="126187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9" name="Text 27"/>
          <p:cNvSpPr/>
          <p:nvPr/>
        </p:nvSpPr>
        <p:spPr>
          <a:xfrm>
            <a:off x="5596128" y="132588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912864" y="1325880"/>
            <a:ext cx="43891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1" name="Text 29"/>
          <p:cNvSpPr/>
          <p:nvPr/>
        </p:nvSpPr>
        <p:spPr>
          <a:xfrm>
            <a:off x="6912864" y="132588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406640" y="1325880"/>
            <a:ext cx="43891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3" name="Text 31"/>
          <p:cNvSpPr/>
          <p:nvPr/>
        </p:nvSpPr>
        <p:spPr>
          <a:xfrm>
            <a:off x="7406640" y="132588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900416" y="1325880"/>
            <a:ext cx="438912" cy="457200"/>
          </a:xfrm>
          <a:prstGeom prst="rect">
            <a:avLst/>
          </a:prstGeom>
          <a:solidFill>
            <a:srgbClr val="02809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900416" y="132588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8394192" y="1325880"/>
            <a:ext cx="438912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7" name="Text 35"/>
          <p:cNvSpPr/>
          <p:nvPr/>
        </p:nvSpPr>
        <p:spPr>
          <a:xfrm>
            <a:off x="8394192" y="132588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596128" y="1837944"/>
            <a:ext cx="126187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Text 37"/>
          <p:cNvSpPr/>
          <p:nvPr/>
        </p:nvSpPr>
        <p:spPr>
          <a:xfrm>
            <a:off x="5596128" y="1837944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Docs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6912864" y="1837944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6912864" y="183794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7406640" y="1837944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3" name="Text 41"/>
          <p:cNvSpPr/>
          <p:nvPr/>
        </p:nvSpPr>
        <p:spPr>
          <a:xfrm>
            <a:off x="7406640" y="183794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900416" y="1837944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Text 43"/>
          <p:cNvSpPr/>
          <p:nvPr/>
        </p:nvSpPr>
        <p:spPr>
          <a:xfrm>
            <a:off x="7900416" y="183794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8394192" y="1837944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8394192" y="183794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5596128" y="2350008"/>
            <a:ext cx="126187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49" name="Text 47"/>
          <p:cNvSpPr/>
          <p:nvPr/>
        </p:nvSpPr>
        <p:spPr>
          <a:xfrm>
            <a:off x="5596128" y="2350008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Subs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912864" y="2350008"/>
            <a:ext cx="43891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1" name="Text 49"/>
          <p:cNvSpPr/>
          <p:nvPr/>
        </p:nvSpPr>
        <p:spPr>
          <a:xfrm>
            <a:off x="6912864" y="235000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7406640" y="2350008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3" name="Text 51"/>
          <p:cNvSpPr/>
          <p:nvPr/>
        </p:nvSpPr>
        <p:spPr>
          <a:xfrm>
            <a:off x="7406640" y="235000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900416" y="2350008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7900416" y="235000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8394192" y="2350008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7" name="Text 55"/>
          <p:cNvSpPr/>
          <p:nvPr/>
        </p:nvSpPr>
        <p:spPr>
          <a:xfrm>
            <a:off x="8394192" y="2350008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5596128" y="2862072"/>
            <a:ext cx="126187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59" name="Text 57"/>
          <p:cNvSpPr/>
          <p:nvPr/>
        </p:nvSpPr>
        <p:spPr>
          <a:xfrm>
            <a:off x="5596128" y="2862072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6912864" y="2862072"/>
            <a:ext cx="43891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1" name="Text 59"/>
          <p:cNvSpPr/>
          <p:nvPr/>
        </p:nvSpPr>
        <p:spPr>
          <a:xfrm>
            <a:off x="6912864" y="2862072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7406640" y="2862072"/>
            <a:ext cx="43891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3" name="Text 61"/>
          <p:cNvSpPr/>
          <p:nvPr/>
        </p:nvSpPr>
        <p:spPr>
          <a:xfrm>
            <a:off x="7406640" y="2862072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900416" y="2862072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5" name="Text 63"/>
          <p:cNvSpPr/>
          <p:nvPr/>
        </p:nvSpPr>
        <p:spPr>
          <a:xfrm>
            <a:off x="7900416" y="2862072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8394192" y="2862072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7" name="Text 65"/>
          <p:cNvSpPr/>
          <p:nvPr/>
        </p:nvSpPr>
        <p:spPr>
          <a:xfrm>
            <a:off x="8394192" y="2862072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5596128" y="3374136"/>
            <a:ext cx="126187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9" name="Text 67"/>
          <p:cNvSpPr/>
          <p:nvPr/>
        </p:nvSpPr>
        <p:spPr>
          <a:xfrm>
            <a:off x="5596128" y="3374136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Broadcasts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6912864" y="3374136"/>
            <a:ext cx="43891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1" name="Text 69"/>
          <p:cNvSpPr/>
          <p:nvPr/>
        </p:nvSpPr>
        <p:spPr>
          <a:xfrm>
            <a:off x="6912864" y="3374136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7406640" y="3374136"/>
            <a:ext cx="43891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3" name="Text 71"/>
          <p:cNvSpPr/>
          <p:nvPr/>
        </p:nvSpPr>
        <p:spPr>
          <a:xfrm>
            <a:off x="7406640" y="3374136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900416" y="3374136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5" name="Text 73"/>
          <p:cNvSpPr/>
          <p:nvPr/>
        </p:nvSpPr>
        <p:spPr>
          <a:xfrm>
            <a:off x="7900416" y="3374136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8394192" y="3374136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77" name="Text 75"/>
          <p:cNvSpPr/>
          <p:nvPr/>
        </p:nvSpPr>
        <p:spPr>
          <a:xfrm>
            <a:off x="8394192" y="3374136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5596128" y="3886200"/>
            <a:ext cx="126187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9" name="Text 77"/>
          <p:cNvSpPr/>
          <p:nvPr/>
        </p:nvSpPr>
        <p:spPr>
          <a:xfrm>
            <a:off x="5596128" y="3886200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Provision</a:t>
            </a:r>
            <a:endParaRPr lang="en-US" sz="1200" dirty="0"/>
          </a:p>
        </p:txBody>
      </p:sp>
      <p:sp>
        <p:nvSpPr>
          <p:cNvPr id="80" name="Shape 78"/>
          <p:cNvSpPr/>
          <p:nvPr/>
        </p:nvSpPr>
        <p:spPr>
          <a:xfrm>
            <a:off x="6912864" y="3886200"/>
            <a:ext cx="43891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1" name="Text 79"/>
          <p:cNvSpPr/>
          <p:nvPr/>
        </p:nvSpPr>
        <p:spPr>
          <a:xfrm>
            <a:off x="6912864" y="38862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82" name="Shape 80"/>
          <p:cNvSpPr/>
          <p:nvPr/>
        </p:nvSpPr>
        <p:spPr>
          <a:xfrm>
            <a:off x="7406640" y="3886200"/>
            <a:ext cx="43891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3" name="Text 81"/>
          <p:cNvSpPr/>
          <p:nvPr/>
        </p:nvSpPr>
        <p:spPr>
          <a:xfrm>
            <a:off x="7406640" y="38862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84" name="Shape 82"/>
          <p:cNvSpPr/>
          <p:nvPr/>
        </p:nvSpPr>
        <p:spPr>
          <a:xfrm>
            <a:off x="7900416" y="3886200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5" name="Text 83"/>
          <p:cNvSpPr/>
          <p:nvPr/>
        </p:nvSpPr>
        <p:spPr>
          <a:xfrm>
            <a:off x="7900416" y="38862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6" name="Shape 84"/>
          <p:cNvSpPr/>
          <p:nvPr/>
        </p:nvSpPr>
        <p:spPr>
          <a:xfrm>
            <a:off x="8394192" y="3886200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7" name="Text 85"/>
          <p:cNvSpPr/>
          <p:nvPr/>
        </p:nvSpPr>
        <p:spPr>
          <a:xfrm>
            <a:off x="8394192" y="3886200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8" name="Shape 86"/>
          <p:cNvSpPr/>
          <p:nvPr/>
        </p:nvSpPr>
        <p:spPr>
          <a:xfrm>
            <a:off x="5596128" y="4398264"/>
            <a:ext cx="126187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89" name="Text 87"/>
          <p:cNvSpPr/>
          <p:nvPr/>
        </p:nvSpPr>
        <p:spPr>
          <a:xfrm>
            <a:off x="5596128" y="4398264"/>
            <a:ext cx="12618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 Config</a:t>
            </a:r>
            <a:endParaRPr lang="en-US" sz="1200" dirty="0"/>
          </a:p>
        </p:txBody>
      </p:sp>
      <p:sp>
        <p:nvSpPr>
          <p:cNvPr id="90" name="Shape 88"/>
          <p:cNvSpPr/>
          <p:nvPr/>
        </p:nvSpPr>
        <p:spPr>
          <a:xfrm>
            <a:off x="6912864" y="4398264"/>
            <a:ext cx="43891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1" name="Text 89"/>
          <p:cNvSpPr/>
          <p:nvPr/>
        </p:nvSpPr>
        <p:spPr>
          <a:xfrm>
            <a:off x="6912864" y="439826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92" name="Shape 90"/>
          <p:cNvSpPr/>
          <p:nvPr/>
        </p:nvSpPr>
        <p:spPr>
          <a:xfrm>
            <a:off x="7406640" y="4398264"/>
            <a:ext cx="43891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3" name="Text 91"/>
          <p:cNvSpPr/>
          <p:nvPr/>
        </p:nvSpPr>
        <p:spPr>
          <a:xfrm>
            <a:off x="7406640" y="439826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94" name="Shape 92"/>
          <p:cNvSpPr/>
          <p:nvPr/>
        </p:nvSpPr>
        <p:spPr>
          <a:xfrm>
            <a:off x="7900416" y="4398264"/>
            <a:ext cx="438912" cy="4572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95" name="Text 93"/>
          <p:cNvSpPr/>
          <p:nvPr/>
        </p:nvSpPr>
        <p:spPr>
          <a:xfrm>
            <a:off x="7900416" y="439826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–</a:t>
            </a:r>
            <a:endParaRPr lang="en-US" sz="1200" dirty="0"/>
          </a:p>
        </p:txBody>
      </p:sp>
      <p:sp>
        <p:nvSpPr>
          <p:cNvPr id="96" name="Shape 94"/>
          <p:cNvSpPr/>
          <p:nvPr/>
        </p:nvSpPr>
        <p:spPr>
          <a:xfrm>
            <a:off x="8394192" y="4398264"/>
            <a:ext cx="438912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7" name="Text 95"/>
          <p:cNvSpPr/>
          <p:nvPr/>
        </p:nvSpPr>
        <p:spPr>
          <a:xfrm>
            <a:off x="8394192" y="4398264"/>
            <a:ext cx="438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8" name="Shape 9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99" name="Text 97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Defence-in-depth: Middleware RBAC at the edge + auth() session check inside every API route handler.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itle"/>
          <p:cNvSpPr/>
          <p:nvPr/>
        </p:nvSpPr>
        <p:spPr>
          <a:xfrm>
            <a:off x="411480" y="73152"/>
            <a:ext cx="832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Research Methodology</a:t>
            </a:r>
          </a:p>
        </p:txBody>
      </p:sp>
      <p:sp>
        <p:nvSpPr>
          <p:cNvPr id="5" name="leftbox"/>
          <p:cNvSpPr/>
          <p:nvPr/>
        </p:nvSpPr>
        <p:spPr>
          <a:xfrm>
            <a:off x="274320" y="876960"/>
            <a:ext cx="4160520" cy="4044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76200" dist="25400" dir="5400000" algn="ctr" rotWithShape="0">
              <a:srgbClr val="000000">
                <a:alpha val="8000"/>
              </a:srgbClr>
            </a:outerShdw>
          </a:effectLst>
        </p:spPr>
      </p:sp>
      <p:sp>
        <p:nvSpPr>
          <p:cNvPr id="6" name="dsrhdr"/>
          <p:cNvSpPr/>
          <p:nvPr/>
        </p:nvSpPr>
        <p:spPr>
          <a:xfrm>
            <a:off x="274320" y="876960"/>
            <a:ext cx="4160520" cy="320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dsrtitle"/>
          <p:cNvSpPr/>
          <p:nvPr/>
        </p:nvSpPr>
        <p:spPr>
          <a:xfrm>
            <a:off x="365760" y="900000"/>
            <a:ext cx="397836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Design Science Research (DSR)</a:t>
            </a:r>
          </a:p>
        </p:txBody>
      </p:sp>
      <p:sp>
        <p:nvSpPr>
          <p:cNvPr id="8" name="dsrbody"/>
          <p:cNvSpPr/>
          <p:nvPr/>
        </p:nvSpPr>
        <p:spPr>
          <a:xfrm>
            <a:off x="365760" y="1240920"/>
            <a:ext cx="3978360" cy="3635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lnSpc>
                <a:spcPts val="1200"/>
              </a:lnSpc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Hevner et al. (2004) — Why DSR?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Calibri"/>
              </a:rPr>
              <a:t>Goal: design and build a purposeful artefact (LAMAS) that resolves a clearly identified institutional deficiency — not merely study it.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3 Justification Pillars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950" b="1" dirty="0">
                <a:solidFill>
                  <a:srgbClr val="0D2B55"/>
                </a:solidFill>
                <a:latin typeface="Calibri"/>
              </a:rPr>
              <a:t>1. Problem Relevance </a:t>
            </a:r>
            <a:r>
              <a:rPr lang="en-US" sz="950" dirty="0">
                <a:solidFill>
                  <a:srgbClr val="334155"/>
                </a:solidFill>
                <a:latin typeface="Calibri"/>
              </a:rPr>
              <a:t>— fragmented paper-based lecturer management is a real HTU institutional challenge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950" b="1" dirty="0">
                <a:solidFill>
                  <a:srgbClr val="0D2B55"/>
                </a:solidFill>
                <a:latin typeface="Calibri"/>
              </a:rPr>
              <a:t>2. Artefact Centrality </a:t>
            </a:r>
            <a:r>
              <a:rPr lang="en-US" sz="950" dirty="0">
                <a:solidFill>
                  <a:srgbClr val="334155"/>
                </a:solidFill>
                <a:latin typeface="Calibri"/>
              </a:rPr>
              <a:t>— LAMAS software system is the primary research contribution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950" b="1" dirty="0">
                <a:solidFill>
                  <a:srgbClr val="0D2B55"/>
                </a:solidFill>
                <a:latin typeface="Calibri"/>
              </a:rPr>
              <a:t>3. Iterative Evaluation </a:t>
            </a:r>
            <a:r>
              <a:rPr lang="en-US" sz="950" dirty="0">
                <a:solidFill>
                  <a:srgbClr val="334155"/>
                </a:solidFill>
                <a:latin typeface="Calibri"/>
              </a:rPr>
              <a:t>— each module individually built, tested, and demonstrated to stakeholders</a:t>
            </a:r>
          </a:p>
          <a:p>
            <a:pPr marL="0" indent="0">
              <a:spcBef>
                <a:spcPts val="400"/>
              </a:spcBef>
              <a:buNone/>
            </a:pPr>
            <a:r>
              <a:rPr lang="en-US" sz="1000" b="1" dirty="0">
                <a:solidFill>
                  <a:srgbClr val="028090"/>
                </a:solidFill>
                <a:latin typeface="Calibri"/>
              </a:rPr>
              <a:t>Why Not Waterfall?</a:t>
            </a:r>
          </a:p>
          <a:p>
            <a:pPr marL="0" indent="0">
              <a:spcBef>
                <a:spcPts val="100"/>
              </a:spcBef>
              <a:buNone/>
            </a:pPr>
            <a:r>
              <a:rPr lang="en-US" sz="950" dirty="0">
                <a:solidFill>
                  <a:srgbClr val="334155"/>
                </a:solidFill>
                <a:latin typeface="Calibri"/>
              </a:rPr>
              <a:t>Requirements evolved as the 4 user roles (Lecturer, HOD, Admin, Super Admin) were progressively clarified — Waterfall's rigid sequentialism would have been ill-suited.</a:t>
            </a:r>
          </a:p>
        </p:txBody>
      </p:sp>
      <p:sp>
        <p:nvSpPr>
          <p:cNvPr id="9" name="rhdr"/>
          <p:cNvSpPr/>
          <p:nvPr/>
        </p:nvSpPr>
        <p:spPr>
          <a:xfrm>
            <a:off x="4709160" y="876960"/>
            <a:ext cx="4160520" cy="3200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0" name="rhdrtxt"/>
          <p:cNvSpPr/>
          <p:nvPr/>
        </p:nvSpPr>
        <p:spPr>
          <a:xfrm>
            <a:off x="4800600" y="900000"/>
            <a:ext cx="3978360" cy="27432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6-Phase Agile-DSR Process</a:t>
            </a:r>
          </a:p>
        </p:txBody>
      </p:sp>
      <p:sp>
        <p:nvSpPr>
          <p:cNvPr id="11" name="p1num"/>
          <p:cNvSpPr/>
          <p:nvPr/>
        </p:nvSpPr>
        <p:spPr>
          <a:xfrm>
            <a:off x="4709160" y="1233720"/>
            <a:ext cx="548640" cy="608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2" name="p1nt"/>
          <p:cNvSpPr/>
          <p:nvPr/>
        </p:nvSpPr>
        <p:spPr>
          <a:xfrm>
            <a:off x="4709160" y="1233720"/>
            <a:ext cx="548640" cy="60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p1txt"/>
          <p:cNvSpPr/>
          <p:nvPr/>
        </p:nvSpPr>
        <p:spPr>
          <a:xfrm>
            <a:off x="5303160" y="1233720"/>
            <a:ext cx="3566520" cy="608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Problem Identification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Stakeholder analysis; compliance gap identified at HTU</a:t>
            </a:r>
          </a:p>
        </p:txBody>
      </p:sp>
      <p:sp>
        <p:nvSpPr>
          <p:cNvPr id="14" name="p2num"/>
          <p:cNvSpPr/>
          <p:nvPr/>
        </p:nvSpPr>
        <p:spPr>
          <a:xfrm>
            <a:off x="4709160" y="1873080"/>
            <a:ext cx="548640" cy="6080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15" name="p2nt"/>
          <p:cNvSpPr/>
          <p:nvPr/>
        </p:nvSpPr>
        <p:spPr>
          <a:xfrm>
            <a:off x="4709160" y="1873080"/>
            <a:ext cx="548640" cy="60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6" name="p2txt"/>
          <p:cNvSpPr/>
          <p:nvPr/>
        </p:nvSpPr>
        <p:spPr>
          <a:xfrm>
            <a:off x="5303160" y="1873080"/>
            <a:ext cx="3566520" cy="608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Requirements Elicitation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Role-based feature mapping for all 4 user roles; functional spec</a:t>
            </a:r>
          </a:p>
        </p:txBody>
      </p:sp>
      <p:sp>
        <p:nvSpPr>
          <p:cNvPr id="17" name="p3num"/>
          <p:cNvSpPr/>
          <p:nvPr/>
        </p:nvSpPr>
        <p:spPr>
          <a:xfrm>
            <a:off x="4709160" y="2512440"/>
            <a:ext cx="548640" cy="608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p3nt"/>
          <p:cNvSpPr/>
          <p:nvPr/>
        </p:nvSpPr>
        <p:spPr>
          <a:xfrm>
            <a:off x="4709160" y="2512440"/>
            <a:ext cx="548640" cy="60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p3txt"/>
          <p:cNvSpPr/>
          <p:nvPr/>
        </p:nvSpPr>
        <p:spPr>
          <a:xfrm>
            <a:off x="5303160" y="2512440"/>
            <a:ext cx="3566520" cy="608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System Design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16-model Prisma schema, 3-tier architecture, UI wireframes</a:t>
            </a:r>
          </a:p>
        </p:txBody>
      </p:sp>
      <p:sp>
        <p:nvSpPr>
          <p:cNvPr id="20" name="p4num"/>
          <p:cNvSpPr/>
          <p:nvPr/>
        </p:nvSpPr>
        <p:spPr>
          <a:xfrm>
            <a:off x="4709160" y="3151800"/>
            <a:ext cx="548640" cy="6080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1" name="p4nt"/>
          <p:cNvSpPr/>
          <p:nvPr/>
        </p:nvSpPr>
        <p:spPr>
          <a:xfrm>
            <a:off x="4709160" y="3151800"/>
            <a:ext cx="548640" cy="60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2" name="p4txt"/>
          <p:cNvSpPr/>
          <p:nvPr/>
        </p:nvSpPr>
        <p:spPr>
          <a:xfrm>
            <a:off x="5303160" y="3151800"/>
            <a:ext cx="3566520" cy="608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Development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Sprint-based implementation: Auth, Submissions, Observations, Analytics, CRON</a:t>
            </a:r>
          </a:p>
        </p:txBody>
      </p:sp>
      <p:sp>
        <p:nvSpPr>
          <p:cNvPr id="23" name="p5num"/>
          <p:cNvSpPr/>
          <p:nvPr/>
        </p:nvSpPr>
        <p:spPr>
          <a:xfrm>
            <a:off x="4709160" y="3791160"/>
            <a:ext cx="548640" cy="6080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4" name="p5nt"/>
          <p:cNvSpPr/>
          <p:nvPr/>
        </p:nvSpPr>
        <p:spPr>
          <a:xfrm>
            <a:off x="4709160" y="3791160"/>
            <a:ext cx="548640" cy="608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5" name="p5txt"/>
          <p:cNvSpPr/>
          <p:nvPr/>
        </p:nvSpPr>
        <p:spPr>
          <a:xfrm>
            <a:off x="5303160" y="3791160"/>
            <a:ext cx="3566520" cy="6080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Evaluation &amp; Testing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TypeScript tsc, ESLint, Prisma validation, manual role-path testing</a:t>
            </a:r>
          </a:p>
        </p:txBody>
      </p:sp>
      <p:sp>
        <p:nvSpPr>
          <p:cNvPr id="26" name="p6num"/>
          <p:cNvSpPr/>
          <p:nvPr/>
        </p:nvSpPr>
        <p:spPr>
          <a:xfrm>
            <a:off x="4709160" y="4430520"/>
            <a:ext cx="548640" cy="49140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27" name="p6nt"/>
          <p:cNvSpPr/>
          <p:nvPr/>
        </p:nvSpPr>
        <p:spPr>
          <a:xfrm>
            <a:off x="4709160" y="4430520"/>
            <a:ext cx="548640" cy="49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28" name="p6txt"/>
          <p:cNvSpPr/>
          <p:nvPr/>
        </p:nvSpPr>
        <p:spPr>
          <a:xfrm>
            <a:off x="5303160" y="4430520"/>
            <a:ext cx="3566520" cy="4914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Communication</a:t>
            </a:r>
            <a:r>
              <a:rPr lang="en-US" sz="900" dirty="0">
                <a:solidFill>
                  <a:srgbClr val="475569"/>
                </a:solidFill>
                <a:latin typeface="Calibri"/>
              </a:rPr>
              <a:t> — Thesis documentation, diagrams, and defence presentation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itle"/>
          <p:cNvSpPr/>
          <p:nvPr/>
        </p:nvSpPr>
        <p:spPr>
          <a:xfrm>
            <a:off x="411480" y="73152"/>
            <a:ext cx="832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Database Design &amp; System Testing</a:t>
            </a:r>
          </a:p>
        </p:txBody>
      </p:sp>
      <p:sp>
        <p:nvSpPr>
          <p:cNvPr id="5" name="dbbox"/>
          <p:cNvSpPr/>
          <p:nvPr/>
        </p:nvSpPr>
        <p:spPr>
          <a:xfrm>
            <a:off x="274320" y="876960"/>
            <a:ext cx="8595360" cy="198120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76200" dist="25400" dir="5400000" algn="ctr" rotWithShape="0">
              <a:srgbClr val="000000">
                <a:alpha val="8000"/>
              </a:srgbClr>
            </a:outerShdw>
          </a:effectLst>
        </p:spPr>
      </p:sp>
      <p:sp>
        <p:nvSpPr>
          <p:cNvPr id="6" name="dbhdr"/>
          <p:cNvSpPr/>
          <p:nvPr/>
        </p:nvSpPr>
        <p:spPr>
          <a:xfrm>
            <a:off x="274320" y="876960"/>
            <a:ext cx="8595360" cy="2966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7" name="dbhdrtxt"/>
          <p:cNvSpPr/>
          <p:nvPr/>
        </p:nvSpPr>
        <p:spPr>
          <a:xfrm>
            <a:off x="365760" y="900000"/>
            <a:ext cx="8412480" cy="2505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PostgreSQL Database — 16 Prisma Models, ACID-Compliant, Relational Integrity Enforced</a:t>
            </a:r>
          </a:p>
        </p:txBody>
      </p:sp>
      <p:sp>
        <p:nvSpPr>
          <p:cNvPr id="8" name="c1bg"/>
          <p:cNvSpPr/>
          <p:nvPr/>
        </p:nvSpPr>
        <p:spPr>
          <a:xfrm>
            <a:off x="365760" y="1218240"/>
            <a:ext cx="1943100" cy="1594440"/>
          </a:xfrm>
          <a:prstGeom prst="rect">
            <a:avLst/>
          </a:prstGeom>
          <a:solidFill>
            <a:srgbClr val="EFF6FF"/>
          </a:solidFill>
          <a:ln>
            <a:solidFill>
              <a:srgbClr val="028090"/>
            </a:solidFill>
          </a:ln>
        </p:spPr>
      </p:sp>
      <p:sp>
        <p:nvSpPr>
          <p:cNvPr id="9" name="c1hdr"/>
          <p:cNvSpPr/>
          <p:nvPr/>
        </p:nvSpPr>
        <p:spPr>
          <a:xfrm>
            <a:off x="365760" y="1218240"/>
            <a:ext cx="1943100" cy="2286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c1t"/>
          <p:cNvSpPr/>
          <p:nvPr/>
        </p:nvSpPr>
        <p:spPr>
          <a:xfrm>
            <a:off x="365760" y="1218240"/>
            <a:ext cx="1943100" cy="1594440"/>
          </a:xfrm>
          <a:prstGeom prst="rect">
            <a:avLst/>
          </a:prstGeom>
          <a:noFill/>
          <a:ln/>
        </p:spPr>
        <p:txBody>
          <a:bodyPr wrap="square" lIns="91440" tIns="45720" rIns="9144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USER (Central)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900" b="1" dirty="0">
                <a:solidFill>
                  <a:srgbClr val="0D2B55"/>
                </a:solidFill>
                <a:latin typeface="Calibri"/>
              </a:rPr>
              <a:t>Role enum: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/>
              </a:rPr>
              <a:t>LECTURER | HOD | ADMIN | SUPER_ADMIN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850" dirty="0">
                <a:solidFill>
                  <a:srgbClr val="334155"/>
                </a:solidFill>
                <a:latin typeface="Calibri"/>
              </a:rPr>
              <a:t>Bcrypt-hashed password, isActive flag, lastLogin tracking, departmentId FK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028090"/>
                </a:solidFill>
                <a:latin typeface="Calibri"/>
              </a:rPr>
              <a:t>Relations:</a:t>
            </a:r>
            <a:r>
              <a:rPr lang="en-US" sz="850" dirty="0">
                <a:solidFill>
                  <a:srgbClr val="334155"/>
                </a:solidFill>
                <a:latin typeface="Calibri"/>
              </a:rPr>
              <a:t> Submissions, Observations (2 named), Attendance, Notifications, ActivityLog</a:t>
            </a:r>
          </a:p>
        </p:txBody>
      </p:sp>
      <p:sp>
        <p:nvSpPr>
          <p:cNvPr id="11" name="c2bg"/>
          <p:cNvSpPr/>
          <p:nvPr/>
        </p:nvSpPr>
        <p:spPr>
          <a:xfrm>
            <a:off x="2399220" y="1218240"/>
            <a:ext cx="1943100" cy="159444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</p:sp>
      <p:sp>
        <p:nvSpPr>
          <p:cNvPr id="12" name="c2hdr"/>
          <p:cNvSpPr/>
          <p:nvPr/>
        </p:nvSpPr>
        <p:spPr>
          <a:xfrm>
            <a:off x="2399220" y="1218240"/>
            <a:ext cx="1943100" cy="2286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3" name="c2t"/>
          <p:cNvSpPr/>
          <p:nvPr/>
        </p:nvSpPr>
        <p:spPr>
          <a:xfrm>
            <a:off x="2399220" y="1218240"/>
            <a:ext cx="1943100" cy="1594440"/>
          </a:xfrm>
          <a:prstGeom prst="rect">
            <a:avLst/>
          </a:prstGeom>
          <a:noFill/>
          <a:ln/>
        </p:spPr>
        <p:txBody>
          <a:bodyPr wrap="square" lIns="91440" tIns="45720" rIns="9144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SUBMISSION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0D2B55"/>
                </a:solidFill>
                <a:latin typeface="Calibri"/>
              </a:rPr>
              <a:t>State Machine: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334155"/>
                </a:solidFill>
                <a:latin typeface="Calibri"/>
              </a:rPr>
              <a:t>DRAFT → PENDING → SUBMITTED / LATE → REVIEWED → APPROVED / REJECTED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850" dirty="0">
                <a:solidFill>
                  <a:srgbClr val="334155"/>
                </a:solidFill>
                <a:latin typeface="Calibri"/>
              </a:rPr>
              <a:t>Compliance Score: APPROVED / totalRequired x 100. LATE counts against score. Version snapshots stored.</a:t>
            </a:r>
          </a:p>
        </p:txBody>
      </p:sp>
      <p:sp>
        <p:nvSpPr>
          <p:cNvPr id="14" name="c3bg"/>
          <p:cNvSpPr/>
          <p:nvPr/>
        </p:nvSpPr>
        <p:spPr>
          <a:xfrm>
            <a:off x="4432680" y="1218240"/>
            <a:ext cx="1943100" cy="1594440"/>
          </a:xfrm>
          <a:prstGeom prst="rect">
            <a:avLst/>
          </a:prstGeom>
          <a:solidFill>
            <a:srgbClr val="FFF7ED"/>
          </a:solidFill>
          <a:ln>
            <a:solidFill>
              <a:srgbClr val="EA580C"/>
            </a:solidFill>
          </a:ln>
        </p:spPr>
      </p:sp>
      <p:sp>
        <p:nvSpPr>
          <p:cNvPr id="15" name="c3hdr"/>
          <p:cNvSpPr/>
          <p:nvPr/>
        </p:nvSpPr>
        <p:spPr>
          <a:xfrm>
            <a:off x="4432680" y="1218240"/>
            <a:ext cx="1943100" cy="22860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6" name="c3t"/>
          <p:cNvSpPr/>
          <p:nvPr/>
        </p:nvSpPr>
        <p:spPr>
          <a:xfrm>
            <a:off x="4432680" y="1218240"/>
            <a:ext cx="1943100" cy="1594440"/>
          </a:xfrm>
          <a:prstGeom prst="rect">
            <a:avLst/>
          </a:prstGeom>
          <a:noFill/>
          <a:ln/>
        </p:spPr>
        <p:txBody>
          <a:bodyPr wrap="square" lIns="91440" tIns="45720" rIns="9144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OBSERVATION</a:t>
            </a:r>
          </a:p>
          <a:p>
            <a:pPr marL="0" indent="0">
              <a:spcBef>
                <a:spcPts val="200"/>
              </a:spcBef>
              <a:buNone/>
            </a:pPr>
            <a:endParaRPr lang="en-US" sz="850" dirty="0">
              <a:solidFill>
                <a:srgbClr val="334155"/>
              </a:solidFill>
              <a:latin typeface="Calibri"/>
            </a:endParaRPr>
          </a:p>
          <a:p>
            <a:pPr marL="0" indent="0">
              <a:spcBef>
                <a:spcPts val="200"/>
              </a:spcBef>
              <a:buNone/>
            </a:pPr>
            <a:r>
              <a:rPr lang="en-US" sz="850" dirty="0" err="1">
                <a:solidFill>
                  <a:srgbClr val="334155"/>
                </a:solidFill>
                <a:latin typeface="Calibri"/>
              </a:rPr>
              <a:t>lecturerId</a:t>
            </a:r>
            <a:r>
              <a:rPr lang="en-US" sz="850" dirty="0">
                <a:solidFill>
                  <a:srgbClr val="334155"/>
                </a:solidFill>
                <a:latin typeface="Calibri"/>
              </a:rPr>
              <a:t> + observerId — two named Prisma relations to USER. Status: PENDING | COMPLETED | REVIEWED.</a:t>
            </a:r>
          </a:p>
        </p:txBody>
      </p:sp>
      <p:sp>
        <p:nvSpPr>
          <p:cNvPr id="17" name="c4bg"/>
          <p:cNvSpPr/>
          <p:nvPr/>
        </p:nvSpPr>
        <p:spPr>
          <a:xfrm>
            <a:off x="6466140" y="1218240"/>
            <a:ext cx="2403540" cy="1594440"/>
          </a:xfrm>
          <a:prstGeom prst="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</p:sp>
      <p:sp>
        <p:nvSpPr>
          <p:cNvPr id="18" name="c4hdr"/>
          <p:cNvSpPr/>
          <p:nvPr/>
        </p:nvSpPr>
        <p:spPr>
          <a:xfrm>
            <a:off x="6466140" y="1218240"/>
            <a:ext cx="2403540" cy="2286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c4t"/>
          <p:cNvSpPr/>
          <p:nvPr/>
        </p:nvSpPr>
        <p:spPr>
          <a:xfrm>
            <a:off x="6466140" y="1218240"/>
            <a:ext cx="2403540" cy="1594440"/>
          </a:xfrm>
          <a:prstGeom prst="rect">
            <a:avLst/>
          </a:prstGeom>
          <a:noFill/>
          <a:ln/>
        </p:spPr>
        <p:txBody>
          <a:bodyPr wrap="square" lIns="91440" tIns="45720" rIns="91440" bIns="9144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NOTIFICATION &amp; AUDIT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850" dirty="0">
                <a:solidFill>
                  <a:srgbClr val="334155"/>
                </a:solidFill>
                <a:latin typeface="Calibri"/>
              </a:rPr>
              <a:t>Append-only tables. 24-hr dedup window prevents notification fatigue. Bulk createMany() for efficiency.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7C3AED"/>
                </a:solidFill>
                <a:latin typeface="Calibri"/>
              </a:rPr>
              <a:t>ACTIVITY_LOG:</a:t>
            </a:r>
            <a:r>
              <a:rPr lang="en-US" sz="850" dirty="0">
                <a:solidFill>
                  <a:srgbClr val="334155"/>
                </a:solidFill>
                <a:latin typeface="Calibri"/>
              </a:rPr>
              <a:t> Full admin audit trail across all system actions.</a:t>
            </a:r>
          </a:p>
        </p:txBody>
      </p:sp>
      <p:sp>
        <p:nvSpPr>
          <p:cNvPr id="20" name="testbox"/>
          <p:cNvSpPr/>
          <p:nvPr/>
        </p:nvSpPr>
        <p:spPr>
          <a:xfrm>
            <a:off x="274320" y="2903040"/>
            <a:ext cx="8595360" cy="200412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76200" dist="25400" dir="5400000" algn="ctr" rotWithShape="0">
              <a:srgbClr val="000000">
                <a:alpha val="8000"/>
              </a:srgbClr>
            </a:outerShdw>
          </a:effectLst>
        </p:spPr>
      </p:sp>
      <p:sp>
        <p:nvSpPr>
          <p:cNvPr id="21" name="testhdr"/>
          <p:cNvSpPr/>
          <p:nvPr/>
        </p:nvSpPr>
        <p:spPr>
          <a:xfrm>
            <a:off x="274320" y="2903040"/>
            <a:ext cx="8595360" cy="296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sthdrtxt"/>
          <p:cNvSpPr/>
          <p:nvPr/>
        </p:nvSpPr>
        <p:spPr>
          <a:xfrm>
            <a:off x="365760" y="2926080"/>
            <a:ext cx="8412480" cy="2505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System Testing &amp; Validation Strategy</a:t>
            </a:r>
          </a:p>
        </p:txBody>
      </p:sp>
      <p:sp>
        <p:nvSpPr>
          <p:cNvPr id="23" name="t1"/>
          <p:cNvSpPr/>
          <p:nvPr/>
        </p:nvSpPr>
        <p:spPr>
          <a:xfrm>
            <a:off x="365760" y="3254880"/>
            <a:ext cx="1966320" cy="1594440"/>
          </a:xfrm>
          <a:prstGeom prst="rect">
            <a:avLst/>
          </a:prstGeom>
          <a:solidFill>
            <a:srgbClr val="EFF6FF"/>
          </a:solidFill>
          <a:ln>
            <a:solidFill>
              <a:srgbClr val="2563EB"/>
            </a:solidFill>
          </a:ln>
        </p:spPr>
      </p:sp>
      <p:sp>
        <p:nvSpPr>
          <p:cNvPr id="24" name="t1hdr"/>
          <p:cNvSpPr/>
          <p:nvPr/>
        </p:nvSpPr>
        <p:spPr>
          <a:xfrm>
            <a:off x="365760" y="3254880"/>
            <a:ext cx="1966320" cy="2057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1t"/>
          <p:cNvSpPr/>
          <p:nvPr/>
        </p:nvSpPr>
        <p:spPr>
          <a:xfrm>
            <a:off x="365760" y="3254880"/>
            <a:ext cx="1966320" cy="1594440"/>
          </a:xfrm>
          <a:prstGeom prst="rect">
            <a:avLst/>
          </a:prstGeom>
          <a:noFill/>
          <a:ln/>
        </p:spPr>
        <p:txBody>
          <a:bodyPr wrap="square" lIns="91440" tIns="45720" rIns="91440" b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Static Type Checking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2563EB"/>
                </a:solidFill>
                <a:latin typeface="Calibri"/>
              </a:rPr>
              <a:t>Tool: </a:t>
            </a:r>
            <a:r>
              <a:rPr lang="en-US" sz="850" dirty="0">
                <a:solidFill>
                  <a:srgbClr val="334155"/>
                </a:solidFill>
                <a:latin typeface="Calibri"/>
              </a:rPr>
              <a:t>TypeScript 5 tsc --noEmit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850" dirty="0">
                <a:solidFill>
                  <a:srgbClr val="334155"/>
                </a:solidFill>
                <a:latin typeface="Calibri"/>
              </a:rPr>
              <a:t>Catches role mismatches and data-type errors before any code reaches production. All 16 Prisma models fully typed.</a:t>
            </a:r>
          </a:p>
        </p:txBody>
      </p:sp>
      <p:sp>
        <p:nvSpPr>
          <p:cNvPr id="26" name="t2"/>
          <p:cNvSpPr/>
          <p:nvPr/>
        </p:nvSpPr>
        <p:spPr>
          <a:xfrm>
            <a:off x="2422440" y="3254880"/>
            <a:ext cx="1966320" cy="1594440"/>
          </a:xfrm>
          <a:prstGeom prst="rect">
            <a:avLst/>
          </a:prstGeom>
          <a:solidFill>
            <a:srgbClr val="F0FDF4"/>
          </a:solidFill>
          <a:ln>
            <a:solidFill>
              <a:srgbClr val="16A34A"/>
            </a:solidFill>
          </a:ln>
        </p:spPr>
      </p:sp>
      <p:sp>
        <p:nvSpPr>
          <p:cNvPr id="27" name="t2hdr"/>
          <p:cNvSpPr/>
          <p:nvPr/>
        </p:nvSpPr>
        <p:spPr>
          <a:xfrm>
            <a:off x="2422440" y="3254880"/>
            <a:ext cx="1966320" cy="20574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28" name="t2t"/>
          <p:cNvSpPr/>
          <p:nvPr/>
        </p:nvSpPr>
        <p:spPr>
          <a:xfrm>
            <a:off x="2422440" y="3254880"/>
            <a:ext cx="1966320" cy="1594440"/>
          </a:xfrm>
          <a:prstGeom prst="rect">
            <a:avLst/>
          </a:prstGeom>
          <a:noFill/>
          <a:ln/>
        </p:spPr>
        <p:txBody>
          <a:bodyPr wrap="square" lIns="91440" tIns="45720" rIns="91440" b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Static Code Analysis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16A34A"/>
                </a:solidFill>
                <a:latin typeface="Calibri"/>
              </a:rPr>
              <a:t>Tool: </a:t>
            </a:r>
            <a:r>
              <a:rPr lang="en-US" sz="850" dirty="0">
                <a:solidFill>
                  <a:srgbClr val="334155"/>
                </a:solidFill>
                <a:latin typeface="Calibri"/>
              </a:rPr>
              <a:t>ESLint + Next.js ruleset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850" dirty="0">
                <a:solidFill>
                  <a:srgbClr val="334155"/>
                </a:solidFill>
                <a:latin typeface="Calibri"/>
              </a:rPr>
              <a:t>Enforces code quality gates each sprint. Lint reports serve as empirical evidence of design refinement under DSR.</a:t>
            </a:r>
          </a:p>
        </p:txBody>
      </p:sp>
      <p:sp>
        <p:nvSpPr>
          <p:cNvPr id="29" name="t3"/>
          <p:cNvSpPr/>
          <p:nvPr/>
        </p:nvSpPr>
        <p:spPr>
          <a:xfrm>
            <a:off x="4479120" y="3254880"/>
            <a:ext cx="1966320" cy="1594440"/>
          </a:xfrm>
          <a:prstGeom prst="rect">
            <a:avLst/>
          </a:prstGeom>
          <a:solidFill>
            <a:srgbClr val="FFF7ED"/>
          </a:solidFill>
          <a:ln>
            <a:solidFill>
              <a:srgbClr val="EA580C"/>
            </a:solidFill>
          </a:ln>
        </p:spPr>
      </p:sp>
      <p:sp>
        <p:nvSpPr>
          <p:cNvPr id="30" name="t3hdr"/>
          <p:cNvSpPr/>
          <p:nvPr/>
        </p:nvSpPr>
        <p:spPr>
          <a:xfrm>
            <a:off x="4479120" y="3254880"/>
            <a:ext cx="1966320" cy="20574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31" name="t3t"/>
          <p:cNvSpPr/>
          <p:nvPr/>
        </p:nvSpPr>
        <p:spPr>
          <a:xfrm>
            <a:off x="4479120" y="3254880"/>
            <a:ext cx="1966320" cy="1594440"/>
          </a:xfrm>
          <a:prstGeom prst="rect">
            <a:avLst/>
          </a:prstGeom>
          <a:noFill/>
          <a:ln/>
        </p:spPr>
        <p:txBody>
          <a:bodyPr wrap="square" lIns="91440" tIns="45720" rIns="91440" b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Database Validation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EA580C"/>
                </a:solidFill>
                <a:latin typeface="Calibri"/>
              </a:rPr>
              <a:t>Tool: </a:t>
            </a:r>
            <a:r>
              <a:rPr lang="en-US" sz="850" dirty="0">
                <a:solidFill>
                  <a:srgbClr val="334155"/>
                </a:solidFill>
                <a:latin typeface="Calibri"/>
              </a:rPr>
              <a:t>Prisma validate + migrate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850" dirty="0">
                <a:solidFill>
                  <a:srgbClr val="334155"/>
                </a:solidFill>
                <a:latin typeface="Calibri"/>
              </a:rPr>
              <a:t>Schema integrity, FK constraints, and timestamped migrations verified. Zod validates all API inputs at runtime, preventing SQL injection.</a:t>
            </a:r>
          </a:p>
        </p:txBody>
      </p:sp>
      <p:sp>
        <p:nvSpPr>
          <p:cNvPr id="32" name="t4"/>
          <p:cNvSpPr/>
          <p:nvPr/>
        </p:nvSpPr>
        <p:spPr>
          <a:xfrm>
            <a:off x="6535800" y="3254880"/>
            <a:ext cx="2333880" cy="1594440"/>
          </a:xfrm>
          <a:prstGeom prst="rect">
            <a:avLst/>
          </a:prstGeom>
          <a:solidFill>
            <a:srgbClr val="F5F3FF"/>
          </a:solidFill>
          <a:ln>
            <a:solidFill>
              <a:srgbClr val="7C3AED"/>
            </a:solidFill>
          </a:ln>
        </p:spPr>
      </p:sp>
      <p:sp>
        <p:nvSpPr>
          <p:cNvPr id="33" name="t4hdr"/>
          <p:cNvSpPr/>
          <p:nvPr/>
        </p:nvSpPr>
        <p:spPr>
          <a:xfrm>
            <a:off x="6535800" y="3254880"/>
            <a:ext cx="2333880" cy="2057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4" name="t4t"/>
          <p:cNvSpPr/>
          <p:nvPr/>
        </p:nvSpPr>
        <p:spPr>
          <a:xfrm>
            <a:off x="6535800" y="3254880"/>
            <a:ext cx="2333880" cy="1594440"/>
          </a:xfrm>
          <a:prstGeom prst="rect">
            <a:avLst/>
          </a:prstGeom>
          <a:noFill/>
          <a:ln/>
        </p:spPr>
        <p:txBody>
          <a:bodyPr wrap="square" lIns="91440" tIns="45720" rIns="91440" bIns="9144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/>
              </a:rPr>
              <a:t>Manual Role Testing</a:t>
            </a:r>
          </a:p>
          <a:p>
            <a:pPr marL="0" indent="0">
              <a:spcBef>
                <a:spcPts val="200"/>
              </a:spcBef>
              <a:buNone/>
            </a:pPr>
            <a:r>
              <a:rPr lang="en-US" sz="850" b="1" dirty="0">
                <a:solidFill>
                  <a:srgbClr val="7C3AED"/>
                </a:solidFill>
                <a:latin typeface="Calibri"/>
              </a:rPr>
              <a:t>Method: </a:t>
            </a:r>
            <a:r>
              <a:rPr lang="en-US" sz="850" dirty="0">
                <a:solidFill>
                  <a:srgbClr val="334155"/>
                </a:solidFill>
                <a:latin typeface="Calibri"/>
              </a:rPr>
              <a:t>RBAC path protection tested per role</a:t>
            </a:r>
          </a:p>
          <a:p>
            <a:pPr marL="0" indent="0">
              <a:spcBef>
                <a:spcPts val="150"/>
              </a:spcBef>
              <a:buNone/>
            </a:pPr>
            <a:r>
              <a:rPr lang="en-US" sz="850" dirty="0">
                <a:solidFill>
                  <a:srgbClr val="334155"/>
                </a:solidFill>
                <a:latin typeface="Calibri"/>
              </a:rPr>
              <a:t>Unauthorised access to /admin, /hod, /lecturer paths returns 403. Middleware edge + API double-layer confirmed. CRON pipeline tested for dedup and email fallback logic.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dr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3" name="accent"/>
          <p:cNvSpPr/>
          <p:nvPr/>
        </p:nvSpPr>
        <p:spPr>
          <a:xfrm>
            <a:off x="0" y="749808"/>
            <a:ext cx="9144000" cy="50292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" name="title"/>
          <p:cNvSpPr/>
          <p:nvPr/>
        </p:nvSpPr>
        <p:spPr>
          <a:xfrm>
            <a:off x="411480" y="73152"/>
            <a:ext cx="8320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/>
              </a:rPr>
              <a:t>Limitations &amp; Future Work</a:t>
            </a:r>
          </a:p>
        </p:txBody>
      </p:sp>
      <p:sp>
        <p:nvSpPr>
          <p:cNvPr id="5" name="limbox"/>
          <p:cNvSpPr/>
          <p:nvPr/>
        </p:nvSpPr>
        <p:spPr>
          <a:xfrm>
            <a:off x="274320" y="876960"/>
            <a:ext cx="4069080" cy="4044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76200" dist="25400" dir="5400000" algn="ctr" rotWithShape="0">
              <a:srgbClr val="000000">
                <a:alpha val="8000"/>
              </a:srgbClr>
            </a:outerShdw>
          </a:effectLst>
        </p:spPr>
      </p:sp>
      <p:sp>
        <p:nvSpPr>
          <p:cNvPr id="6" name="limhdr"/>
          <p:cNvSpPr/>
          <p:nvPr/>
        </p:nvSpPr>
        <p:spPr>
          <a:xfrm>
            <a:off x="274320" y="876960"/>
            <a:ext cx="4069080" cy="29664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7" name="limhdrtxt"/>
          <p:cNvSpPr/>
          <p:nvPr/>
        </p:nvSpPr>
        <p:spPr>
          <a:xfrm>
            <a:off x="365760" y="900000"/>
            <a:ext cx="3886560" cy="2505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Acknowledged Limitations</a:t>
            </a:r>
          </a:p>
        </p:txBody>
      </p:sp>
      <p:sp>
        <p:nvSpPr>
          <p:cNvPr id="8" name="l1num"/>
          <p:cNvSpPr/>
          <p:nvPr/>
        </p:nvSpPr>
        <p:spPr>
          <a:xfrm>
            <a:off x="365760" y="123372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9" name="l1nt"/>
          <p:cNvSpPr/>
          <p:nvPr/>
        </p:nvSpPr>
        <p:spPr>
          <a:xfrm>
            <a:off x="365760" y="1233720"/>
            <a:ext cx="365760" cy="36576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l1t"/>
          <p:cNvSpPr/>
          <p:nvPr/>
        </p:nvSpPr>
        <p:spPr>
          <a:xfrm>
            <a:off x="798480" y="1220040"/>
            <a:ext cx="34545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/>
              </a:rPr>
              <a:t>Limited Real-World Testing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/>
              </a:rPr>
              <a:t>System tested with seeded data, not live HTU institutional records</a:t>
            </a:r>
          </a:p>
        </p:txBody>
      </p:sp>
      <p:sp>
        <p:nvSpPr>
          <p:cNvPr id="11" name="l2num"/>
          <p:cNvSpPr/>
          <p:nvPr/>
        </p:nvSpPr>
        <p:spPr>
          <a:xfrm>
            <a:off x="365760" y="172224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l2nt"/>
          <p:cNvSpPr/>
          <p:nvPr/>
        </p:nvSpPr>
        <p:spPr>
          <a:xfrm>
            <a:off x="365760" y="1722240"/>
            <a:ext cx="365760" cy="36576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l2t"/>
          <p:cNvSpPr/>
          <p:nvPr/>
        </p:nvSpPr>
        <p:spPr>
          <a:xfrm>
            <a:off x="798480" y="1708560"/>
            <a:ext cx="34545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/>
              </a:rPr>
              <a:t>Infrastructure Constraints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/>
              </a:rPr>
              <a:t>Unreliable internet and power supply can disrupt real-time Socket.IO features</a:t>
            </a:r>
          </a:p>
        </p:txBody>
      </p:sp>
      <p:sp>
        <p:nvSpPr>
          <p:cNvPr id="14" name="l3num"/>
          <p:cNvSpPr/>
          <p:nvPr/>
        </p:nvSpPr>
        <p:spPr>
          <a:xfrm>
            <a:off x="365760" y="221076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5" name="l3nt"/>
          <p:cNvSpPr/>
          <p:nvPr/>
        </p:nvSpPr>
        <p:spPr>
          <a:xfrm>
            <a:off x="365760" y="2210760"/>
            <a:ext cx="365760" cy="36576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l3t"/>
          <p:cNvSpPr/>
          <p:nvPr/>
        </p:nvSpPr>
        <p:spPr>
          <a:xfrm>
            <a:off x="798480" y="2197080"/>
            <a:ext cx="34545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/>
              </a:rPr>
              <a:t>Student Module Excluded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/>
              </a:rPr>
              <a:t>Scope was lecturer-centred only — student assessment, exams excluded by design</a:t>
            </a:r>
          </a:p>
        </p:txBody>
      </p:sp>
      <p:sp>
        <p:nvSpPr>
          <p:cNvPr id="17" name="l4num"/>
          <p:cNvSpPr/>
          <p:nvPr/>
        </p:nvSpPr>
        <p:spPr>
          <a:xfrm>
            <a:off x="365760" y="269928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8" name="l4nt"/>
          <p:cNvSpPr/>
          <p:nvPr/>
        </p:nvSpPr>
        <p:spPr>
          <a:xfrm>
            <a:off x="365760" y="2699280"/>
            <a:ext cx="365760" cy="36576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l4t"/>
          <p:cNvSpPr/>
          <p:nvPr/>
        </p:nvSpPr>
        <p:spPr>
          <a:xfrm>
            <a:off x="798480" y="2685600"/>
            <a:ext cx="34545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/>
              </a:rPr>
              <a:t>Digital Literacy Gap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/>
              </a:rPr>
              <a:t>Technology adoption varies among Ghanaian university lecturers (TAM theory acknowledged)</a:t>
            </a:r>
          </a:p>
        </p:txBody>
      </p:sp>
      <p:sp>
        <p:nvSpPr>
          <p:cNvPr id="20" name="l5num"/>
          <p:cNvSpPr/>
          <p:nvPr/>
        </p:nvSpPr>
        <p:spPr>
          <a:xfrm>
            <a:off x="365760" y="3187800"/>
            <a:ext cx="365760" cy="36576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l5nt"/>
          <p:cNvSpPr/>
          <p:nvPr/>
        </p:nvSpPr>
        <p:spPr>
          <a:xfrm>
            <a:off x="365760" y="3187800"/>
            <a:ext cx="365760" cy="365760"/>
          </a:xfrm>
          <a:prstGeom prst="ellipse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2" name="l5t"/>
          <p:cNvSpPr/>
          <p:nvPr/>
        </p:nvSpPr>
        <p:spPr>
          <a:xfrm>
            <a:off x="798480" y="3174120"/>
            <a:ext cx="3454560" cy="4114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5"/>
                </a:solidFill>
                <a:latin typeface="Calibri"/>
              </a:rPr>
              <a:t>No Longitudinal Evaluation</a:t>
            </a:r>
          </a:p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/>
              </a:rPr>
              <a:t>Long-term institutional impact of compliance analytics not yet measurable</a:t>
            </a:r>
          </a:p>
        </p:txBody>
      </p:sp>
      <p:sp>
        <p:nvSpPr>
          <p:cNvPr id="24" name="reflecttxt"/>
          <p:cNvSpPr/>
          <p:nvPr/>
        </p:nvSpPr>
        <p:spPr>
          <a:xfrm>
            <a:off x="365760" y="3856382"/>
            <a:ext cx="3886560" cy="4236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endParaRPr lang="en-US" sz="900" dirty="0">
              <a:solidFill>
                <a:srgbClr val="78350F"/>
              </a:solidFill>
              <a:latin typeface="Calibri"/>
            </a:endParaRPr>
          </a:p>
        </p:txBody>
      </p:sp>
      <p:sp>
        <p:nvSpPr>
          <p:cNvPr id="25" name="futbox"/>
          <p:cNvSpPr/>
          <p:nvPr/>
        </p:nvSpPr>
        <p:spPr>
          <a:xfrm>
            <a:off x="4526760" y="876960"/>
            <a:ext cx="4343160" cy="404496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  <a:effectLst>
            <a:outerShdw blurRad="76200" dist="25400" dir="5400000" algn="ctr" rotWithShape="0">
              <a:srgbClr val="000000">
                <a:alpha val="8000"/>
              </a:srgbClr>
            </a:outerShdw>
          </a:effectLst>
        </p:spPr>
      </p:sp>
      <p:sp>
        <p:nvSpPr>
          <p:cNvPr id="26" name="futhdr"/>
          <p:cNvSpPr/>
          <p:nvPr/>
        </p:nvSpPr>
        <p:spPr>
          <a:xfrm>
            <a:off x="4526760" y="876960"/>
            <a:ext cx="4343160" cy="29664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7" name="futhdrtxt"/>
          <p:cNvSpPr/>
          <p:nvPr/>
        </p:nvSpPr>
        <p:spPr>
          <a:xfrm>
            <a:off x="4618200" y="900000"/>
            <a:ext cx="4160520" cy="250560"/>
          </a:xfrm>
          <a:prstGeom prst="rect">
            <a:avLst/>
          </a:prstGeom>
          <a:noFill/>
          <a:ln/>
        </p:spPr>
        <p:txBody>
          <a:bodyPr wrap="square" lIns="9144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</a:rPr>
              <a:t>Recommended Future Work</a:t>
            </a:r>
          </a:p>
        </p:txBody>
      </p:sp>
      <p:sp>
        <p:nvSpPr>
          <p:cNvPr id="28" name="f1dot"/>
          <p:cNvSpPr/>
          <p:nvPr/>
        </p:nvSpPr>
        <p:spPr>
          <a:xfrm>
            <a:off x="4618200" y="124740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9" name="f1t"/>
          <p:cNvSpPr/>
          <p:nvPr/>
        </p:nvSpPr>
        <p:spPr>
          <a:xfrm>
            <a:off x="4961880" y="1210320"/>
            <a:ext cx="3840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AI-Powered Lecturer Insights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Integrate MLP neural network (ref: 96%-accuracy study) for performance prediction and early-warning triggers</a:t>
            </a:r>
          </a:p>
        </p:txBody>
      </p:sp>
      <p:sp>
        <p:nvSpPr>
          <p:cNvPr id="30" name="d1"/>
          <p:cNvSpPr/>
          <p:nvPr/>
        </p:nvSpPr>
        <p:spPr>
          <a:xfrm>
            <a:off x="4618200" y="1749240"/>
            <a:ext cx="4251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1" name="f2dot"/>
          <p:cNvSpPr/>
          <p:nvPr/>
        </p:nvSpPr>
        <p:spPr>
          <a:xfrm>
            <a:off x="4618200" y="181572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2" name="f2t"/>
          <p:cNvSpPr/>
          <p:nvPr/>
        </p:nvSpPr>
        <p:spPr>
          <a:xfrm>
            <a:off x="4961880" y="1778640"/>
            <a:ext cx="3840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Student Module Integration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Extend LAMAS with student assessment, grade tracking, and feedback loops to complete the academic cycle</a:t>
            </a:r>
          </a:p>
        </p:txBody>
      </p:sp>
      <p:sp>
        <p:nvSpPr>
          <p:cNvPr id="33" name="d2"/>
          <p:cNvSpPr/>
          <p:nvPr/>
        </p:nvSpPr>
        <p:spPr>
          <a:xfrm>
            <a:off x="4618200" y="2317560"/>
            <a:ext cx="4251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4" name="f3dot"/>
          <p:cNvSpPr/>
          <p:nvPr/>
        </p:nvSpPr>
        <p:spPr>
          <a:xfrm>
            <a:off x="4618200" y="238404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f3t"/>
          <p:cNvSpPr/>
          <p:nvPr/>
        </p:nvSpPr>
        <p:spPr>
          <a:xfrm>
            <a:off x="4961880" y="2346960"/>
            <a:ext cx="3840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Offline-First PWA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Progressive Web App with service workers to address Ghana's connectivity challenges during submission periods</a:t>
            </a:r>
          </a:p>
        </p:txBody>
      </p:sp>
      <p:sp>
        <p:nvSpPr>
          <p:cNvPr id="36" name="d3"/>
          <p:cNvSpPr/>
          <p:nvPr/>
        </p:nvSpPr>
        <p:spPr>
          <a:xfrm>
            <a:off x="4618200" y="2885880"/>
            <a:ext cx="4251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37" name="f4dot"/>
          <p:cNvSpPr/>
          <p:nvPr/>
        </p:nvSpPr>
        <p:spPr>
          <a:xfrm>
            <a:off x="4618200" y="295236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f4t"/>
          <p:cNvSpPr/>
          <p:nvPr/>
        </p:nvSpPr>
        <p:spPr>
          <a:xfrm>
            <a:off x="4961880" y="2915280"/>
            <a:ext cx="3840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Multi-Institution Deployment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Scale LAMAS across Ghana's Technical University network with tenant-aware architecture and shared analytics</a:t>
            </a:r>
          </a:p>
        </p:txBody>
      </p:sp>
      <p:sp>
        <p:nvSpPr>
          <p:cNvPr id="39" name="d4"/>
          <p:cNvSpPr/>
          <p:nvPr/>
        </p:nvSpPr>
        <p:spPr>
          <a:xfrm>
            <a:off x="4618200" y="3454200"/>
            <a:ext cx="4251960" cy="18288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40" name="f5dot"/>
          <p:cNvSpPr/>
          <p:nvPr/>
        </p:nvSpPr>
        <p:spPr>
          <a:xfrm>
            <a:off x="4618200" y="3520680"/>
            <a:ext cx="274320" cy="2743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f5t"/>
          <p:cNvSpPr/>
          <p:nvPr/>
        </p:nvSpPr>
        <p:spPr>
          <a:xfrm>
            <a:off x="4961880" y="3483600"/>
            <a:ext cx="3840480" cy="502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2B55"/>
                </a:solidFill>
                <a:latin typeface="Calibri"/>
              </a:rPr>
              <a:t>Longitudinal Compliance Study</a:t>
            </a:r>
          </a:p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/>
              </a:rPr>
              <a:t>Track impact of LAMAS on submission timeliness over 2–3 academic terms to validate institutional effectiveness</a:t>
            </a:r>
          </a:p>
        </p:txBody>
      </p:sp>
      <p:sp>
        <p:nvSpPr>
          <p:cNvPr id="42" name="closebg"/>
          <p:cNvSpPr/>
          <p:nvPr/>
        </p:nvSpPr>
        <p:spPr>
          <a:xfrm>
            <a:off x="4526760" y="3983400"/>
            <a:ext cx="4343160" cy="296640"/>
          </a:xfrm>
          <a:prstGeom prst="rect">
            <a:avLst/>
          </a:prstGeom>
          <a:solidFill>
            <a:srgbClr val="0D2B55"/>
          </a:solidFill>
          <a:ln/>
        </p:spPr>
      </p:sp>
      <p:sp>
        <p:nvSpPr>
          <p:cNvPr id="43" name="closetxt"/>
          <p:cNvSpPr/>
          <p:nvPr/>
        </p:nvSpPr>
        <p:spPr>
          <a:xfrm>
            <a:off x="4618200" y="3983400"/>
            <a:ext cx="4160520" cy="296640"/>
          </a:xfrm>
          <a:prstGeom prst="rect">
            <a:avLst/>
          </a:prstGeom>
          <a:noFill/>
          <a:ln/>
        </p:spPr>
        <p:txBody>
          <a:bodyPr wrap="square" lIns="91440" tIns="0" rIns="91440" bIns="0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rgbClr val="CADCFC"/>
                </a:solidFill>
                <a:latin typeface="Calibri"/>
              </a:rPr>
              <a:t>LAMAS is a working, deployable artefact — a foundation, not a ceiling.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B5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" cy="51435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2926080" cy="2926080"/>
          </a:xfrm>
          <a:prstGeom prst="ellipse">
            <a:avLst/>
          </a:prstGeom>
          <a:solidFill>
            <a:srgbClr val="028090">
              <a:alpha val="1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315200" y="3200400"/>
            <a:ext cx="1645920" cy="1645920"/>
          </a:xfrm>
          <a:prstGeom prst="ellipse">
            <a:avLst/>
          </a:prstGeom>
          <a:solidFill>
            <a:srgbClr val="02C39A">
              <a:alpha val="3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109728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LAMAS delivers a practical, lightweight, and cost-effective solution to a real institutional problem at Ho Technical University. By combining structured document submission, automated deadline enforcement, role-based oversight, and real-time notifications in a single platform, it directly resolves the fragmented, paper-based workflows that cause about 60% late-submission rates.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40080" y="2148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be achieved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49631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24505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multi-role web application (Next.js 16 + TypeScript 5)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889504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437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16-model type-safe relational database (Prisma 7 / PostgreSQL)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23697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CRON deadline notification pipeline with email delivery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" y="3675888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63016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Classroom observation modules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4069080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2336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broadcast system via Socket.IO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58368" y="4462272"/>
            <a:ext cx="164592" cy="164592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44165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scoring engine with admin analytics dashboard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645152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2043</Words>
  <Application>Microsoft Office PowerPoint</Application>
  <PresentationFormat>On-screen Show (16:9)</PresentationFormat>
  <Paragraphs>344</Paragraphs>
  <Slides>16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LAMAS – Project Defence Presentation</dc:title>
  <dc:subject>PptxGenJS Presentation</dc:subject>
  <dc:creator>PptxGenJS</dc:creator>
  <cp:lastModifiedBy>CRYPTO</cp:lastModifiedBy>
  <cp:revision>9</cp:revision>
  <dcterms:created xsi:type="dcterms:W3CDTF">2026-05-14T11:02:03Z</dcterms:created>
  <dcterms:modified xsi:type="dcterms:W3CDTF">2026-05-15T10:46:17Z</dcterms:modified>
</cp:coreProperties>
</file>