
<file path=[Content_Types].xml><?xml version="1.0" encoding="utf-8"?>
<Types xmlns="http://schemas.openxmlformats.org/package/2006/content-types">
  <Default Extension="tmp" ContentType="image/png"/>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3" autoAdjust="0"/>
    <p:restoredTop sz="94660"/>
  </p:normalViewPr>
  <p:slideViewPr>
    <p:cSldViewPr snapToGrid="0">
      <p:cViewPr varScale="1">
        <p:scale>
          <a:sx n="76" d="100"/>
          <a:sy n="76" d="100"/>
        </p:scale>
        <p:origin x="534"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BBF163-1714-4AE4-8441-6FF775685734}" type="datetimeFigureOut">
              <a:rPr lang="en-GB" smtClean="0"/>
              <a:t>09/05/2026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5AC1DD-D4AB-433E-AF20-269AF27FCA6C}" type="slidenum">
              <a:rPr lang="en-GB" smtClean="0"/>
              <a:t>‹#›</a:t>
            </a:fld>
            <a:endParaRPr lang="en-GB"/>
          </a:p>
        </p:txBody>
      </p:sp>
    </p:spTree>
    <p:extLst>
      <p:ext uri="{BB962C8B-B14F-4D97-AF65-F5344CB8AC3E}">
        <p14:creationId xmlns:p14="http://schemas.microsoft.com/office/powerpoint/2010/main" val="9379040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B2646D2B-F513-4C36-97D4-4C40A2AAF7C7}" type="slidenum">
              <a:rPr lang="en-US" smtClean="0"/>
              <a:t>1</a:t>
            </a:fld>
            <a:endParaRPr lang="en-US"/>
          </a:p>
        </p:txBody>
      </p:sp>
    </p:spTree>
    <p:extLst>
      <p:ext uri="{BB962C8B-B14F-4D97-AF65-F5344CB8AC3E}">
        <p14:creationId xmlns:p14="http://schemas.microsoft.com/office/powerpoint/2010/main" val="24454703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Lower costs Ease of utilization Quality of Service (</a:t>
            </a:r>
            <a:r>
              <a:rPr lang="en-US" dirty="0" err="1" smtClean="0"/>
              <a:t>QoS</a:t>
            </a:r>
            <a:r>
              <a:rPr lang="en-US" dirty="0" smtClean="0"/>
              <a:t>) Reliability Outsourced IT management Simplified maintenance and upgrade Low Barrier to Entry</a:t>
            </a:r>
            <a:endParaRPr lang="en-GB" dirty="0"/>
          </a:p>
        </p:txBody>
      </p:sp>
      <p:sp>
        <p:nvSpPr>
          <p:cNvPr id="4" name="Slide Number Placeholder 3"/>
          <p:cNvSpPr>
            <a:spLocks noGrp="1"/>
          </p:cNvSpPr>
          <p:nvPr>
            <p:ph type="sldNum" sz="quarter" idx="10"/>
          </p:nvPr>
        </p:nvSpPr>
        <p:spPr/>
        <p:txBody>
          <a:bodyPr/>
          <a:lstStyle/>
          <a:p>
            <a:fld id="{B2646D2B-F513-4C36-97D4-4C40A2AAF7C7}" type="slidenum">
              <a:rPr lang="en-US" smtClean="0"/>
              <a:t>3</a:t>
            </a:fld>
            <a:endParaRPr lang="en-US"/>
          </a:p>
        </p:txBody>
      </p:sp>
    </p:spTree>
    <p:extLst>
      <p:ext uri="{BB962C8B-B14F-4D97-AF65-F5344CB8AC3E}">
        <p14:creationId xmlns:p14="http://schemas.microsoft.com/office/powerpoint/2010/main" val="17043997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i="1" kern="1200" dirty="0" smtClean="0">
                <a:solidFill>
                  <a:schemeClr val="tx1"/>
                </a:solidFill>
                <a:effectLst/>
                <a:latin typeface="+mn-lt"/>
                <a:ea typeface="+mn-ea"/>
                <a:cs typeface="+mn-cs"/>
              </a:rPr>
              <a:t>Scaling in cloud computing refers to the process of adjusting the available resources, such as computing power, storage, and networking capacity, to accommodate changes in demand for an application or service. As can be seen in the diagram, the user resources are monitored by the Load Balancer which is configured to detect periods of high utilization and load utilization so as to automatically adjust the resources to meet the users demands. Scaling could either be done vertically or horizontally.</a:t>
            </a:r>
            <a:r>
              <a:rPr lang="en-US" sz="1200" kern="1200" dirty="0" smtClean="0">
                <a:solidFill>
                  <a:schemeClr val="tx1"/>
                </a:solidFill>
                <a:effectLst/>
                <a:latin typeface="+mn-lt"/>
                <a:ea typeface="+mn-ea"/>
                <a:cs typeface="+mn-cs"/>
              </a:rPr>
              <a:t> </a:t>
            </a:r>
            <a:endParaRPr lang="en-GB" dirty="0"/>
          </a:p>
        </p:txBody>
      </p:sp>
      <p:sp>
        <p:nvSpPr>
          <p:cNvPr id="4" name="Slide Number Placeholder 3"/>
          <p:cNvSpPr>
            <a:spLocks noGrp="1"/>
          </p:cNvSpPr>
          <p:nvPr>
            <p:ph type="sldNum" sz="quarter" idx="10"/>
          </p:nvPr>
        </p:nvSpPr>
        <p:spPr/>
        <p:txBody>
          <a:bodyPr/>
          <a:lstStyle/>
          <a:p>
            <a:fld id="{B2646D2B-F513-4C36-97D4-4C40A2AAF7C7}" type="slidenum">
              <a:rPr lang="en-US" smtClean="0"/>
              <a:t>14</a:t>
            </a:fld>
            <a:endParaRPr lang="en-US"/>
          </a:p>
        </p:txBody>
      </p:sp>
    </p:spTree>
    <p:extLst>
      <p:ext uri="{BB962C8B-B14F-4D97-AF65-F5344CB8AC3E}">
        <p14:creationId xmlns:p14="http://schemas.microsoft.com/office/powerpoint/2010/main" val="25665316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p>
            <a:fld id="{4AEAF358-B4C5-4392-9014-F22C644FF620}" type="datetimeFigureOut">
              <a:rPr lang="en-GB" smtClean="0"/>
              <a:t>09/05/2026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9CE09DA6-8696-4AE1-9287-62DDCA11EEF0}" type="slidenum">
              <a:rPr lang="en-GB" smtClean="0"/>
              <a:t>‹#›</a:t>
            </a:fld>
            <a:endParaRPr lang="en-GB"/>
          </a:p>
        </p:txBody>
      </p:sp>
    </p:spTree>
    <p:extLst>
      <p:ext uri="{BB962C8B-B14F-4D97-AF65-F5344CB8AC3E}">
        <p14:creationId xmlns:p14="http://schemas.microsoft.com/office/powerpoint/2010/main" val="31644629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4AEAF358-B4C5-4392-9014-F22C644FF620}" type="datetimeFigureOut">
              <a:rPr lang="en-GB" smtClean="0"/>
              <a:t>09/05/2026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9CE09DA6-8696-4AE1-9287-62DDCA11EEF0}" type="slidenum">
              <a:rPr lang="en-GB" smtClean="0"/>
              <a:t>‹#›</a:t>
            </a:fld>
            <a:endParaRPr lang="en-GB"/>
          </a:p>
        </p:txBody>
      </p:sp>
    </p:spTree>
    <p:extLst>
      <p:ext uri="{BB962C8B-B14F-4D97-AF65-F5344CB8AC3E}">
        <p14:creationId xmlns:p14="http://schemas.microsoft.com/office/powerpoint/2010/main" val="17819702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GB"/>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AEAF358-B4C5-4392-9014-F22C644FF620}" type="datetimeFigureOut">
              <a:rPr lang="en-GB" smtClean="0"/>
              <a:t>09/05/2026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9CE09DA6-8696-4AE1-9287-62DDCA11EEF0}" type="slidenum">
              <a:rPr lang="en-GB" smtClean="0"/>
              <a:t>‹#›</a:t>
            </a:fld>
            <a:endParaRPr lang="en-GB"/>
          </a:p>
        </p:txBody>
      </p:sp>
    </p:spTree>
    <p:extLst>
      <p:ext uri="{BB962C8B-B14F-4D97-AF65-F5344CB8AC3E}">
        <p14:creationId xmlns:p14="http://schemas.microsoft.com/office/powerpoint/2010/main" val="24942689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4"/>
          <p:cNvSpPr>
            <a:spLocks noGrp="1"/>
          </p:cNvSpPr>
          <p:nvPr>
            <p:ph type="dt" sz="half" idx="10"/>
          </p:nvPr>
        </p:nvSpPr>
        <p:spPr/>
        <p:txBody>
          <a:bodyPr/>
          <a:lstStyle/>
          <a:p>
            <a:fld id="{4AEAF358-B4C5-4392-9014-F22C644FF620}" type="datetimeFigureOut">
              <a:rPr lang="en-GB" smtClean="0"/>
              <a:t>09/05/2026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9CE09DA6-8696-4AE1-9287-62DDCA11EEF0}" type="slidenum">
              <a:rPr lang="en-GB" smtClean="0"/>
              <a:t>‹#›</a:t>
            </a:fld>
            <a:endParaRPr lang="en-GB"/>
          </a:p>
        </p:txBody>
      </p:sp>
    </p:spTree>
    <p:extLst>
      <p:ext uri="{BB962C8B-B14F-4D97-AF65-F5344CB8AC3E}">
        <p14:creationId xmlns:p14="http://schemas.microsoft.com/office/powerpoint/2010/main" val="13842820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GB"/>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6"/>
          <p:cNvSpPr>
            <a:spLocks noGrp="1"/>
          </p:cNvSpPr>
          <p:nvPr>
            <p:ph type="dt" sz="half" idx="10"/>
          </p:nvPr>
        </p:nvSpPr>
        <p:spPr/>
        <p:txBody>
          <a:bodyPr/>
          <a:lstStyle/>
          <a:p>
            <a:fld id="{4AEAF358-B4C5-4392-9014-F22C644FF620}" type="datetimeFigureOut">
              <a:rPr lang="en-GB" smtClean="0"/>
              <a:t>09/05/2026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9CE09DA6-8696-4AE1-9287-62DDCA11EEF0}" type="slidenum">
              <a:rPr lang="en-GB" smtClean="0"/>
              <a:t>‹#›</a:t>
            </a:fld>
            <a:endParaRPr lang="en-GB"/>
          </a:p>
        </p:txBody>
      </p:sp>
    </p:spTree>
    <p:extLst>
      <p:ext uri="{BB962C8B-B14F-4D97-AF65-F5344CB8AC3E}">
        <p14:creationId xmlns:p14="http://schemas.microsoft.com/office/powerpoint/2010/main" val="22116210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2"/>
          <p:cNvSpPr>
            <a:spLocks noGrp="1"/>
          </p:cNvSpPr>
          <p:nvPr>
            <p:ph type="dt" sz="half" idx="10"/>
          </p:nvPr>
        </p:nvSpPr>
        <p:spPr/>
        <p:txBody>
          <a:bodyPr/>
          <a:lstStyle/>
          <a:p>
            <a:fld id="{4AEAF358-B4C5-4392-9014-F22C644FF620}" type="datetimeFigureOut">
              <a:rPr lang="en-GB" smtClean="0"/>
              <a:t>09/05/2026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9CE09DA6-8696-4AE1-9287-62DDCA11EEF0}" type="slidenum">
              <a:rPr lang="en-GB" smtClean="0"/>
              <a:t>‹#›</a:t>
            </a:fld>
            <a:endParaRPr lang="en-GB"/>
          </a:p>
        </p:txBody>
      </p:sp>
    </p:spTree>
    <p:extLst>
      <p:ext uri="{BB962C8B-B14F-4D97-AF65-F5344CB8AC3E}">
        <p14:creationId xmlns:p14="http://schemas.microsoft.com/office/powerpoint/2010/main" val="22408808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AEAF358-B4C5-4392-9014-F22C644FF620}" type="datetimeFigureOut">
              <a:rPr lang="en-GB" smtClean="0"/>
              <a:t>09/05/2026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9CE09DA6-8696-4AE1-9287-62DDCA11EEF0}" type="slidenum">
              <a:rPr lang="en-GB" smtClean="0"/>
              <a:t>‹#›</a:t>
            </a:fld>
            <a:endParaRPr lang="en-GB"/>
          </a:p>
        </p:txBody>
      </p:sp>
    </p:spTree>
    <p:extLst>
      <p:ext uri="{BB962C8B-B14F-4D97-AF65-F5344CB8AC3E}">
        <p14:creationId xmlns:p14="http://schemas.microsoft.com/office/powerpoint/2010/main" val="32601034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GB"/>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AEAF358-B4C5-4392-9014-F22C644FF620}" type="datetimeFigureOut">
              <a:rPr lang="en-GB" smtClean="0"/>
              <a:t>09/05/2026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9CE09DA6-8696-4AE1-9287-62DDCA11EEF0}" type="slidenum">
              <a:rPr lang="en-GB" smtClean="0"/>
              <a:t>‹#›</a:t>
            </a:fld>
            <a:endParaRPr lang="en-GB"/>
          </a:p>
        </p:txBody>
      </p:sp>
    </p:spTree>
    <p:extLst>
      <p:ext uri="{BB962C8B-B14F-4D97-AF65-F5344CB8AC3E}">
        <p14:creationId xmlns:p14="http://schemas.microsoft.com/office/powerpoint/2010/main" val="29297938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GB"/>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AEAF358-B4C5-4392-9014-F22C644FF620}" type="datetimeFigureOut">
              <a:rPr lang="en-GB" smtClean="0"/>
              <a:t>09/05/2026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9CE09DA6-8696-4AE1-9287-62DDCA11EEF0}" type="slidenum">
              <a:rPr lang="en-GB" smtClean="0"/>
              <a:t>‹#›</a:t>
            </a:fld>
            <a:endParaRPr lang="en-GB"/>
          </a:p>
        </p:txBody>
      </p:sp>
    </p:spTree>
    <p:extLst>
      <p:ext uri="{BB962C8B-B14F-4D97-AF65-F5344CB8AC3E}">
        <p14:creationId xmlns:p14="http://schemas.microsoft.com/office/powerpoint/2010/main" val="13051741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4AEAF358-B4C5-4392-9014-F22C644FF620}" type="datetimeFigureOut">
              <a:rPr lang="en-GB" smtClean="0"/>
              <a:t>09/05/2026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9CE09DA6-8696-4AE1-9287-62DDCA11EEF0}" type="slidenum">
              <a:rPr lang="en-GB" smtClean="0"/>
              <a:t>‹#›</a:t>
            </a:fld>
            <a:endParaRPr lang="en-GB"/>
          </a:p>
        </p:txBody>
      </p:sp>
    </p:spTree>
    <p:extLst>
      <p:ext uri="{BB962C8B-B14F-4D97-AF65-F5344CB8AC3E}">
        <p14:creationId xmlns:p14="http://schemas.microsoft.com/office/powerpoint/2010/main" val="15544866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4AEAF358-B4C5-4392-9014-F22C644FF620}" type="datetimeFigureOut">
              <a:rPr lang="en-GB" smtClean="0"/>
              <a:t>09/05/2026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9CE09DA6-8696-4AE1-9287-62DDCA11EEF0}" type="slidenum">
              <a:rPr lang="en-GB" smtClean="0"/>
              <a:t>‹#›</a:t>
            </a:fld>
            <a:endParaRPr lang="en-GB"/>
          </a:p>
        </p:txBody>
      </p:sp>
    </p:spTree>
    <p:extLst>
      <p:ext uri="{BB962C8B-B14F-4D97-AF65-F5344CB8AC3E}">
        <p14:creationId xmlns:p14="http://schemas.microsoft.com/office/powerpoint/2010/main" val="6484633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GB"/>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AEAF358-B4C5-4392-9014-F22C644FF620}" type="datetimeFigureOut">
              <a:rPr lang="en-GB" smtClean="0"/>
              <a:t>09/05/2026</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CE09DA6-8696-4AE1-9287-62DDCA11EEF0}" type="slidenum">
              <a:rPr lang="en-GB" smtClean="0"/>
              <a:t>‹#›</a:t>
            </a:fld>
            <a:endParaRPr lang="en-GB"/>
          </a:p>
        </p:txBody>
      </p:sp>
    </p:spTree>
    <p:extLst>
      <p:ext uri="{BB962C8B-B14F-4D97-AF65-F5344CB8AC3E}">
        <p14:creationId xmlns:p14="http://schemas.microsoft.com/office/powerpoint/2010/main" val="42814006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tmp"/><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jpeg"/></Relationships>
</file>

<file path=ppt/slides/_rels/slide1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 Id="rId5" Type="http://schemas.openxmlformats.org/officeDocument/2006/relationships/image" Target="../media/image11.jpeg"/><Relationship Id="rId4" Type="http://schemas.openxmlformats.org/officeDocument/2006/relationships/image" Target="../media/image6.jpeg"/></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slideLayout" Target="../slideLayouts/slideLayout2.xml"/><Relationship Id="rId4" Type="http://schemas.openxmlformats.org/officeDocument/2006/relationships/image" Target="../media/image21.jpeg"/></Relationships>
</file>

<file path=ppt/slides/_rels/slide19.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hyperlink" Target="http://motherboard.vice.com/read/bitcoin-could-consume-as-much-electricity-as-denmark-by-2020"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 Id="rId5" Type="http://schemas.openxmlformats.org/officeDocument/2006/relationships/image" Target="../media/image11.jpeg"/><Relationship Id="rId4" Type="http://schemas.openxmlformats.org/officeDocument/2006/relationships/image" Target="../media/image6.jpeg"/></Relationships>
</file>

<file path=ppt/slides/_rels/slide23.xml.rels><?xml version="1.0" encoding="UTF-8" standalone="yes"?>
<Relationships xmlns="http://schemas.openxmlformats.org/package/2006/relationships"><Relationship Id="rId3" Type="http://schemas.openxmlformats.org/officeDocument/2006/relationships/image" Target="../media/image25.gif"/><Relationship Id="rId2" Type="http://schemas.openxmlformats.org/officeDocument/2006/relationships/image" Target="../media/image24.gi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6.jpeg"/><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F7A967B-7F9E-457A-9C6D-A69FDF306148}"/>
              </a:ext>
            </a:extLst>
          </p:cNvPr>
          <p:cNvSpPr>
            <a:spLocks noGrp="1"/>
          </p:cNvSpPr>
          <p:nvPr>
            <p:ph type="ctrTitle"/>
          </p:nvPr>
        </p:nvSpPr>
        <p:spPr/>
        <p:txBody>
          <a:bodyPr/>
          <a:lstStyle/>
          <a:p>
            <a:r>
              <a:rPr lang="en-US" dirty="0"/>
              <a:t>Characteristics of Cloud Computing</a:t>
            </a:r>
            <a:endParaRPr lang="en-US" dirty="0">
              <a:latin typeface="Times New Roman" panose="02020603050405020304" pitchFamily="18" charset="0"/>
              <a:cs typeface="Times New Roman" panose="02020603050405020304" pitchFamily="18" charset="0"/>
            </a:endParaRPr>
          </a:p>
        </p:txBody>
      </p:sp>
      <p:sp>
        <p:nvSpPr>
          <p:cNvPr id="4" name="Subtitle 2">
            <a:extLst>
              <a:ext uri="{FF2B5EF4-FFF2-40B4-BE49-F238E27FC236}">
                <a16:creationId xmlns:a16="http://schemas.microsoft.com/office/drawing/2014/main" xmlns="" id="{84E16FBF-3440-438F-BC39-FA9F96CDA29A}"/>
              </a:ext>
            </a:extLst>
          </p:cNvPr>
          <p:cNvSpPr txBox="1">
            <a:spLocks/>
          </p:cNvSpPr>
          <p:nvPr/>
        </p:nvSpPr>
        <p:spPr>
          <a:xfrm>
            <a:off x="1318260" y="4411980"/>
            <a:ext cx="9144000" cy="6270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3200" dirty="0" smtClean="0">
                <a:latin typeface="Times New Roman" panose="02020603050405020304" pitchFamily="18" charset="0"/>
                <a:cs typeface="Times New Roman" panose="02020603050405020304" pitchFamily="18" charset="0"/>
              </a:rPr>
              <a:t>Topic </a:t>
            </a:r>
            <a:r>
              <a:rPr lang="en-US" sz="3200" dirty="0">
                <a:latin typeface="Times New Roman" panose="02020603050405020304" pitchFamily="18" charset="0"/>
                <a:cs typeface="Times New Roman" panose="02020603050405020304" pitchFamily="18" charset="0"/>
              </a:rPr>
              <a:t>3</a:t>
            </a:r>
          </a:p>
        </p:txBody>
      </p:sp>
      <p:sp>
        <p:nvSpPr>
          <p:cNvPr id="5" name="Date Placeholder 4"/>
          <p:cNvSpPr>
            <a:spLocks noGrp="1"/>
          </p:cNvSpPr>
          <p:nvPr>
            <p:ph type="dt" sz="half" idx="10"/>
          </p:nvPr>
        </p:nvSpPr>
        <p:spPr/>
        <p:txBody>
          <a:bodyPr/>
          <a:lstStyle/>
          <a:p>
            <a:fld id="{D4C23C0E-3CB0-4093-A0C3-828B3AEC1E4E}" type="datetime1">
              <a:rPr lang="en-US" smtClean="0"/>
              <a:t>5/9/2026</a:t>
            </a:fld>
            <a:endParaRPr lang="en-US"/>
          </a:p>
        </p:txBody>
      </p:sp>
      <p:sp>
        <p:nvSpPr>
          <p:cNvPr id="6" name="Footer Placeholder 5"/>
          <p:cNvSpPr>
            <a:spLocks noGrp="1"/>
          </p:cNvSpPr>
          <p:nvPr>
            <p:ph type="ftr" sz="quarter" idx="11"/>
          </p:nvPr>
        </p:nvSpPr>
        <p:spPr/>
        <p:txBody>
          <a:bodyPr/>
          <a:lstStyle/>
          <a:p>
            <a:r>
              <a:rPr lang="en-US" smtClean="0"/>
              <a:t>Robert Agboyi</a:t>
            </a:r>
            <a:endParaRPr lang="en-US"/>
          </a:p>
        </p:txBody>
      </p:sp>
      <p:sp>
        <p:nvSpPr>
          <p:cNvPr id="7" name="Slide Number Placeholder 6"/>
          <p:cNvSpPr>
            <a:spLocks noGrp="1"/>
          </p:cNvSpPr>
          <p:nvPr>
            <p:ph type="sldNum" sz="quarter" idx="12"/>
          </p:nvPr>
        </p:nvSpPr>
        <p:spPr/>
        <p:txBody>
          <a:bodyPr/>
          <a:lstStyle/>
          <a:p>
            <a:fld id="{425FABBE-56DF-43E0-A033-9B2FCA448362}" type="slidenum">
              <a:rPr lang="en-US" smtClean="0"/>
              <a:t>1</a:t>
            </a:fld>
            <a:endParaRPr lang="en-US"/>
          </a:p>
        </p:txBody>
      </p:sp>
    </p:spTree>
    <p:extLst>
      <p:ext uri="{BB962C8B-B14F-4D97-AF65-F5344CB8AC3E}">
        <p14:creationId xmlns:p14="http://schemas.microsoft.com/office/powerpoint/2010/main" val="164092007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1091B7B-E6EA-4030-B7C1-7BE98E4D2A43}"/>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Key Characteristics of Cloud Computing</a:t>
            </a:r>
          </a:p>
        </p:txBody>
      </p:sp>
      <p:sp>
        <p:nvSpPr>
          <p:cNvPr id="3" name="Content Placeholder 2">
            <a:extLst>
              <a:ext uri="{FF2B5EF4-FFF2-40B4-BE49-F238E27FC236}">
                <a16:creationId xmlns:a16="http://schemas.microsoft.com/office/drawing/2014/main" xmlns="" id="{9926F058-4814-4B00-953D-7410CD20772B}"/>
              </a:ext>
            </a:extLst>
          </p:cNvPr>
          <p:cNvSpPr>
            <a:spLocks noGrp="1"/>
          </p:cNvSpPr>
          <p:nvPr>
            <p:ph idx="1"/>
          </p:nvPr>
        </p:nvSpPr>
        <p:spPr/>
        <p:txBody>
          <a:bodyPr/>
          <a:lstStyle/>
          <a:p>
            <a:r>
              <a:rPr lang="en-US" b="1" dirty="0"/>
              <a:t>Elasticity &amp; Scalability </a:t>
            </a:r>
            <a:r>
              <a:rPr lang="en-US" dirty="0"/>
              <a:t>– Adjust resources as needed</a:t>
            </a:r>
          </a:p>
          <a:p>
            <a:r>
              <a:rPr lang="en-US" b="1" dirty="0"/>
              <a:t>Self-Service Provisioning </a:t>
            </a:r>
            <a:r>
              <a:rPr lang="en-US" dirty="0"/>
              <a:t>– Users access resources instantly</a:t>
            </a:r>
          </a:p>
          <a:p>
            <a:r>
              <a:rPr lang="en-US" b="1" dirty="0"/>
              <a:t>APIs (Integration)</a:t>
            </a:r>
            <a:r>
              <a:rPr lang="en-US" dirty="0"/>
              <a:t> – Easy system communication</a:t>
            </a:r>
          </a:p>
          <a:p>
            <a:r>
              <a:rPr lang="en-US" b="1" dirty="0"/>
              <a:t>Pay-as-you-go</a:t>
            </a:r>
            <a:r>
              <a:rPr lang="en-US" dirty="0"/>
              <a:t> – Billing based on </a:t>
            </a:r>
            <a:r>
              <a:rPr lang="en-US" dirty="0" smtClean="0"/>
              <a:t>usage</a:t>
            </a:r>
          </a:p>
          <a:p>
            <a:r>
              <a:rPr lang="en-US" dirty="0" err="1"/>
              <a:t>IaaS</a:t>
            </a:r>
            <a:r>
              <a:rPr lang="en-US" dirty="0"/>
              <a:t>, </a:t>
            </a:r>
            <a:r>
              <a:rPr lang="en-US" dirty="0" err="1"/>
              <a:t>PaaS</a:t>
            </a:r>
            <a:r>
              <a:rPr lang="en-US" dirty="0"/>
              <a:t>, </a:t>
            </a:r>
            <a:r>
              <a:rPr lang="en-US" dirty="0" err="1"/>
              <a:t>SaaS</a:t>
            </a:r>
            <a:r>
              <a:rPr lang="en-US" dirty="0"/>
              <a:t> </a:t>
            </a:r>
            <a:r>
              <a:rPr lang="en-US" dirty="0" smtClean="0"/>
              <a:t>,scalable </a:t>
            </a:r>
            <a:r>
              <a:rPr lang="en-US" dirty="0"/>
              <a:t>=⇒ „elastic“ network-centric =⇒ services/resources are accessible over the internet abstracted =⇒ independent of the concrete hardware on-demand =⇒ prompt request completion pay as you go</a:t>
            </a:r>
          </a:p>
        </p:txBody>
      </p:sp>
      <p:sp>
        <p:nvSpPr>
          <p:cNvPr id="4" name="Date Placeholder 3"/>
          <p:cNvSpPr>
            <a:spLocks noGrp="1"/>
          </p:cNvSpPr>
          <p:nvPr>
            <p:ph type="dt" sz="half" idx="10"/>
          </p:nvPr>
        </p:nvSpPr>
        <p:spPr/>
        <p:txBody>
          <a:bodyPr/>
          <a:lstStyle/>
          <a:p>
            <a:fld id="{0036B8C4-022F-40BB-89C9-230537E757D6}" type="datetime1">
              <a:rPr lang="en-US" smtClean="0"/>
              <a:t>5/9/2026</a:t>
            </a:fld>
            <a:endParaRPr lang="en-US"/>
          </a:p>
        </p:txBody>
      </p:sp>
      <p:sp>
        <p:nvSpPr>
          <p:cNvPr id="5" name="Footer Placeholder 4"/>
          <p:cNvSpPr>
            <a:spLocks noGrp="1"/>
          </p:cNvSpPr>
          <p:nvPr>
            <p:ph type="ftr" sz="quarter" idx="11"/>
          </p:nvPr>
        </p:nvSpPr>
        <p:spPr/>
        <p:txBody>
          <a:bodyPr/>
          <a:lstStyle/>
          <a:p>
            <a:r>
              <a:rPr lang="en-US" smtClean="0"/>
              <a:t>Robert Agboyi</a:t>
            </a:r>
            <a:endParaRPr lang="en-US"/>
          </a:p>
        </p:txBody>
      </p:sp>
      <p:sp>
        <p:nvSpPr>
          <p:cNvPr id="6" name="Slide Number Placeholder 5"/>
          <p:cNvSpPr>
            <a:spLocks noGrp="1"/>
          </p:cNvSpPr>
          <p:nvPr>
            <p:ph type="sldNum" sz="quarter" idx="12"/>
          </p:nvPr>
        </p:nvSpPr>
        <p:spPr/>
        <p:txBody>
          <a:bodyPr/>
          <a:lstStyle/>
          <a:p>
            <a:fld id="{425FABBE-56DF-43E0-A033-9B2FCA448362}" type="slidenum">
              <a:rPr lang="en-US" smtClean="0"/>
              <a:t>2</a:t>
            </a:fld>
            <a:endParaRPr lang="en-US"/>
          </a:p>
        </p:txBody>
      </p:sp>
    </p:spTree>
    <p:extLst>
      <p:ext uri="{BB962C8B-B14F-4D97-AF65-F5344CB8AC3E}">
        <p14:creationId xmlns:p14="http://schemas.microsoft.com/office/powerpoint/2010/main" val="216957787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pic>
        <p:nvPicPr>
          <p:cNvPr id="7" name="Content Placeholder 6" descr="Screen Clipping"/>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182885" y="276733"/>
            <a:ext cx="9055844" cy="6444742"/>
          </a:xfrm>
        </p:spPr>
      </p:pic>
      <p:sp>
        <p:nvSpPr>
          <p:cNvPr id="4" name="Date Placeholder 3"/>
          <p:cNvSpPr>
            <a:spLocks noGrp="1"/>
          </p:cNvSpPr>
          <p:nvPr>
            <p:ph type="dt" sz="half" idx="10"/>
          </p:nvPr>
        </p:nvSpPr>
        <p:spPr/>
        <p:txBody>
          <a:bodyPr/>
          <a:lstStyle/>
          <a:p>
            <a:fld id="{FD373E26-AE59-49D1-BE1A-5923DE0A1969}" type="datetime1">
              <a:rPr lang="en-US" smtClean="0"/>
              <a:t>5/9/2026</a:t>
            </a:fld>
            <a:endParaRPr lang="en-US"/>
          </a:p>
        </p:txBody>
      </p:sp>
      <p:sp>
        <p:nvSpPr>
          <p:cNvPr id="5" name="Footer Placeholder 4"/>
          <p:cNvSpPr>
            <a:spLocks noGrp="1"/>
          </p:cNvSpPr>
          <p:nvPr>
            <p:ph type="ftr" sz="quarter" idx="11"/>
          </p:nvPr>
        </p:nvSpPr>
        <p:spPr/>
        <p:txBody>
          <a:bodyPr/>
          <a:lstStyle/>
          <a:p>
            <a:r>
              <a:rPr lang="en-US" smtClean="0"/>
              <a:t>Robert Agboyi</a:t>
            </a:r>
            <a:endParaRPr lang="en-US"/>
          </a:p>
        </p:txBody>
      </p:sp>
      <p:sp>
        <p:nvSpPr>
          <p:cNvPr id="6" name="Slide Number Placeholder 5"/>
          <p:cNvSpPr>
            <a:spLocks noGrp="1"/>
          </p:cNvSpPr>
          <p:nvPr>
            <p:ph type="sldNum" sz="quarter" idx="12"/>
          </p:nvPr>
        </p:nvSpPr>
        <p:spPr/>
        <p:txBody>
          <a:bodyPr/>
          <a:lstStyle/>
          <a:p>
            <a:fld id="{425FABBE-56DF-43E0-A033-9B2FCA448362}" type="slidenum">
              <a:rPr lang="en-US" smtClean="0"/>
              <a:t>3</a:t>
            </a:fld>
            <a:endParaRPr lang="en-US"/>
          </a:p>
        </p:txBody>
      </p:sp>
    </p:spTree>
    <p:extLst>
      <p:ext uri="{BB962C8B-B14F-4D97-AF65-F5344CB8AC3E}">
        <p14:creationId xmlns:p14="http://schemas.microsoft.com/office/powerpoint/2010/main" val="86195694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F114D37-5E68-4E29-B943-A2EA4F40024A}"/>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Cloud Computing– Focal Points by Definition </a:t>
            </a:r>
          </a:p>
        </p:txBody>
      </p:sp>
      <p:sp>
        <p:nvSpPr>
          <p:cNvPr id="3" name="Content Placeholder 2">
            <a:extLst>
              <a:ext uri="{FF2B5EF4-FFF2-40B4-BE49-F238E27FC236}">
                <a16:creationId xmlns:a16="http://schemas.microsoft.com/office/drawing/2014/main" xmlns="" id="{E9BBD857-A26D-4E30-8B49-0D9AA616E537}"/>
              </a:ext>
            </a:extLst>
          </p:cNvPr>
          <p:cNvSpPr>
            <a:spLocks noGrp="1"/>
          </p:cNvSpPr>
          <p:nvPr>
            <p:ph idx="1"/>
          </p:nvPr>
        </p:nvSpPr>
        <p:spPr>
          <a:xfrm>
            <a:off x="838200" y="1825625"/>
            <a:ext cx="10515600" cy="4667250"/>
          </a:xfrm>
        </p:spPr>
        <p:txBody>
          <a:bodyPr>
            <a:normAutofit fontScale="92500" lnSpcReduction="10000"/>
          </a:bodyPr>
          <a:lstStyle/>
          <a:p>
            <a:r>
              <a:rPr lang="en-US" dirty="0">
                <a:solidFill>
                  <a:srgbClr val="FF0000"/>
                </a:solidFill>
                <a:latin typeface="Times New Roman" panose="02020603050405020304" pitchFamily="18" charset="0"/>
                <a:cs typeface="Times New Roman" panose="02020603050405020304" pitchFamily="18" charset="0"/>
              </a:rPr>
              <a:t>Part 1</a:t>
            </a:r>
            <a:r>
              <a:rPr lang="en-US" dirty="0">
                <a:latin typeface="Times New Roman" panose="02020603050405020304" pitchFamily="18" charset="0"/>
                <a:cs typeface="Times New Roman" panose="02020603050405020304" pitchFamily="18" charset="0"/>
              </a:rPr>
              <a:t>: Fundamental technologies– basis of Cloud Computing</a:t>
            </a:r>
          </a:p>
          <a:p>
            <a:r>
              <a:rPr lang="en-US" b="1" dirty="0">
                <a:latin typeface="Times New Roman" panose="02020603050405020304" pitchFamily="18" charset="0"/>
                <a:cs typeface="Times New Roman" panose="02020603050405020304" pitchFamily="18" charset="0"/>
              </a:rPr>
              <a:t>Virtualization</a:t>
            </a:r>
            <a:r>
              <a:rPr lang="en-US" dirty="0">
                <a:latin typeface="Times New Roman" panose="02020603050405020304" pitchFamily="18" charset="0"/>
                <a:cs typeface="Times New Roman" panose="02020603050405020304" pitchFamily="18" charset="0"/>
              </a:rPr>
              <a:t> for shared and efficient resource utilization </a:t>
            </a:r>
          </a:p>
          <a:p>
            <a:r>
              <a:rPr lang="en-US" b="1" dirty="0">
                <a:latin typeface="Times New Roman" panose="02020603050405020304" pitchFamily="18" charset="0"/>
                <a:cs typeface="Times New Roman" panose="02020603050405020304" pitchFamily="18" charset="0"/>
              </a:rPr>
              <a:t>Web Services </a:t>
            </a:r>
            <a:r>
              <a:rPr lang="en-US" dirty="0">
                <a:latin typeface="Times New Roman" panose="02020603050405020304" pitchFamily="18" charset="0"/>
                <a:cs typeface="Times New Roman" panose="02020603050405020304" pitchFamily="18" charset="0"/>
              </a:rPr>
              <a:t>(REST/SOAP) for communicating with the services</a:t>
            </a:r>
          </a:p>
          <a:p>
            <a:r>
              <a:rPr lang="en-US" dirty="0">
                <a:solidFill>
                  <a:srgbClr val="FF0000"/>
                </a:solidFill>
                <a:latin typeface="Times New Roman" panose="02020603050405020304" pitchFamily="18" charset="0"/>
                <a:cs typeface="Times New Roman" panose="02020603050405020304" pitchFamily="18" charset="0"/>
              </a:rPr>
              <a:t>Part 2</a:t>
            </a:r>
            <a:r>
              <a:rPr lang="en-US" dirty="0">
                <a:latin typeface="Times New Roman" panose="02020603050405020304" pitchFamily="18" charset="0"/>
                <a:cs typeface="Times New Roman" panose="02020603050405020304" pitchFamily="18" charset="0"/>
              </a:rPr>
              <a:t>: Cloud services and their characteristics</a:t>
            </a:r>
          </a:p>
          <a:p>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IaaS, PaaS, SaaS </a:t>
            </a:r>
          </a:p>
          <a:p>
            <a:r>
              <a:rPr lang="en-US" b="1" dirty="0">
                <a:latin typeface="Times New Roman" panose="02020603050405020304" pitchFamily="18" charset="0"/>
                <a:cs typeface="Times New Roman" panose="02020603050405020304" pitchFamily="18" charset="0"/>
              </a:rPr>
              <a:t>Scalable</a:t>
            </a:r>
            <a:r>
              <a:rPr lang="en-US" dirty="0">
                <a:latin typeface="Times New Roman" panose="02020603050405020304" pitchFamily="18" charset="0"/>
                <a:cs typeface="Times New Roman" panose="02020603050405020304" pitchFamily="18" charset="0"/>
              </a:rPr>
              <a:t> =⇒ „elastic“ </a:t>
            </a:r>
          </a:p>
          <a:p>
            <a:r>
              <a:rPr lang="en-US" b="1" dirty="0">
                <a:latin typeface="Times New Roman" panose="02020603050405020304" pitchFamily="18" charset="0"/>
                <a:cs typeface="Times New Roman" panose="02020603050405020304" pitchFamily="18" charset="0"/>
              </a:rPr>
              <a:t>Network-centric</a:t>
            </a:r>
            <a:r>
              <a:rPr lang="en-US" dirty="0">
                <a:latin typeface="Times New Roman" panose="02020603050405020304" pitchFamily="18" charset="0"/>
                <a:cs typeface="Times New Roman" panose="02020603050405020304" pitchFamily="18" charset="0"/>
              </a:rPr>
              <a:t> =⇒ services/resources are accessible over the internet </a:t>
            </a:r>
          </a:p>
          <a:p>
            <a:r>
              <a:rPr lang="en-US" b="1" dirty="0">
                <a:latin typeface="Times New Roman" panose="02020603050405020304" pitchFamily="18" charset="0"/>
                <a:cs typeface="Times New Roman" panose="02020603050405020304" pitchFamily="18" charset="0"/>
              </a:rPr>
              <a:t>Abstracted</a:t>
            </a:r>
            <a:r>
              <a:rPr lang="en-US" dirty="0">
                <a:latin typeface="Times New Roman" panose="02020603050405020304" pitchFamily="18" charset="0"/>
                <a:cs typeface="Times New Roman" panose="02020603050405020304" pitchFamily="18" charset="0"/>
              </a:rPr>
              <a:t> =⇒ independent of the concrete hardware </a:t>
            </a:r>
          </a:p>
          <a:p>
            <a:r>
              <a:rPr lang="en-US" b="1" dirty="0">
                <a:latin typeface="Times New Roman" panose="02020603050405020304" pitchFamily="18" charset="0"/>
                <a:cs typeface="Times New Roman" panose="02020603050405020304" pitchFamily="18" charset="0"/>
              </a:rPr>
              <a:t>On-demand</a:t>
            </a:r>
            <a:r>
              <a:rPr lang="en-US" dirty="0">
                <a:latin typeface="Times New Roman" panose="02020603050405020304" pitchFamily="18" charset="0"/>
                <a:cs typeface="Times New Roman" panose="02020603050405020304" pitchFamily="18" charset="0"/>
              </a:rPr>
              <a:t> =⇒ prompt request completion </a:t>
            </a:r>
          </a:p>
          <a:p>
            <a:r>
              <a:rPr lang="en-US" b="1" dirty="0">
                <a:latin typeface="Times New Roman" panose="02020603050405020304" pitchFamily="18" charset="0"/>
                <a:cs typeface="Times New Roman" panose="02020603050405020304" pitchFamily="18" charset="0"/>
              </a:rPr>
              <a:t>Pay as you go</a:t>
            </a:r>
          </a:p>
        </p:txBody>
      </p:sp>
      <p:sp>
        <p:nvSpPr>
          <p:cNvPr id="4" name="Date Placeholder 3"/>
          <p:cNvSpPr>
            <a:spLocks noGrp="1"/>
          </p:cNvSpPr>
          <p:nvPr>
            <p:ph type="dt" sz="half" idx="10"/>
          </p:nvPr>
        </p:nvSpPr>
        <p:spPr/>
        <p:txBody>
          <a:bodyPr/>
          <a:lstStyle/>
          <a:p>
            <a:fld id="{90CACBD1-15D0-4E23-9BC9-3DE31C4F4A29}" type="datetime1">
              <a:rPr lang="en-US" smtClean="0"/>
              <a:t>5/9/2026</a:t>
            </a:fld>
            <a:endParaRPr lang="en-US"/>
          </a:p>
        </p:txBody>
      </p:sp>
      <p:sp>
        <p:nvSpPr>
          <p:cNvPr id="5" name="Footer Placeholder 4"/>
          <p:cNvSpPr>
            <a:spLocks noGrp="1"/>
          </p:cNvSpPr>
          <p:nvPr>
            <p:ph type="ftr" sz="quarter" idx="11"/>
          </p:nvPr>
        </p:nvSpPr>
        <p:spPr/>
        <p:txBody>
          <a:bodyPr/>
          <a:lstStyle/>
          <a:p>
            <a:r>
              <a:rPr lang="en-US" smtClean="0"/>
              <a:t>Robert Agboyi</a:t>
            </a:r>
            <a:endParaRPr lang="en-US"/>
          </a:p>
        </p:txBody>
      </p:sp>
      <p:sp>
        <p:nvSpPr>
          <p:cNvPr id="6" name="Slide Number Placeholder 5"/>
          <p:cNvSpPr>
            <a:spLocks noGrp="1"/>
          </p:cNvSpPr>
          <p:nvPr>
            <p:ph type="sldNum" sz="quarter" idx="12"/>
          </p:nvPr>
        </p:nvSpPr>
        <p:spPr/>
        <p:txBody>
          <a:bodyPr/>
          <a:lstStyle/>
          <a:p>
            <a:fld id="{425FABBE-56DF-43E0-A033-9B2FCA448362}" type="slidenum">
              <a:rPr lang="en-US" smtClean="0"/>
              <a:t>4</a:t>
            </a:fld>
            <a:endParaRPr lang="en-US"/>
          </a:p>
        </p:txBody>
      </p:sp>
    </p:spTree>
    <p:extLst>
      <p:ext uri="{BB962C8B-B14F-4D97-AF65-F5344CB8AC3E}">
        <p14:creationId xmlns:p14="http://schemas.microsoft.com/office/powerpoint/2010/main" val="42781654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 name="Title 1"/>
          <p:cNvSpPr txBox="1">
            <a:spLocks noGrp="1"/>
          </p:cNvSpPr>
          <p:nvPr>
            <p:ph type="title"/>
          </p:nvPr>
        </p:nvSpPr>
        <p:spPr>
          <a:xfrm>
            <a:off x="838200" y="365125"/>
            <a:ext cx="10515600" cy="1325563"/>
          </a:xfrm>
          <a:prstGeom prst="rect">
            <a:avLst/>
          </a:prstGeom>
        </p:spPr>
        <p:txBody>
          <a:bodyPr/>
          <a:lstStyle/>
          <a:p>
            <a:r>
              <a:t>How many users and objects?</a:t>
            </a:r>
          </a:p>
        </p:txBody>
      </p:sp>
      <p:sp>
        <p:nvSpPr>
          <p:cNvPr id="151" name="Content Placeholder 2"/>
          <p:cNvSpPr txBox="1">
            <a:spLocks noGrp="1"/>
          </p:cNvSpPr>
          <p:nvPr>
            <p:ph type="body" idx="1"/>
          </p:nvPr>
        </p:nvSpPr>
        <p:spPr>
          <a:xfrm>
            <a:off x="838200" y="1825625"/>
            <a:ext cx="10515600" cy="4351338"/>
          </a:xfrm>
          <a:prstGeom prst="rect">
            <a:avLst/>
          </a:prstGeom>
        </p:spPr>
        <p:txBody>
          <a:bodyPr/>
          <a:lstStyle/>
          <a:p>
            <a:r>
              <a:rPr dirty="0"/>
              <a:t>Flickr has 10 billion photos</a:t>
            </a:r>
          </a:p>
          <a:p>
            <a:r>
              <a:rPr dirty="0"/>
              <a:t>Facebook has 1.4 billion daily active users</a:t>
            </a:r>
          </a:p>
          <a:p>
            <a:r>
              <a:rPr dirty="0"/>
              <a:t>Google is serving 3.5 billion queries/day on over 130 trillion pages</a:t>
            </a:r>
          </a:p>
          <a:p>
            <a:r>
              <a:rPr dirty="0"/>
              <a:t>5 billion videos/day watched on YouTube</a:t>
            </a:r>
          </a:p>
        </p:txBody>
      </p:sp>
      <p:sp>
        <p:nvSpPr>
          <p:cNvPr id="152" name="Slide Number Placeholder 3"/>
          <p:cNvSpPr txBox="1">
            <a:spLocks noGrp="1"/>
          </p:cNvSpPr>
          <p:nvPr>
            <p:ph type="sldNum" sz="quarter" idx="4294967295"/>
          </p:nvPr>
        </p:nvSpPr>
        <p:spPr>
          <a:xfrm>
            <a:off x="11166465" y="6404292"/>
            <a:ext cx="187336" cy="269241"/>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5</a:t>
            </a:fld>
            <a:endParaRPr/>
          </a:p>
        </p:txBody>
      </p:sp>
    </p:spTree>
    <p:extLst>
      <p:ext uri="{BB962C8B-B14F-4D97-AF65-F5344CB8AC3E}">
        <p14:creationId xmlns:p14="http://schemas.microsoft.com/office/powerpoint/2010/main" val="207085624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151">
                                            <p:bg/>
                                          </p:spTgt>
                                        </p:tgtEl>
                                        <p:attrNameLst>
                                          <p:attrName>style.visibility</p:attrName>
                                        </p:attrNameLst>
                                      </p:cBhvr>
                                      <p:to>
                                        <p:strVal val="visible"/>
                                      </p:to>
                                    </p:set>
                                  </p:childTnLst>
                                </p:cTn>
                              </p:par>
                              <p:par>
                                <p:cTn id="7" presetID="1" presetClass="entr" presetSubtype="0" fill="hold" grpId="0" nodeType="withEffect">
                                  <p:stCondLst>
                                    <p:cond delay="0"/>
                                  </p:stCondLst>
                                  <p:iterate>
                                    <p:tmAbs val="0"/>
                                  </p:iterate>
                                  <p:childTnLst>
                                    <p:set>
                                      <p:cBhvr>
                                        <p:cTn id="8" fill="hold"/>
                                        <p:tgtEl>
                                          <p:spTgt spid="151">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iterate>
                                    <p:tmAbs val="0"/>
                                  </p:iterate>
                                  <p:childTnLst>
                                    <p:set>
                                      <p:cBhvr>
                                        <p:cTn id="12" fill="hold"/>
                                        <p:tgtEl>
                                          <p:spTgt spid="151">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iterate>
                                    <p:tmAbs val="0"/>
                                  </p:iterate>
                                  <p:childTnLst>
                                    <p:set>
                                      <p:cBhvr>
                                        <p:cTn id="16" fill="hold"/>
                                        <p:tgtEl>
                                          <p:spTgt spid="151">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iterate>
                                    <p:tmAbs val="0"/>
                                  </p:iterate>
                                  <p:childTnLst>
                                    <p:set>
                                      <p:cBhvr>
                                        <p:cTn id="20" fill="hold"/>
                                        <p:tgtEl>
                                          <p:spTgt spid="15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 grpId="0" build="p" animBg="1" advAuto="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 name="Title 1"/>
          <p:cNvSpPr txBox="1">
            <a:spLocks noGrp="1"/>
          </p:cNvSpPr>
          <p:nvPr>
            <p:ph type="title"/>
          </p:nvPr>
        </p:nvSpPr>
        <p:spPr>
          <a:xfrm>
            <a:off x="838200" y="365125"/>
            <a:ext cx="8494316" cy="1325563"/>
          </a:xfrm>
          <a:prstGeom prst="rect">
            <a:avLst/>
          </a:prstGeom>
        </p:spPr>
        <p:txBody>
          <a:bodyPr/>
          <a:lstStyle/>
          <a:p>
            <a:r>
              <a:t>How much data?</a:t>
            </a:r>
          </a:p>
        </p:txBody>
      </p:sp>
      <p:sp>
        <p:nvSpPr>
          <p:cNvPr id="155" name="Content Placeholder 2"/>
          <p:cNvSpPr txBox="1">
            <a:spLocks noGrp="1"/>
          </p:cNvSpPr>
          <p:nvPr>
            <p:ph type="body" idx="1"/>
          </p:nvPr>
        </p:nvSpPr>
        <p:spPr>
          <a:xfrm>
            <a:off x="885180" y="1759974"/>
            <a:ext cx="9454767" cy="4802192"/>
          </a:xfrm>
          <a:prstGeom prst="rect">
            <a:avLst/>
          </a:prstGeom>
        </p:spPr>
        <p:txBody>
          <a:bodyPr/>
          <a:lstStyle/>
          <a:p>
            <a:pPr>
              <a:lnSpc>
                <a:spcPct val="81000"/>
              </a:lnSpc>
            </a:pPr>
            <a:r>
              <a:rPr dirty="0"/>
              <a:t>Modern applications use massive data:</a:t>
            </a:r>
          </a:p>
          <a:p>
            <a:pPr marL="685800" lvl="1" indent="-228600">
              <a:lnSpc>
                <a:spcPct val="81000"/>
              </a:lnSpc>
              <a:spcBef>
                <a:spcPts val="500"/>
              </a:spcBef>
              <a:defRPr sz="2400"/>
            </a:pPr>
            <a:r>
              <a:rPr dirty="0"/>
              <a:t>Rendering 'Avatar' movie required &gt;1 petabyte of storage</a:t>
            </a:r>
          </a:p>
          <a:p>
            <a:pPr marL="685800" lvl="1" indent="-228600">
              <a:lnSpc>
                <a:spcPct val="81000"/>
              </a:lnSpc>
              <a:spcBef>
                <a:spcPts val="500"/>
              </a:spcBef>
              <a:defRPr sz="2400"/>
            </a:pPr>
            <a:r>
              <a:rPr dirty="0"/>
              <a:t>eBay has &gt;6.5 petabytes of user data</a:t>
            </a:r>
          </a:p>
          <a:p>
            <a:pPr marL="685800" lvl="1" indent="-228600">
              <a:lnSpc>
                <a:spcPct val="81000"/>
              </a:lnSpc>
              <a:spcBef>
                <a:spcPts val="500"/>
              </a:spcBef>
              <a:defRPr sz="2400"/>
            </a:pPr>
            <a:r>
              <a:rPr dirty="0"/>
              <a:t>CERN's LHC will produce about 15 petabytes of data per year</a:t>
            </a:r>
          </a:p>
          <a:p>
            <a:pPr marL="685800" lvl="1" indent="-228600">
              <a:lnSpc>
                <a:spcPct val="81000"/>
              </a:lnSpc>
              <a:spcBef>
                <a:spcPts val="500"/>
              </a:spcBef>
              <a:defRPr sz="2400"/>
            </a:pPr>
            <a:r>
              <a:rPr dirty="0"/>
              <a:t>In 2008, Google processed 20 petabytes per day</a:t>
            </a:r>
          </a:p>
          <a:p>
            <a:pPr marL="685800" lvl="1" indent="-228600">
              <a:lnSpc>
                <a:spcPct val="81000"/>
              </a:lnSpc>
              <a:spcBef>
                <a:spcPts val="500"/>
              </a:spcBef>
              <a:defRPr sz="2400"/>
            </a:pPr>
            <a:r>
              <a:rPr dirty="0"/>
              <a:t>German Climate computing center dimensioned for 60 petabytes of climate data</a:t>
            </a:r>
          </a:p>
          <a:p>
            <a:pPr marL="685800" lvl="1" indent="-228600">
              <a:lnSpc>
                <a:spcPct val="81000"/>
              </a:lnSpc>
              <a:spcBef>
                <a:spcPts val="500"/>
              </a:spcBef>
              <a:defRPr sz="2400"/>
            </a:pPr>
            <a:r>
              <a:rPr dirty="0"/>
              <a:t>Google now designing for 1 exabyte of storage</a:t>
            </a:r>
          </a:p>
          <a:p>
            <a:pPr marL="685800" lvl="1" indent="-228600">
              <a:lnSpc>
                <a:spcPct val="81000"/>
              </a:lnSpc>
              <a:spcBef>
                <a:spcPts val="500"/>
              </a:spcBef>
              <a:defRPr sz="2400"/>
            </a:pPr>
            <a:r>
              <a:rPr dirty="0"/>
              <a:t>NSA Utah Data Center is said to have 5 zettabyte </a:t>
            </a:r>
          </a:p>
          <a:p>
            <a:pPr>
              <a:lnSpc>
                <a:spcPct val="81000"/>
              </a:lnSpc>
            </a:pPr>
            <a:r>
              <a:rPr dirty="0"/>
              <a:t>How much is a zettabyte?</a:t>
            </a:r>
          </a:p>
          <a:p>
            <a:pPr marL="685800" lvl="1" indent="-228600">
              <a:lnSpc>
                <a:spcPct val="81000"/>
              </a:lnSpc>
              <a:spcBef>
                <a:spcPts val="500"/>
              </a:spcBef>
              <a:defRPr sz="2400"/>
            </a:pPr>
            <a:r>
              <a:rPr dirty="0"/>
              <a:t>1,000,000,000,000,000,000,000 bytes</a:t>
            </a:r>
          </a:p>
          <a:p>
            <a:pPr marL="685800" lvl="1" indent="-228600">
              <a:lnSpc>
                <a:spcPct val="81000"/>
              </a:lnSpc>
              <a:spcBef>
                <a:spcPts val="500"/>
              </a:spcBef>
              <a:defRPr sz="2400"/>
            </a:pPr>
            <a:r>
              <a:rPr dirty="0"/>
              <a:t>A stack of 1TB hard disks that is 25,400 km high</a:t>
            </a:r>
          </a:p>
        </p:txBody>
      </p:sp>
      <p:sp>
        <p:nvSpPr>
          <p:cNvPr id="156" name="Slide Number Placeholder 3"/>
          <p:cNvSpPr txBox="1">
            <a:spLocks noGrp="1"/>
          </p:cNvSpPr>
          <p:nvPr>
            <p:ph type="sldNum" sz="quarter" idx="4294967295"/>
          </p:nvPr>
        </p:nvSpPr>
        <p:spPr>
          <a:xfrm>
            <a:off x="11166465" y="6404292"/>
            <a:ext cx="187336" cy="269241"/>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6</a:t>
            </a:fld>
            <a:endParaRPr/>
          </a:p>
        </p:txBody>
      </p:sp>
      <p:pic>
        <p:nvPicPr>
          <p:cNvPr id="157" name="Picture 5" descr="Picture 5"/>
          <p:cNvPicPr>
            <a:picLocks noChangeAspect="1"/>
          </p:cNvPicPr>
          <p:nvPr/>
        </p:nvPicPr>
        <p:blipFill>
          <a:blip r:embed="rId2">
            <a:extLst/>
          </a:blip>
          <a:stretch>
            <a:fillRect/>
          </a:stretch>
        </p:blipFill>
        <p:spPr>
          <a:xfrm>
            <a:off x="10652073" y="5379849"/>
            <a:ext cx="806553" cy="666751"/>
          </a:xfrm>
          <a:prstGeom prst="rect">
            <a:avLst/>
          </a:prstGeom>
          <a:ln w="12700">
            <a:miter lim="400000"/>
          </a:ln>
        </p:spPr>
      </p:pic>
      <p:pic>
        <p:nvPicPr>
          <p:cNvPr id="158" name="Picture 6" descr="Picture 6"/>
          <p:cNvPicPr>
            <a:picLocks noChangeAspect="1"/>
          </p:cNvPicPr>
          <p:nvPr/>
        </p:nvPicPr>
        <p:blipFill>
          <a:blip r:embed="rId2">
            <a:extLst/>
          </a:blip>
          <a:stretch>
            <a:fillRect/>
          </a:stretch>
        </p:blipFill>
        <p:spPr>
          <a:xfrm>
            <a:off x="10737798" y="5008374"/>
            <a:ext cx="806553" cy="666751"/>
          </a:xfrm>
          <a:prstGeom prst="rect">
            <a:avLst/>
          </a:prstGeom>
          <a:ln w="12700">
            <a:miter lim="400000"/>
          </a:ln>
        </p:spPr>
      </p:pic>
      <p:pic>
        <p:nvPicPr>
          <p:cNvPr id="159" name="Picture 7" descr="Picture 7"/>
          <p:cNvPicPr>
            <a:picLocks noChangeAspect="1"/>
          </p:cNvPicPr>
          <p:nvPr/>
        </p:nvPicPr>
        <p:blipFill>
          <a:blip r:embed="rId2">
            <a:extLst/>
          </a:blip>
          <a:stretch>
            <a:fillRect/>
          </a:stretch>
        </p:blipFill>
        <p:spPr>
          <a:xfrm>
            <a:off x="10642548" y="4627374"/>
            <a:ext cx="806553" cy="666751"/>
          </a:xfrm>
          <a:prstGeom prst="rect">
            <a:avLst/>
          </a:prstGeom>
          <a:ln w="12700">
            <a:miter lim="400000"/>
          </a:ln>
        </p:spPr>
      </p:pic>
      <p:pic>
        <p:nvPicPr>
          <p:cNvPr id="160" name="Picture 8" descr="Picture 8"/>
          <p:cNvPicPr>
            <a:picLocks noChangeAspect="1"/>
          </p:cNvPicPr>
          <p:nvPr/>
        </p:nvPicPr>
        <p:blipFill>
          <a:blip r:embed="rId2">
            <a:extLst/>
          </a:blip>
          <a:stretch>
            <a:fillRect/>
          </a:stretch>
        </p:blipFill>
        <p:spPr>
          <a:xfrm>
            <a:off x="10547298" y="4227324"/>
            <a:ext cx="806553" cy="666751"/>
          </a:xfrm>
          <a:prstGeom prst="rect">
            <a:avLst/>
          </a:prstGeom>
          <a:ln w="12700">
            <a:miter lim="400000"/>
          </a:ln>
        </p:spPr>
      </p:pic>
      <p:pic>
        <p:nvPicPr>
          <p:cNvPr id="161" name="Picture 9" descr="Picture 9"/>
          <p:cNvPicPr>
            <a:picLocks noChangeAspect="1"/>
          </p:cNvPicPr>
          <p:nvPr/>
        </p:nvPicPr>
        <p:blipFill>
          <a:blip r:embed="rId2">
            <a:extLst/>
          </a:blip>
          <a:stretch>
            <a:fillRect/>
          </a:stretch>
        </p:blipFill>
        <p:spPr>
          <a:xfrm>
            <a:off x="10690173" y="3893949"/>
            <a:ext cx="806553" cy="666751"/>
          </a:xfrm>
          <a:prstGeom prst="rect">
            <a:avLst/>
          </a:prstGeom>
          <a:ln w="12700">
            <a:miter lim="400000"/>
          </a:ln>
        </p:spPr>
      </p:pic>
      <p:pic>
        <p:nvPicPr>
          <p:cNvPr id="162" name="Picture 10" descr="Picture 10"/>
          <p:cNvPicPr>
            <a:picLocks noChangeAspect="1"/>
          </p:cNvPicPr>
          <p:nvPr/>
        </p:nvPicPr>
        <p:blipFill>
          <a:blip r:embed="rId2">
            <a:extLst/>
          </a:blip>
          <a:stretch>
            <a:fillRect/>
          </a:stretch>
        </p:blipFill>
        <p:spPr>
          <a:xfrm>
            <a:off x="10499673" y="3484374"/>
            <a:ext cx="806553" cy="666751"/>
          </a:xfrm>
          <a:prstGeom prst="rect">
            <a:avLst/>
          </a:prstGeom>
          <a:ln w="12700">
            <a:miter lim="400000"/>
          </a:ln>
        </p:spPr>
      </p:pic>
      <p:pic>
        <p:nvPicPr>
          <p:cNvPr id="163" name="Picture 11" descr="Picture 11"/>
          <p:cNvPicPr>
            <a:picLocks noChangeAspect="1"/>
          </p:cNvPicPr>
          <p:nvPr/>
        </p:nvPicPr>
        <p:blipFill>
          <a:blip r:embed="rId2">
            <a:extLst/>
          </a:blip>
          <a:stretch>
            <a:fillRect/>
          </a:stretch>
        </p:blipFill>
        <p:spPr>
          <a:xfrm>
            <a:off x="10475463" y="3122423"/>
            <a:ext cx="806553" cy="666751"/>
          </a:xfrm>
          <a:prstGeom prst="rect">
            <a:avLst/>
          </a:prstGeom>
          <a:ln w="12700">
            <a:miter lim="400000"/>
          </a:ln>
        </p:spPr>
      </p:pic>
      <p:pic>
        <p:nvPicPr>
          <p:cNvPr id="164" name="Picture 12" descr="Picture 12"/>
          <p:cNvPicPr>
            <a:picLocks noChangeAspect="1"/>
          </p:cNvPicPr>
          <p:nvPr/>
        </p:nvPicPr>
        <p:blipFill>
          <a:blip r:embed="rId2">
            <a:extLst/>
          </a:blip>
          <a:stretch>
            <a:fillRect/>
          </a:stretch>
        </p:blipFill>
        <p:spPr>
          <a:xfrm>
            <a:off x="10461573" y="2741423"/>
            <a:ext cx="806553" cy="666751"/>
          </a:xfrm>
          <a:prstGeom prst="rect">
            <a:avLst/>
          </a:prstGeom>
          <a:ln w="12700">
            <a:miter lim="400000"/>
          </a:ln>
        </p:spPr>
      </p:pic>
      <p:pic>
        <p:nvPicPr>
          <p:cNvPr id="165" name="Picture 13" descr="Picture 13"/>
          <p:cNvPicPr>
            <a:picLocks noChangeAspect="1"/>
          </p:cNvPicPr>
          <p:nvPr/>
        </p:nvPicPr>
        <p:blipFill>
          <a:blip r:embed="rId2">
            <a:extLst/>
          </a:blip>
          <a:stretch>
            <a:fillRect/>
          </a:stretch>
        </p:blipFill>
        <p:spPr>
          <a:xfrm>
            <a:off x="10604448" y="2398523"/>
            <a:ext cx="806553" cy="666751"/>
          </a:xfrm>
          <a:prstGeom prst="rect">
            <a:avLst/>
          </a:prstGeom>
          <a:ln w="12700">
            <a:miter lim="400000"/>
          </a:ln>
        </p:spPr>
      </p:pic>
      <p:pic>
        <p:nvPicPr>
          <p:cNvPr id="166" name="Picture 14" descr="Picture 14"/>
          <p:cNvPicPr>
            <a:picLocks noChangeAspect="1"/>
          </p:cNvPicPr>
          <p:nvPr/>
        </p:nvPicPr>
        <p:blipFill>
          <a:blip r:embed="rId2">
            <a:extLst/>
          </a:blip>
          <a:stretch>
            <a:fillRect/>
          </a:stretch>
        </p:blipFill>
        <p:spPr>
          <a:xfrm>
            <a:off x="10537773" y="1969898"/>
            <a:ext cx="806553" cy="666751"/>
          </a:xfrm>
          <a:prstGeom prst="rect">
            <a:avLst/>
          </a:prstGeom>
          <a:ln w="12700">
            <a:miter lim="400000"/>
          </a:ln>
        </p:spPr>
      </p:pic>
      <p:pic>
        <p:nvPicPr>
          <p:cNvPr id="167" name="Picture 15" descr="Picture 15"/>
          <p:cNvPicPr>
            <a:picLocks noChangeAspect="1"/>
          </p:cNvPicPr>
          <p:nvPr/>
        </p:nvPicPr>
        <p:blipFill>
          <a:blip r:embed="rId2">
            <a:extLst/>
          </a:blip>
          <a:stretch>
            <a:fillRect/>
          </a:stretch>
        </p:blipFill>
        <p:spPr>
          <a:xfrm>
            <a:off x="10633023" y="1607949"/>
            <a:ext cx="806553" cy="666751"/>
          </a:xfrm>
          <a:prstGeom prst="rect">
            <a:avLst/>
          </a:prstGeom>
          <a:ln w="12700">
            <a:miter lim="400000"/>
          </a:ln>
        </p:spPr>
      </p:pic>
      <p:pic>
        <p:nvPicPr>
          <p:cNvPr id="168" name="Picture 16" descr="Picture 16"/>
          <p:cNvPicPr>
            <a:picLocks noChangeAspect="1"/>
          </p:cNvPicPr>
          <p:nvPr/>
        </p:nvPicPr>
        <p:blipFill>
          <a:blip r:embed="rId2">
            <a:extLst/>
          </a:blip>
          <a:stretch>
            <a:fillRect/>
          </a:stretch>
        </p:blipFill>
        <p:spPr>
          <a:xfrm>
            <a:off x="10528248" y="1284099"/>
            <a:ext cx="806553" cy="666751"/>
          </a:xfrm>
          <a:prstGeom prst="rect">
            <a:avLst/>
          </a:prstGeom>
          <a:ln w="12700">
            <a:miter lim="400000"/>
          </a:ln>
        </p:spPr>
      </p:pic>
      <p:pic>
        <p:nvPicPr>
          <p:cNvPr id="169" name="Picture 17" descr="Picture 17"/>
          <p:cNvPicPr>
            <a:picLocks noChangeAspect="1"/>
          </p:cNvPicPr>
          <p:nvPr/>
        </p:nvPicPr>
        <p:blipFill>
          <a:blip r:embed="rId2">
            <a:extLst/>
          </a:blip>
          <a:stretch>
            <a:fillRect/>
          </a:stretch>
        </p:blipFill>
        <p:spPr>
          <a:xfrm>
            <a:off x="10594923" y="950724"/>
            <a:ext cx="806553" cy="666751"/>
          </a:xfrm>
          <a:prstGeom prst="rect">
            <a:avLst/>
          </a:prstGeom>
          <a:ln w="12700">
            <a:miter lim="400000"/>
          </a:ln>
        </p:spPr>
      </p:pic>
      <p:pic>
        <p:nvPicPr>
          <p:cNvPr id="170" name="Picture 18" descr="Picture 18"/>
          <p:cNvPicPr>
            <a:picLocks noChangeAspect="1"/>
          </p:cNvPicPr>
          <p:nvPr/>
        </p:nvPicPr>
        <p:blipFill>
          <a:blip r:embed="rId2">
            <a:extLst/>
          </a:blip>
          <a:stretch>
            <a:fillRect/>
          </a:stretch>
        </p:blipFill>
        <p:spPr>
          <a:xfrm>
            <a:off x="10518723" y="569723"/>
            <a:ext cx="806553" cy="666751"/>
          </a:xfrm>
          <a:prstGeom prst="rect">
            <a:avLst/>
          </a:prstGeom>
          <a:ln w="12700">
            <a:miter lim="400000"/>
          </a:ln>
        </p:spPr>
      </p:pic>
      <p:grpSp>
        <p:nvGrpSpPr>
          <p:cNvPr id="173" name="Group 22"/>
          <p:cNvGrpSpPr/>
          <p:nvPr/>
        </p:nvGrpSpPr>
        <p:grpSpPr>
          <a:xfrm>
            <a:off x="11561203" y="497909"/>
            <a:ext cx="307341" cy="5495926"/>
            <a:chOff x="0" y="0"/>
            <a:chExt cx="307340" cy="5495925"/>
          </a:xfrm>
        </p:grpSpPr>
        <p:sp>
          <p:nvSpPr>
            <p:cNvPr id="171" name="Straight Arrow Connector 20"/>
            <p:cNvSpPr/>
            <p:nvPr/>
          </p:nvSpPr>
          <p:spPr>
            <a:xfrm flipV="1">
              <a:off x="31712" y="0"/>
              <a:ext cx="1589" cy="5495926"/>
            </a:xfrm>
            <a:prstGeom prst="line">
              <a:avLst/>
            </a:prstGeom>
            <a:noFill/>
            <a:ln w="19050" cap="flat">
              <a:solidFill>
                <a:srgbClr val="FF0000"/>
              </a:solidFill>
              <a:prstDash val="solid"/>
              <a:round/>
              <a:headEnd type="triangle" w="med" len="med"/>
              <a:tailEnd type="triangle" w="med" len="med"/>
            </a:ln>
            <a:effectLst/>
          </p:spPr>
          <p:txBody>
            <a:bodyPr wrap="square" lIns="45719" tIns="45719" rIns="45719" bIns="45719" numCol="1" anchor="t">
              <a:noAutofit/>
            </a:bodyPr>
            <a:lstStyle/>
            <a:p>
              <a:endParaRPr/>
            </a:p>
          </p:txBody>
        </p:sp>
        <p:sp>
          <p:nvSpPr>
            <p:cNvPr id="172" name="TextBox 21"/>
            <p:cNvSpPr txBox="1"/>
            <p:nvPr/>
          </p:nvSpPr>
          <p:spPr>
            <a:xfrm rot="5400000">
              <a:off x="-314685" y="2493515"/>
              <a:ext cx="936710" cy="30734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tIns="45719" rIns="45719" bIns="45719" numCol="1" anchor="t">
              <a:spAutoFit/>
            </a:bodyPr>
            <a:lstStyle>
              <a:lvl1pPr>
                <a:spcBef>
                  <a:spcPts val="300"/>
                </a:spcBef>
                <a:defRPr sz="1400">
                  <a:solidFill>
                    <a:srgbClr val="FF0000"/>
                  </a:solidFill>
                  <a:latin typeface="Tahoma"/>
                  <a:ea typeface="Tahoma"/>
                  <a:cs typeface="Tahoma"/>
                  <a:sym typeface="Tahoma"/>
                </a:defRPr>
              </a:lvl1pPr>
            </a:lstStyle>
            <a:p>
              <a:r>
                <a:t>25,400 km</a:t>
              </a:r>
            </a:p>
          </p:txBody>
        </p:sp>
      </p:grpSp>
    </p:spTree>
    <p:extLst>
      <p:ext uri="{BB962C8B-B14F-4D97-AF65-F5344CB8AC3E}">
        <p14:creationId xmlns:p14="http://schemas.microsoft.com/office/powerpoint/2010/main" val="226074544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155">
                                            <p:bg/>
                                          </p:spTgt>
                                        </p:tgtEl>
                                        <p:attrNameLst>
                                          <p:attrName>style.visibility</p:attrName>
                                        </p:attrNameLst>
                                      </p:cBhvr>
                                      <p:to>
                                        <p:strVal val="visible"/>
                                      </p:to>
                                    </p:set>
                                  </p:childTnLst>
                                </p:cTn>
                              </p:par>
                              <p:par>
                                <p:cTn id="7" presetID="1" presetClass="entr" presetSubtype="0" fill="hold" grpId="0" nodeType="withEffect">
                                  <p:stCondLst>
                                    <p:cond delay="0"/>
                                  </p:stCondLst>
                                  <p:iterate>
                                    <p:tmAbs val="0"/>
                                  </p:iterate>
                                  <p:childTnLst>
                                    <p:set>
                                      <p:cBhvr>
                                        <p:cTn id="8" fill="hold"/>
                                        <p:tgtEl>
                                          <p:spTgt spid="155">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iterate>
                                    <p:tmAbs val="0"/>
                                  </p:iterate>
                                  <p:childTnLst>
                                    <p:set>
                                      <p:cBhvr>
                                        <p:cTn id="10" fill="hold"/>
                                        <p:tgtEl>
                                          <p:spTgt spid="155">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iterate>
                                    <p:tmAbs val="0"/>
                                  </p:iterate>
                                  <p:childTnLst>
                                    <p:set>
                                      <p:cBhvr>
                                        <p:cTn id="12" fill="hold"/>
                                        <p:tgtEl>
                                          <p:spTgt spid="155">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iterate>
                                    <p:tmAbs val="0"/>
                                  </p:iterate>
                                  <p:childTnLst>
                                    <p:set>
                                      <p:cBhvr>
                                        <p:cTn id="14" fill="hold"/>
                                        <p:tgtEl>
                                          <p:spTgt spid="155">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iterate>
                                    <p:tmAbs val="0"/>
                                  </p:iterate>
                                  <p:childTnLst>
                                    <p:set>
                                      <p:cBhvr>
                                        <p:cTn id="16" fill="hold"/>
                                        <p:tgtEl>
                                          <p:spTgt spid="155">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iterate>
                                    <p:tmAbs val="0"/>
                                  </p:iterate>
                                  <p:childTnLst>
                                    <p:set>
                                      <p:cBhvr>
                                        <p:cTn id="18" fill="hold"/>
                                        <p:tgtEl>
                                          <p:spTgt spid="155">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iterate>
                                    <p:tmAbs val="0"/>
                                  </p:iterate>
                                  <p:childTnLst>
                                    <p:set>
                                      <p:cBhvr>
                                        <p:cTn id="20" fill="hold"/>
                                        <p:tgtEl>
                                          <p:spTgt spid="155">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iterate>
                                    <p:tmAbs val="0"/>
                                  </p:iterate>
                                  <p:childTnLst>
                                    <p:set>
                                      <p:cBhvr>
                                        <p:cTn id="22" fill="hold"/>
                                        <p:tgtEl>
                                          <p:spTgt spid="155">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iterate>
                                    <p:tmAbs val="0"/>
                                  </p:iterate>
                                  <p:childTnLst>
                                    <p:set>
                                      <p:cBhvr>
                                        <p:cTn id="26" fill="hold"/>
                                        <p:tgtEl>
                                          <p:spTgt spid="155">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iterate>
                                    <p:tmAbs val="0"/>
                                  </p:iterate>
                                  <p:childTnLst>
                                    <p:set>
                                      <p:cBhvr>
                                        <p:cTn id="28" fill="hold"/>
                                        <p:tgtEl>
                                          <p:spTgt spid="155">
                                            <p:txEl>
                                              <p:pRg st="9" end="9"/>
                                            </p:txEl>
                                          </p:spTgt>
                                        </p:tgtEl>
                                        <p:attrNameLst>
                                          <p:attrName>style.visibility</p:attrName>
                                        </p:attrNameLst>
                                      </p:cBhvr>
                                      <p:to>
                                        <p:strVal val="visible"/>
                                      </p:to>
                                    </p:set>
                                  </p:childTnLst>
                                </p:cTn>
                              </p:par>
                              <p:par>
                                <p:cTn id="29" presetID="1" presetClass="entr" presetSubtype="0" fill="hold" grpId="0" nodeType="withEffect">
                                  <p:stCondLst>
                                    <p:cond delay="0"/>
                                  </p:stCondLst>
                                  <p:iterate>
                                    <p:tmAbs val="0"/>
                                  </p:iterate>
                                  <p:childTnLst>
                                    <p:set>
                                      <p:cBhvr>
                                        <p:cTn id="30" fill="hold"/>
                                        <p:tgtEl>
                                          <p:spTgt spid="155">
                                            <p:txEl>
                                              <p:pRg st="10" end="10"/>
                                            </p:txEl>
                                          </p:spTgt>
                                        </p:tgtEl>
                                        <p:attrNameLst>
                                          <p:attrName>style.visibility</p:attrName>
                                        </p:attrNameLst>
                                      </p:cBhvr>
                                      <p:to>
                                        <p:strVal val="visible"/>
                                      </p:to>
                                    </p:set>
                                  </p:childTnLst>
                                </p:cTn>
                              </p:par>
                            </p:childTnLst>
                          </p:cTn>
                        </p:par>
                        <p:par>
                          <p:cTn id="31" fill="hold">
                            <p:stCondLst>
                              <p:cond delay="0"/>
                            </p:stCondLst>
                            <p:childTnLst>
                              <p:par>
                                <p:cTn id="32" presetID="1" presetClass="entr" presetSubtype="0" fill="hold" grpId="0" nodeType="afterEffect">
                                  <p:stCondLst>
                                    <p:cond delay="0"/>
                                  </p:stCondLst>
                                  <p:iterate>
                                    <p:tmAbs val="0"/>
                                  </p:iterate>
                                  <p:childTnLst>
                                    <p:set>
                                      <p:cBhvr>
                                        <p:cTn id="33" fill="hold"/>
                                        <p:tgtEl>
                                          <p:spTgt spid="157"/>
                                        </p:tgtEl>
                                        <p:attrNameLst>
                                          <p:attrName>style.visibility</p:attrName>
                                        </p:attrNameLst>
                                      </p:cBhvr>
                                      <p:to>
                                        <p:strVal val="visible"/>
                                      </p:to>
                                    </p:set>
                                  </p:childTnLst>
                                </p:cTn>
                              </p:par>
                            </p:childTnLst>
                          </p:cTn>
                        </p:par>
                        <p:par>
                          <p:cTn id="34" fill="hold">
                            <p:stCondLst>
                              <p:cond delay="0"/>
                            </p:stCondLst>
                            <p:childTnLst>
                              <p:par>
                                <p:cTn id="35" presetID="1" presetClass="entr" presetSubtype="0" fill="hold" grpId="0" nodeType="afterEffect">
                                  <p:stCondLst>
                                    <p:cond delay="300"/>
                                  </p:stCondLst>
                                  <p:iterate>
                                    <p:tmAbs val="0"/>
                                  </p:iterate>
                                  <p:childTnLst>
                                    <p:set>
                                      <p:cBhvr>
                                        <p:cTn id="36" fill="hold"/>
                                        <p:tgtEl>
                                          <p:spTgt spid="158"/>
                                        </p:tgtEl>
                                        <p:attrNameLst>
                                          <p:attrName>style.visibility</p:attrName>
                                        </p:attrNameLst>
                                      </p:cBhvr>
                                      <p:to>
                                        <p:strVal val="visible"/>
                                      </p:to>
                                    </p:set>
                                  </p:childTnLst>
                                </p:cTn>
                              </p:par>
                            </p:childTnLst>
                          </p:cTn>
                        </p:par>
                        <p:par>
                          <p:cTn id="37" fill="hold">
                            <p:stCondLst>
                              <p:cond delay="300"/>
                            </p:stCondLst>
                            <p:childTnLst>
                              <p:par>
                                <p:cTn id="38" presetID="1" presetClass="entr" presetSubtype="0" fill="hold" grpId="0" nodeType="afterEffect">
                                  <p:stCondLst>
                                    <p:cond delay="300"/>
                                  </p:stCondLst>
                                  <p:iterate>
                                    <p:tmAbs val="0"/>
                                  </p:iterate>
                                  <p:childTnLst>
                                    <p:set>
                                      <p:cBhvr>
                                        <p:cTn id="39" fill="hold"/>
                                        <p:tgtEl>
                                          <p:spTgt spid="159"/>
                                        </p:tgtEl>
                                        <p:attrNameLst>
                                          <p:attrName>style.visibility</p:attrName>
                                        </p:attrNameLst>
                                      </p:cBhvr>
                                      <p:to>
                                        <p:strVal val="visible"/>
                                      </p:to>
                                    </p:set>
                                  </p:childTnLst>
                                </p:cTn>
                              </p:par>
                            </p:childTnLst>
                          </p:cTn>
                        </p:par>
                        <p:par>
                          <p:cTn id="40" fill="hold">
                            <p:stCondLst>
                              <p:cond delay="600"/>
                            </p:stCondLst>
                            <p:childTnLst>
                              <p:par>
                                <p:cTn id="41" presetID="1" presetClass="entr" presetSubtype="0" fill="hold" grpId="0" nodeType="afterEffect">
                                  <p:stCondLst>
                                    <p:cond delay="300"/>
                                  </p:stCondLst>
                                  <p:iterate>
                                    <p:tmAbs val="0"/>
                                  </p:iterate>
                                  <p:childTnLst>
                                    <p:set>
                                      <p:cBhvr>
                                        <p:cTn id="42" fill="hold"/>
                                        <p:tgtEl>
                                          <p:spTgt spid="160"/>
                                        </p:tgtEl>
                                        <p:attrNameLst>
                                          <p:attrName>style.visibility</p:attrName>
                                        </p:attrNameLst>
                                      </p:cBhvr>
                                      <p:to>
                                        <p:strVal val="visible"/>
                                      </p:to>
                                    </p:set>
                                  </p:childTnLst>
                                </p:cTn>
                              </p:par>
                            </p:childTnLst>
                          </p:cTn>
                        </p:par>
                        <p:par>
                          <p:cTn id="43" fill="hold">
                            <p:stCondLst>
                              <p:cond delay="900"/>
                            </p:stCondLst>
                            <p:childTnLst>
                              <p:par>
                                <p:cTn id="44" presetID="1" presetClass="entr" presetSubtype="0" fill="hold" grpId="0" nodeType="afterEffect">
                                  <p:stCondLst>
                                    <p:cond delay="300"/>
                                  </p:stCondLst>
                                  <p:iterate>
                                    <p:tmAbs val="0"/>
                                  </p:iterate>
                                  <p:childTnLst>
                                    <p:set>
                                      <p:cBhvr>
                                        <p:cTn id="45" fill="hold"/>
                                        <p:tgtEl>
                                          <p:spTgt spid="161"/>
                                        </p:tgtEl>
                                        <p:attrNameLst>
                                          <p:attrName>style.visibility</p:attrName>
                                        </p:attrNameLst>
                                      </p:cBhvr>
                                      <p:to>
                                        <p:strVal val="visible"/>
                                      </p:to>
                                    </p:set>
                                  </p:childTnLst>
                                </p:cTn>
                              </p:par>
                            </p:childTnLst>
                          </p:cTn>
                        </p:par>
                        <p:par>
                          <p:cTn id="46" fill="hold">
                            <p:stCondLst>
                              <p:cond delay="1200"/>
                            </p:stCondLst>
                            <p:childTnLst>
                              <p:par>
                                <p:cTn id="47" presetID="1" presetClass="entr" presetSubtype="0" fill="hold" grpId="0" nodeType="afterEffect">
                                  <p:stCondLst>
                                    <p:cond delay="300"/>
                                  </p:stCondLst>
                                  <p:iterate>
                                    <p:tmAbs val="0"/>
                                  </p:iterate>
                                  <p:childTnLst>
                                    <p:set>
                                      <p:cBhvr>
                                        <p:cTn id="48" fill="hold"/>
                                        <p:tgtEl>
                                          <p:spTgt spid="162"/>
                                        </p:tgtEl>
                                        <p:attrNameLst>
                                          <p:attrName>style.visibility</p:attrName>
                                        </p:attrNameLst>
                                      </p:cBhvr>
                                      <p:to>
                                        <p:strVal val="visible"/>
                                      </p:to>
                                    </p:set>
                                  </p:childTnLst>
                                </p:cTn>
                              </p:par>
                            </p:childTnLst>
                          </p:cTn>
                        </p:par>
                        <p:par>
                          <p:cTn id="49" fill="hold">
                            <p:stCondLst>
                              <p:cond delay="1500"/>
                            </p:stCondLst>
                            <p:childTnLst>
                              <p:par>
                                <p:cTn id="50" presetID="1" presetClass="entr" presetSubtype="0" fill="hold" grpId="0" nodeType="afterEffect">
                                  <p:stCondLst>
                                    <p:cond delay="300"/>
                                  </p:stCondLst>
                                  <p:iterate>
                                    <p:tmAbs val="0"/>
                                  </p:iterate>
                                  <p:childTnLst>
                                    <p:set>
                                      <p:cBhvr>
                                        <p:cTn id="51" fill="hold"/>
                                        <p:tgtEl>
                                          <p:spTgt spid="163"/>
                                        </p:tgtEl>
                                        <p:attrNameLst>
                                          <p:attrName>style.visibility</p:attrName>
                                        </p:attrNameLst>
                                      </p:cBhvr>
                                      <p:to>
                                        <p:strVal val="visible"/>
                                      </p:to>
                                    </p:set>
                                  </p:childTnLst>
                                </p:cTn>
                              </p:par>
                            </p:childTnLst>
                          </p:cTn>
                        </p:par>
                        <p:par>
                          <p:cTn id="52" fill="hold">
                            <p:stCondLst>
                              <p:cond delay="1800"/>
                            </p:stCondLst>
                            <p:childTnLst>
                              <p:par>
                                <p:cTn id="53" presetID="1" presetClass="entr" presetSubtype="0" fill="hold" grpId="0" nodeType="afterEffect">
                                  <p:stCondLst>
                                    <p:cond delay="300"/>
                                  </p:stCondLst>
                                  <p:iterate>
                                    <p:tmAbs val="0"/>
                                  </p:iterate>
                                  <p:childTnLst>
                                    <p:set>
                                      <p:cBhvr>
                                        <p:cTn id="54" fill="hold"/>
                                        <p:tgtEl>
                                          <p:spTgt spid="164"/>
                                        </p:tgtEl>
                                        <p:attrNameLst>
                                          <p:attrName>style.visibility</p:attrName>
                                        </p:attrNameLst>
                                      </p:cBhvr>
                                      <p:to>
                                        <p:strVal val="visible"/>
                                      </p:to>
                                    </p:set>
                                  </p:childTnLst>
                                </p:cTn>
                              </p:par>
                            </p:childTnLst>
                          </p:cTn>
                        </p:par>
                        <p:par>
                          <p:cTn id="55" fill="hold">
                            <p:stCondLst>
                              <p:cond delay="2100"/>
                            </p:stCondLst>
                            <p:childTnLst>
                              <p:par>
                                <p:cTn id="56" presetID="1" presetClass="entr" presetSubtype="0" fill="hold" grpId="0" nodeType="afterEffect">
                                  <p:stCondLst>
                                    <p:cond delay="300"/>
                                  </p:stCondLst>
                                  <p:iterate>
                                    <p:tmAbs val="0"/>
                                  </p:iterate>
                                  <p:childTnLst>
                                    <p:set>
                                      <p:cBhvr>
                                        <p:cTn id="57" fill="hold"/>
                                        <p:tgtEl>
                                          <p:spTgt spid="165"/>
                                        </p:tgtEl>
                                        <p:attrNameLst>
                                          <p:attrName>style.visibility</p:attrName>
                                        </p:attrNameLst>
                                      </p:cBhvr>
                                      <p:to>
                                        <p:strVal val="visible"/>
                                      </p:to>
                                    </p:set>
                                  </p:childTnLst>
                                </p:cTn>
                              </p:par>
                            </p:childTnLst>
                          </p:cTn>
                        </p:par>
                        <p:par>
                          <p:cTn id="58" fill="hold">
                            <p:stCondLst>
                              <p:cond delay="2400"/>
                            </p:stCondLst>
                            <p:childTnLst>
                              <p:par>
                                <p:cTn id="59" presetID="1" presetClass="entr" presetSubtype="0" fill="hold" grpId="0" nodeType="afterEffect">
                                  <p:stCondLst>
                                    <p:cond delay="300"/>
                                  </p:stCondLst>
                                  <p:iterate>
                                    <p:tmAbs val="0"/>
                                  </p:iterate>
                                  <p:childTnLst>
                                    <p:set>
                                      <p:cBhvr>
                                        <p:cTn id="60" fill="hold"/>
                                        <p:tgtEl>
                                          <p:spTgt spid="166"/>
                                        </p:tgtEl>
                                        <p:attrNameLst>
                                          <p:attrName>style.visibility</p:attrName>
                                        </p:attrNameLst>
                                      </p:cBhvr>
                                      <p:to>
                                        <p:strVal val="visible"/>
                                      </p:to>
                                    </p:set>
                                  </p:childTnLst>
                                </p:cTn>
                              </p:par>
                            </p:childTnLst>
                          </p:cTn>
                        </p:par>
                        <p:par>
                          <p:cTn id="61" fill="hold">
                            <p:stCondLst>
                              <p:cond delay="2700"/>
                            </p:stCondLst>
                            <p:childTnLst>
                              <p:par>
                                <p:cTn id="62" presetID="1" presetClass="entr" presetSubtype="0" fill="hold" grpId="0" nodeType="afterEffect">
                                  <p:stCondLst>
                                    <p:cond delay="300"/>
                                  </p:stCondLst>
                                  <p:iterate>
                                    <p:tmAbs val="0"/>
                                  </p:iterate>
                                  <p:childTnLst>
                                    <p:set>
                                      <p:cBhvr>
                                        <p:cTn id="63" fill="hold"/>
                                        <p:tgtEl>
                                          <p:spTgt spid="167"/>
                                        </p:tgtEl>
                                        <p:attrNameLst>
                                          <p:attrName>style.visibility</p:attrName>
                                        </p:attrNameLst>
                                      </p:cBhvr>
                                      <p:to>
                                        <p:strVal val="visible"/>
                                      </p:to>
                                    </p:set>
                                  </p:childTnLst>
                                </p:cTn>
                              </p:par>
                            </p:childTnLst>
                          </p:cTn>
                        </p:par>
                        <p:par>
                          <p:cTn id="64" fill="hold">
                            <p:stCondLst>
                              <p:cond delay="3000"/>
                            </p:stCondLst>
                            <p:childTnLst>
                              <p:par>
                                <p:cTn id="65" presetID="1" presetClass="entr" presetSubtype="0" fill="hold" grpId="0" nodeType="afterEffect">
                                  <p:stCondLst>
                                    <p:cond delay="300"/>
                                  </p:stCondLst>
                                  <p:iterate>
                                    <p:tmAbs val="0"/>
                                  </p:iterate>
                                  <p:childTnLst>
                                    <p:set>
                                      <p:cBhvr>
                                        <p:cTn id="66" fill="hold"/>
                                        <p:tgtEl>
                                          <p:spTgt spid="168"/>
                                        </p:tgtEl>
                                        <p:attrNameLst>
                                          <p:attrName>style.visibility</p:attrName>
                                        </p:attrNameLst>
                                      </p:cBhvr>
                                      <p:to>
                                        <p:strVal val="visible"/>
                                      </p:to>
                                    </p:set>
                                  </p:childTnLst>
                                </p:cTn>
                              </p:par>
                            </p:childTnLst>
                          </p:cTn>
                        </p:par>
                        <p:par>
                          <p:cTn id="67" fill="hold">
                            <p:stCondLst>
                              <p:cond delay="3300"/>
                            </p:stCondLst>
                            <p:childTnLst>
                              <p:par>
                                <p:cTn id="68" presetID="1" presetClass="entr" presetSubtype="0" fill="hold" grpId="0" nodeType="afterEffect">
                                  <p:stCondLst>
                                    <p:cond delay="300"/>
                                  </p:stCondLst>
                                  <p:iterate>
                                    <p:tmAbs val="0"/>
                                  </p:iterate>
                                  <p:childTnLst>
                                    <p:set>
                                      <p:cBhvr>
                                        <p:cTn id="69" fill="hold"/>
                                        <p:tgtEl>
                                          <p:spTgt spid="169"/>
                                        </p:tgtEl>
                                        <p:attrNameLst>
                                          <p:attrName>style.visibility</p:attrName>
                                        </p:attrNameLst>
                                      </p:cBhvr>
                                      <p:to>
                                        <p:strVal val="visible"/>
                                      </p:to>
                                    </p:set>
                                  </p:childTnLst>
                                </p:cTn>
                              </p:par>
                            </p:childTnLst>
                          </p:cTn>
                        </p:par>
                        <p:par>
                          <p:cTn id="70" fill="hold">
                            <p:stCondLst>
                              <p:cond delay="3600"/>
                            </p:stCondLst>
                            <p:childTnLst>
                              <p:par>
                                <p:cTn id="71" presetID="1" presetClass="entr" presetSubtype="0" fill="hold" grpId="0" nodeType="afterEffect">
                                  <p:stCondLst>
                                    <p:cond delay="300"/>
                                  </p:stCondLst>
                                  <p:iterate>
                                    <p:tmAbs val="0"/>
                                  </p:iterate>
                                  <p:childTnLst>
                                    <p:set>
                                      <p:cBhvr>
                                        <p:cTn id="72" fill="hold"/>
                                        <p:tgtEl>
                                          <p:spTgt spid="170"/>
                                        </p:tgtEl>
                                        <p:attrNameLst>
                                          <p:attrName>style.visibility</p:attrName>
                                        </p:attrNameLst>
                                      </p:cBhvr>
                                      <p:to>
                                        <p:strVal val="visible"/>
                                      </p:to>
                                    </p:set>
                                  </p:childTnLst>
                                </p:cTn>
                              </p:par>
                            </p:childTnLst>
                          </p:cTn>
                        </p:par>
                        <p:par>
                          <p:cTn id="73" fill="hold">
                            <p:stCondLst>
                              <p:cond delay="3900"/>
                            </p:stCondLst>
                            <p:childTnLst>
                              <p:par>
                                <p:cTn id="74" presetID="22" presetClass="entr" presetSubtype="1" fill="hold" grpId="0" nodeType="afterEffect">
                                  <p:stCondLst>
                                    <p:cond delay="300"/>
                                  </p:stCondLst>
                                  <p:iterate>
                                    <p:tmAbs val="0"/>
                                  </p:iterate>
                                  <p:childTnLst>
                                    <p:set>
                                      <p:cBhvr>
                                        <p:cTn id="75" fill="hold"/>
                                        <p:tgtEl>
                                          <p:spTgt spid="173"/>
                                        </p:tgtEl>
                                        <p:attrNameLst>
                                          <p:attrName>style.visibility</p:attrName>
                                        </p:attrNameLst>
                                      </p:cBhvr>
                                      <p:to>
                                        <p:strVal val="visible"/>
                                      </p:to>
                                    </p:set>
                                    <p:animEffect transition="in" filter="wipe(up)">
                                      <p:cBhvr>
                                        <p:cTn id="76" dur="500"/>
                                        <p:tgtEl>
                                          <p:spTgt spid="1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5" grpId="0" build="p" animBg="1" advAuto="0"/>
      <p:bldP spid="157" grpId="0" animBg="1" advAuto="0"/>
      <p:bldP spid="158" grpId="0" animBg="1" advAuto="0"/>
      <p:bldP spid="159" grpId="0" animBg="1" advAuto="0"/>
      <p:bldP spid="160" grpId="0" animBg="1" advAuto="0"/>
      <p:bldP spid="161" grpId="0" animBg="1" advAuto="0"/>
      <p:bldP spid="162" grpId="0" animBg="1" advAuto="0"/>
      <p:bldP spid="163" grpId="0" animBg="1" advAuto="0"/>
      <p:bldP spid="164" grpId="0" animBg="1" advAuto="0"/>
      <p:bldP spid="165" grpId="0" animBg="1" advAuto="0"/>
      <p:bldP spid="166" grpId="0" animBg="1" advAuto="0"/>
      <p:bldP spid="167" grpId="0" animBg="1" advAuto="0"/>
      <p:bldP spid="168" grpId="0" animBg="1" advAuto="0"/>
      <p:bldP spid="169" grpId="0" animBg="1" advAuto="0"/>
      <p:bldP spid="170" grpId="0" animBg="1" advAuto="0"/>
      <p:bldP spid="173" grpId="0" animBg="1" advAuto="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 name="Title 1"/>
          <p:cNvSpPr txBox="1">
            <a:spLocks noGrp="1"/>
          </p:cNvSpPr>
          <p:nvPr>
            <p:ph type="title"/>
          </p:nvPr>
        </p:nvSpPr>
        <p:spPr>
          <a:xfrm>
            <a:off x="838200" y="365125"/>
            <a:ext cx="10515600" cy="1325563"/>
          </a:xfrm>
          <a:prstGeom prst="rect">
            <a:avLst/>
          </a:prstGeom>
        </p:spPr>
        <p:txBody>
          <a:bodyPr/>
          <a:lstStyle/>
          <a:p>
            <a:r>
              <a:t>How much computation?</a:t>
            </a:r>
          </a:p>
        </p:txBody>
      </p:sp>
      <p:sp>
        <p:nvSpPr>
          <p:cNvPr id="176" name="Content Placeholder 2"/>
          <p:cNvSpPr txBox="1">
            <a:spLocks noGrp="1"/>
          </p:cNvSpPr>
          <p:nvPr>
            <p:ph type="body" idx="1"/>
          </p:nvPr>
        </p:nvSpPr>
        <p:spPr>
          <a:xfrm>
            <a:off x="904031" y="1533525"/>
            <a:ext cx="9459170" cy="4733926"/>
          </a:xfrm>
          <a:prstGeom prst="rect">
            <a:avLst/>
          </a:prstGeom>
        </p:spPr>
        <p:txBody>
          <a:bodyPr/>
          <a:lstStyle/>
          <a:p>
            <a:pPr>
              <a:lnSpc>
                <a:spcPct val="81000"/>
              </a:lnSpc>
            </a:pPr>
            <a:r>
              <a:rPr dirty="0"/>
              <a:t>No single computer can process that much data</a:t>
            </a:r>
          </a:p>
          <a:p>
            <a:pPr marL="685800" lvl="1" indent="-228600">
              <a:lnSpc>
                <a:spcPct val="81000"/>
              </a:lnSpc>
              <a:spcBef>
                <a:spcPts val="500"/>
              </a:spcBef>
              <a:defRPr sz="2400"/>
            </a:pPr>
            <a:r>
              <a:rPr dirty="0"/>
              <a:t>Need many computers!</a:t>
            </a:r>
          </a:p>
          <a:p>
            <a:pPr>
              <a:lnSpc>
                <a:spcPct val="81000"/>
              </a:lnSpc>
            </a:pPr>
            <a:r>
              <a:rPr dirty="0"/>
              <a:t>How many computers do</a:t>
            </a:r>
            <a:r>
              <a:rPr lang="en-US" dirty="0"/>
              <a:t> </a:t>
            </a:r>
            <a:r>
              <a:rPr dirty="0"/>
              <a:t>modern services need?</a:t>
            </a:r>
          </a:p>
          <a:p>
            <a:pPr marL="685800" lvl="1" indent="-228600">
              <a:lnSpc>
                <a:spcPct val="81000"/>
              </a:lnSpc>
              <a:spcBef>
                <a:spcPts val="500"/>
              </a:spcBef>
              <a:defRPr sz="2400"/>
            </a:pPr>
            <a:r>
              <a:rPr dirty="0"/>
              <a:t>Facebook is thought to have more than 60,000 servers</a:t>
            </a:r>
          </a:p>
          <a:p>
            <a:pPr marL="685800" lvl="1" indent="-228600">
              <a:lnSpc>
                <a:spcPct val="81000"/>
              </a:lnSpc>
              <a:spcBef>
                <a:spcPts val="500"/>
              </a:spcBef>
              <a:defRPr sz="2400"/>
            </a:pPr>
            <a:r>
              <a:rPr dirty="0"/>
              <a:t>1&amp;1 Internet has over 70,000 servers</a:t>
            </a:r>
          </a:p>
          <a:p>
            <a:pPr marL="685800" lvl="1" indent="-228600">
              <a:lnSpc>
                <a:spcPct val="81000"/>
              </a:lnSpc>
              <a:spcBef>
                <a:spcPts val="500"/>
              </a:spcBef>
              <a:defRPr sz="2400"/>
            </a:pPr>
            <a:r>
              <a:rPr dirty="0"/>
              <a:t>Akamai has 95,000 servers in 71 countries</a:t>
            </a:r>
          </a:p>
          <a:p>
            <a:pPr marL="685800" lvl="1" indent="-228600">
              <a:lnSpc>
                <a:spcPct val="81000"/>
              </a:lnSpc>
              <a:spcBef>
                <a:spcPts val="500"/>
              </a:spcBef>
              <a:defRPr sz="2400"/>
            </a:pPr>
            <a:r>
              <a:rPr dirty="0"/>
              <a:t>Intel has ~100,000 servers in 97 data centers</a:t>
            </a:r>
          </a:p>
          <a:p>
            <a:pPr marL="685800" lvl="1" indent="-228600">
              <a:lnSpc>
                <a:spcPct val="81000"/>
              </a:lnSpc>
              <a:spcBef>
                <a:spcPts val="500"/>
              </a:spcBef>
              <a:defRPr sz="2400"/>
            </a:pPr>
            <a:r>
              <a:rPr dirty="0"/>
              <a:t>Microsoft reportedly had at least 200,000 servers in 2008 </a:t>
            </a:r>
          </a:p>
          <a:p>
            <a:pPr marL="685800" lvl="1" indent="-228600">
              <a:lnSpc>
                <a:spcPct val="81000"/>
              </a:lnSpc>
              <a:spcBef>
                <a:spcPts val="500"/>
              </a:spcBef>
              <a:defRPr sz="2400"/>
            </a:pPr>
            <a:r>
              <a:rPr dirty="0"/>
              <a:t>Google is thought to have more than 1 million servers, is planning for 10 million</a:t>
            </a:r>
          </a:p>
        </p:txBody>
      </p:sp>
      <p:sp>
        <p:nvSpPr>
          <p:cNvPr id="177" name="Slide Number Placeholder 3"/>
          <p:cNvSpPr txBox="1">
            <a:spLocks noGrp="1"/>
          </p:cNvSpPr>
          <p:nvPr>
            <p:ph type="sldNum" sz="quarter" idx="4294967295"/>
          </p:nvPr>
        </p:nvSpPr>
        <p:spPr>
          <a:xfrm>
            <a:off x="11166465" y="6404292"/>
            <a:ext cx="187336" cy="269241"/>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7</a:t>
            </a:fld>
            <a:endParaRPr/>
          </a:p>
        </p:txBody>
      </p:sp>
      <p:pic>
        <p:nvPicPr>
          <p:cNvPr id="178" name="Picture 22" descr="Picture 22"/>
          <p:cNvPicPr>
            <a:picLocks noChangeAspect="1"/>
          </p:cNvPicPr>
          <p:nvPr/>
        </p:nvPicPr>
        <p:blipFill>
          <a:blip r:embed="rId2">
            <a:extLst/>
          </a:blip>
          <a:stretch>
            <a:fillRect/>
          </a:stretch>
        </p:blipFill>
        <p:spPr>
          <a:xfrm>
            <a:off x="8696107" y="418307"/>
            <a:ext cx="2905126" cy="1891422"/>
          </a:xfrm>
          <a:prstGeom prst="rect">
            <a:avLst/>
          </a:prstGeom>
          <a:ln w="12700">
            <a:miter lim="400000"/>
          </a:ln>
        </p:spPr>
      </p:pic>
    </p:spTree>
    <p:extLst>
      <p:ext uri="{BB962C8B-B14F-4D97-AF65-F5344CB8AC3E}">
        <p14:creationId xmlns:p14="http://schemas.microsoft.com/office/powerpoint/2010/main" val="230610904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176">
                                            <p:txEl>
                                              <p:pRg st="3" end="3"/>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iterate>
                                    <p:tmAbs val="0"/>
                                  </p:iterate>
                                  <p:childTnLst>
                                    <p:set>
                                      <p:cBhvr>
                                        <p:cTn id="9" fill="hold"/>
                                        <p:tgtEl>
                                          <p:spTgt spid="176">
                                            <p:txEl>
                                              <p:pRg st="4" end="4"/>
                                            </p:txEl>
                                          </p:spTgt>
                                        </p:tgtEl>
                                        <p:attrNameLst>
                                          <p:attrName>style.visibility</p:attrName>
                                        </p:attrNameLst>
                                      </p:cBhvr>
                                      <p:to>
                                        <p:strVal val="visible"/>
                                      </p:to>
                                    </p:set>
                                  </p:childTnLst>
                                </p:cTn>
                              </p:par>
                            </p:childTnLst>
                          </p:cTn>
                        </p:par>
                        <p:par>
                          <p:cTn id="10" fill="hold">
                            <p:stCondLst>
                              <p:cond delay="0"/>
                            </p:stCondLst>
                            <p:childTnLst>
                              <p:par>
                                <p:cTn id="11" presetID="1" presetClass="entr" presetSubtype="0" fill="hold" grpId="0" nodeType="afterEffect">
                                  <p:stCondLst>
                                    <p:cond delay="0"/>
                                  </p:stCondLst>
                                  <p:iterate>
                                    <p:tmAbs val="0"/>
                                  </p:iterate>
                                  <p:childTnLst>
                                    <p:set>
                                      <p:cBhvr>
                                        <p:cTn id="12" fill="hold"/>
                                        <p:tgtEl>
                                          <p:spTgt spid="176">
                                            <p:txEl>
                                              <p:pRg st="5" end="5"/>
                                            </p:txEl>
                                          </p:spTgt>
                                        </p:tgtEl>
                                        <p:attrNameLst>
                                          <p:attrName>style.visibility</p:attrName>
                                        </p:attrNameLst>
                                      </p:cBhvr>
                                      <p:to>
                                        <p:strVal val="visible"/>
                                      </p:to>
                                    </p:set>
                                  </p:childTnLst>
                                </p:cTn>
                              </p:par>
                            </p:childTnLst>
                          </p:cTn>
                        </p:par>
                        <p:par>
                          <p:cTn id="13" fill="hold">
                            <p:stCondLst>
                              <p:cond delay="0"/>
                            </p:stCondLst>
                            <p:childTnLst>
                              <p:par>
                                <p:cTn id="14" presetID="1" presetClass="entr" presetSubtype="0" fill="hold" grpId="0" nodeType="afterEffect">
                                  <p:stCondLst>
                                    <p:cond delay="0"/>
                                  </p:stCondLst>
                                  <p:iterate>
                                    <p:tmAbs val="0"/>
                                  </p:iterate>
                                  <p:childTnLst>
                                    <p:set>
                                      <p:cBhvr>
                                        <p:cTn id="15" fill="hold"/>
                                        <p:tgtEl>
                                          <p:spTgt spid="176">
                                            <p:txEl>
                                              <p:pRg st="6" end="6"/>
                                            </p:txEl>
                                          </p:spTgt>
                                        </p:tgtEl>
                                        <p:attrNameLst>
                                          <p:attrName>style.visibility</p:attrName>
                                        </p:attrNameLst>
                                      </p:cBhvr>
                                      <p:to>
                                        <p:strVal val="visible"/>
                                      </p:to>
                                    </p:set>
                                  </p:childTnLst>
                                </p:cTn>
                              </p:par>
                            </p:childTnLst>
                          </p:cTn>
                        </p:par>
                        <p:par>
                          <p:cTn id="16" fill="hold">
                            <p:stCondLst>
                              <p:cond delay="0"/>
                            </p:stCondLst>
                            <p:childTnLst>
                              <p:par>
                                <p:cTn id="17" presetID="1" presetClass="entr" presetSubtype="0" fill="hold" grpId="0" nodeType="afterEffect">
                                  <p:stCondLst>
                                    <p:cond delay="0"/>
                                  </p:stCondLst>
                                  <p:iterate>
                                    <p:tmAbs val="0"/>
                                  </p:iterate>
                                  <p:childTnLst>
                                    <p:set>
                                      <p:cBhvr>
                                        <p:cTn id="18" fill="hold"/>
                                        <p:tgtEl>
                                          <p:spTgt spid="176">
                                            <p:txEl>
                                              <p:pRg st="7" end="7"/>
                                            </p:txEl>
                                          </p:spTgt>
                                        </p:tgtEl>
                                        <p:attrNameLst>
                                          <p:attrName>style.visibility</p:attrName>
                                        </p:attrNameLst>
                                      </p:cBhvr>
                                      <p:to>
                                        <p:strVal val="visible"/>
                                      </p:to>
                                    </p:set>
                                  </p:childTnLst>
                                </p:cTn>
                              </p:par>
                            </p:childTnLst>
                          </p:cTn>
                        </p:par>
                        <p:par>
                          <p:cTn id="19" fill="hold">
                            <p:stCondLst>
                              <p:cond delay="0"/>
                            </p:stCondLst>
                            <p:childTnLst>
                              <p:par>
                                <p:cTn id="20" presetID="1" presetClass="entr" presetSubtype="0" fill="hold" grpId="0" nodeType="afterEffect">
                                  <p:stCondLst>
                                    <p:cond delay="0"/>
                                  </p:stCondLst>
                                  <p:iterate>
                                    <p:tmAbs val="0"/>
                                  </p:iterate>
                                  <p:childTnLst>
                                    <p:set>
                                      <p:cBhvr>
                                        <p:cTn id="21" fill="hold"/>
                                        <p:tgtEl>
                                          <p:spTgt spid="176">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6" grpId="0" build="p" bldLvl="5" animBg="1" advAuto="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Title 1"/>
          <p:cNvSpPr txBox="1">
            <a:spLocks noGrp="1"/>
          </p:cNvSpPr>
          <p:nvPr>
            <p:ph type="title"/>
          </p:nvPr>
        </p:nvSpPr>
        <p:spPr>
          <a:xfrm>
            <a:off x="838200" y="365125"/>
            <a:ext cx="10515600" cy="1325563"/>
          </a:xfrm>
          <a:prstGeom prst="rect">
            <a:avLst/>
          </a:prstGeom>
        </p:spPr>
        <p:txBody>
          <a:bodyPr/>
          <a:lstStyle/>
          <a:p>
            <a:r>
              <a:t>Why should I care?</a:t>
            </a:r>
          </a:p>
        </p:txBody>
      </p:sp>
      <p:sp>
        <p:nvSpPr>
          <p:cNvPr id="181" name="Content Placeholder 2"/>
          <p:cNvSpPr txBox="1">
            <a:spLocks noGrp="1"/>
          </p:cNvSpPr>
          <p:nvPr>
            <p:ph type="body" idx="1"/>
          </p:nvPr>
        </p:nvSpPr>
        <p:spPr>
          <a:xfrm>
            <a:off x="919658" y="1428751"/>
            <a:ext cx="10443816" cy="5133974"/>
          </a:xfrm>
          <a:prstGeom prst="rect">
            <a:avLst/>
          </a:prstGeom>
        </p:spPr>
        <p:txBody>
          <a:bodyPr/>
          <a:lstStyle/>
          <a:p>
            <a:pPr>
              <a:lnSpc>
                <a:spcPct val="81000"/>
              </a:lnSpc>
              <a:defRPr sz="2200"/>
            </a:pPr>
            <a:r>
              <a:rPr dirty="0"/>
              <a:t>Suppose you want to build the next Google</a:t>
            </a:r>
            <a:endParaRPr sz="2500" dirty="0"/>
          </a:p>
          <a:p>
            <a:pPr>
              <a:lnSpc>
                <a:spcPct val="81000"/>
              </a:lnSpc>
              <a:defRPr sz="2200"/>
            </a:pPr>
            <a:r>
              <a:rPr dirty="0"/>
              <a:t>How do you...</a:t>
            </a:r>
            <a:endParaRPr sz="2500" dirty="0"/>
          </a:p>
          <a:p>
            <a:pPr marL="685800" lvl="1" indent="-228600">
              <a:lnSpc>
                <a:spcPct val="81000"/>
              </a:lnSpc>
              <a:spcBef>
                <a:spcPts val="500"/>
              </a:spcBef>
              <a:defRPr sz="2200"/>
            </a:pPr>
            <a:r>
              <a:rPr dirty="0"/>
              <a:t>... download and store billions of web pages and images?</a:t>
            </a:r>
          </a:p>
          <a:p>
            <a:pPr marL="685800" lvl="1" indent="-228600">
              <a:lnSpc>
                <a:spcPct val="81000"/>
              </a:lnSpc>
              <a:spcBef>
                <a:spcPts val="500"/>
              </a:spcBef>
              <a:defRPr sz="2200"/>
            </a:pPr>
            <a:r>
              <a:rPr dirty="0"/>
              <a:t>... quickly find the pages that contain a given set of terms?</a:t>
            </a:r>
          </a:p>
          <a:p>
            <a:pPr marL="685800" lvl="1" indent="-228600">
              <a:lnSpc>
                <a:spcPct val="81000"/>
              </a:lnSpc>
              <a:spcBef>
                <a:spcPts val="500"/>
              </a:spcBef>
              <a:defRPr sz="2200"/>
            </a:pPr>
            <a:r>
              <a:rPr dirty="0"/>
              <a:t>... find the pages that are most relevant to a given search?</a:t>
            </a:r>
          </a:p>
          <a:p>
            <a:pPr marL="685800" lvl="1" indent="-228600">
              <a:lnSpc>
                <a:spcPct val="81000"/>
              </a:lnSpc>
              <a:spcBef>
                <a:spcPts val="500"/>
              </a:spcBef>
              <a:defRPr sz="2200"/>
            </a:pPr>
            <a:r>
              <a:rPr dirty="0"/>
              <a:t>... answer 1.2 billion queries of this type </a:t>
            </a:r>
            <a:r>
              <a:rPr u="sng" dirty="0"/>
              <a:t>every day</a:t>
            </a:r>
            <a:r>
              <a:rPr dirty="0"/>
              <a:t>?</a:t>
            </a:r>
          </a:p>
          <a:p>
            <a:pPr marL="685800" lvl="1" indent="-228600">
              <a:lnSpc>
                <a:spcPct val="81000"/>
              </a:lnSpc>
              <a:spcBef>
                <a:spcPts val="500"/>
              </a:spcBef>
              <a:defRPr sz="1600"/>
            </a:pPr>
            <a:endParaRPr dirty="0"/>
          </a:p>
          <a:p>
            <a:pPr>
              <a:lnSpc>
                <a:spcPct val="81000"/>
              </a:lnSpc>
              <a:defRPr sz="2200"/>
            </a:pPr>
            <a:r>
              <a:rPr dirty="0"/>
              <a:t>Suppose you want to build the next Facebook</a:t>
            </a:r>
            <a:endParaRPr sz="2500" dirty="0"/>
          </a:p>
          <a:p>
            <a:pPr>
              <a:lnSpc>
                <a:spcPct val="81000"/>
              </a:lnSpc>
              <a:defRPr sz="2200"/>
            </a:pPr>
            <a:r>
              <a:rPr dirty="0"/>
              <a:t>How do you...</a:t>
            </a:r>
            <a:endParaRPr sz="2500" dirty="0"/>
          </a:p>
          <a:p>
            <a:pPr marL="685800" lvl="1" indent="-228600">
              <a:lnSpc>
                <a:spcPct val="81000"/>
              </a:lnSpc>
              <a:spcBef>
                <a:spcPts val="500"/>
              </a:spcBef>
              <a:defRPr sz="2200"/>
            </a:pPr>
            <a:r>
              <a:rPr dirty="0"/>
              <a:t>... store the profiles of over 500 million users?</a:t>
            </a:r>
          </a:p>
          <a:p>
            <a:pPr marL="685800" lvl="1" indent="-228600">
              <a:lnSpc>
                <a:spcPct val="81000"/>
              </a:lnSpc>
              <a:spcBef>
                <a:spcPts val="500"/>
              </a:spcBef>
              <a:defRPr sz="2200"/>
            </a:pPr>
            <a:r>
              <a:rPr dirty="0"/>
              <a:t>... avoid losing any of them?</a:t>
            </a:r>
          </a:p>
          <a:p>
            <a:pPr marL="685800" lvl="1" indent="-228600">
              <a:lnSpc>
                <a:spcPct val="81000"/>
              </a:lnSpc>
              <a:spcBef>
                <a:spcPts val="500"/>
              </a:spcBef>
              <a:defRPr sz="2200"/>
            </a:pPr>
            <a:r>
              <a:rPr dirty="0"/>
              <a:t>... find out which users might want to be friends?</a:t>
            </a:r>
          </a:p>
          <a:p>
            <a:pPr marL="457200" lvl="1" indent="0">
              <a:lnSpc>
                <a:spcPct val="81000"/>
              </a:lnSpc>
              <a:spcBef>
                <a:spcPts val="500"/>
              </a:spcBef>
              <a:buNone/>
              <a:defRPr sz="2200"/>
            </a:pPr>
            <a:endParaRPr dirty="0"/>
          </a:p>
        </p:txBody>
      </p:sp>
      <p:sp>
        <p:nvSpPr>
          <p:cNvPr id="182" name="Slide Number Placeholder 3"/>
          <p:cNvSpPr txBox="1">
            <a:spLocks noGrp="1"/>
          </p:cNvSpPr>
          <p:nvPr>
            <p:ph type="sldNum" sz="quarter" idx="4294967295"/>
          </p:nvPr>
        </p:nvSpPr>
        <p:spPr>
          <a:xfrm>
            <a:off x="11166465" y="6404292"/>
            <a:ext cx="187336" cy="269241"/>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8</a:t>
            </a:fld>
            <a:endParaRPr/>
          </a:p>
        </p:txBody>
      </p:sp>
    </p:spTree>
    <p:extLst>
      <p:ext uri="{BB962C8B-B14F-4D97-AF65-F5344CB8AC3E}">
        <p14:creationId xmlns:p14="http://schemas.microsoft.com/office/powerpoint/2010/main" val="202656034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 name="Title 1"/>
          <p:cNvSpPr txBox="1">
            <a:spLocks noGrp="1"/>
          </p:cNvSpPr>
          <p:nvPr>
            <p:ph type="title"/>
          </p:nvPr>
        </p:nvSpPr>
        <p:spPr>
          <a:xfrm>
            <a:off x="838200" y="365125"/>
            <a:ext cx="10515600" cy="1325563"/>
          </a:xfrm>
          <a:prstGeom prst="rect">
            <a:avLst/>
          </a:prstGeom>
        </p:spPr>
        <p:txBody>
          <a:bodyPr/>
          <a:lstStyle/>
          <a:p>
            <a:r>
              <a:rPr lang="en-US" dirty="0"/>
              <a:t>Intro to Cloud Computing: Agenda</a:t>
            </a:r>
            <a:endParaRPr dirty="0"/>
          </a:p>
        </p:txBody>
      </p:sp>
      <p:sp>
        <p:nvSpPr>
          <p:cNvPr id="185" name="Content Placeholder 2"/>
          <p:cNvSpPr txBox="1">
            <a:spLocks noGrp="1"/>
          </p:cNvSpPr>
          <p:nvPr>
            <p:ph type="body" idx="1"/>
          </p:nvPr>
        </p:nvSpPr>
        <p:spPr>
          <a:xfrm>
            <a:off x="890339" y="1658938"/>
            <a:ext cx="9482386" cy="4532313"/>
          </a:xfrm>
          <a:prstGeom prst="rect">
            <a:avLst/>
          </a:prstGeom>
        </p:spPr>
        <p:txBody>
          <a:bodyPr/>
          <a:lstStyle/>
          <a:p>
            <a:pPr marL="226313" indent="-226313" defTabSz="905255">
              <a:spcBef>
                <a:spcPts val="900"/>
              </a:spcBef>
              <a:defRPr sz="2772"/>
            </a:pPr>
            <a:r>
              <a:t>Computing at scale</a:t>
            </a:r>
          </a:p>
          <a:p>
            <a:pPr marL="678941" lvl="1" indent="-226313" defTabSz="905255">
              <a:spcBef>
                <a:spcPts val="400"/>
              </a:spcBef>
              <a:defRPr sz="2376"/>
            </a:pPr>
            <a:r>
              <a:t>The need for scalability; scale of current services</a:t>
            </a:r>
          </a:p>
          <a:p>
            <a:pPr marL="678941" lvl="1" indent="-226313" defTabSz="905255">
              <a:spcBef>
                <a:spcPts val="400"/>
              </a:spcBef>
              <a:defRPr sz="2376">
                <a:solidFill>
                  <a:srgbClr val="FF9900"/>
                </a:solidFill>
              </a:defRPr>
            </a:pPr>
            <a:r>
              <a:t>Scaling up: From PCs to data centers</a:t>
            </a:r>
          </a:p>
          <a:p>
            <a:pPr marL="678941" lvl="1" indent="-226313" defTabSz="905255">
              <a:spcBef>
                <a:spcPts val="400"/>
              </a:spcBef>
              <a:defRPr sz="2376"/>
            </a:pPr>
            <a:r>
              <a:t>Problems with 'classical' scaling techniques </a:t>
            </a:r>
            <a:br/>
            <a:endParaRPr/>
          </a:p>
          <a:p>
            <a:pPr marL="226313" indent="-226313" defTabSz="905255">
              <a:spcBef>
                <a:spcPts val="900"/>
              </a:spcBef>
              <a:defRPr sz="2772"/>
            </a:pPr>
            <a:r>
              <a:t>Utility computing and cloud computing</a:t>
            </a:r>
          </a:p>
          <a:p>
            <a:pPr marL="678941" lvl="1" indent="-226313" defTabSz="905255">
              <a:spcBef>
                <a:spcPts val="400"/>
              </a:spcBef>
              <a:defRPr sz="2376"/>
            </a:pPr>
            <a:r>
              <a:t>What are utility computing and cloud computing?</a:t>
            </a:r>
          </a:p>
          <a:p>
            <a:pPr marL="678941" lvl="1" indent="-226313" defTabSz="905255">
              <a:spcBef>
                <a:spcPts val="400"/>
              </a:spcBef>
              <a:defRPr sz="2376"/>
            </a:pPr>
            <a:r>
              <a:t>What kinds of clouds exist today?</a:t>
            </a:r>
          </a:p>
          <a:p>
            <a:pPr marL="678941" lvl="1" indent="-226313" defTabSz="905255">
              <a:spcBef>
                <a:spcPts val="400"/>
              </a:spcBef>
              <a:defRPr sz="2376"/>
            </a:pPr>
            <a:r>
              <a:t>What kinds of applications run on the cloud?</a:t>
            </a:r>
          </a:p>
          <a:p>
            <a:pPr marL="678941" lvl="1" indent="-226313" defTabSz="905255">
              <a:spcBef>
                <a:spcPts val="400"/>
              </a:spcBef>
              <a:defRPr sz="2376"/>
            </a:pPr>
            <a:r>
              <a:t>Virtualization: How clouds work 'under the hood'</a:t>
            </a:r>
          </a:p>
          <a:p>
            <a:pPr marL="678941" lvl="1" indent="-226313" defTabSz="905255">
              <a:spcBef>
                <a:spcPts val="400"/>
              </a:spcBef>
              <a:defRPr sz="2376"/>
            </a:pPr>
            <a:r>
              <a:t>Some cloud computing challenges</a:t>
            </a:r>
          </a:p>
        </p:txBody>
      </p:sp>
      <p:sp>
        <p:nvSpPr>
          <p:cNvPr id="186" name="Slide Number Placeholder 3"/>
          <p:cNvSpPr txBox="1">
            <a:spLocks noGrp="1"/>
          </p:cNvSpPr>
          <p:nvPr>
            <p:ph type="sldNum" sz="quarter" idx="4294967295"/>
          </p:nvPr>
        </p:nvSpPr>
        <p:spPr>
          <a:xfrm>
            <a:off x="11166465" y="6404292"/>
            <a:ext cx="187336" cy="269241"/>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9</a:t>
            </a:fld>
            <a:endParaRPr/>
          </a:p>
        </p:txBody>
      </p:sp>
    </p:spTree>
    <p:extLst>
      <p:ext uri="{BB962C8B-B14F-4D97-AF65-F5344CB8AC3E}">
        <p14:creationId xmlns:p14="http://schemas.microsoft.com/office/powerpoint/2010/main" val="246744440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 name="Title 1"/>
          <p:cNvSpPr txBox="1">
            <a:spLocks noGrp="1"/>
          </p:cNvSpPr>
          <p:nvPr>
            <p:ph type="title"/>
          </p:nvPr>
        </p:nvSpPr>
        <p:spPr>
          <a:xfrm>
            <a:off x="838200" y="365125"/>
            <a:ext cx="10515600" cy="1325563"/>
          </a:xfrm>
          <a:prstGeom prst="rect">
            <a:avLst/>
          </a:prstGeom>
        </p:spPr>
        <p:txBody>
          <a:bodyPr/>
          <a:lstStyle/>
          <a:p>
            <a:r>
              <a:t>Scaling up</a:t>
            </a:r>
          </a:p>
        </p:txBody>
      </p:sp>
      <p:sp>
        <p:nvSpPr>
          <p:cNvPr id="189" name="Content Placeholder 2"/>
          <p:cNvSpPr txBox="1">
            <a:spLocks noGrp="1"/>
          </p:cNvSpPr>
          <p:nvPr>
            <p:ph type="body" sz="quarter" idx="1"/>
          </p:nvPr>
        </p:nvSpPr>
        <p:spPr>
          <a:xfrm>
            <a:off x="2475160" y="4219576"/>
            <a:ext cx="7811840" cy="1800226"/>
          </a:xfrm>
          <a:prstGeom prst="rect">
            <a:avLst/>
          </a:prstGeom>
        </p:spPr>
        <p:txBody>
          <a:bodyPr/>
          <a:lstStyle/>
          <a:p>
            <a:pPr marL="219455" indent="-219455" defTabSz="877823">
              <a:lnSpc>
                <a:spcPct val="81000"/>
              </a:lnSpc>
              <a:spcBef>
                <a:spcPts val="900"/>
              </a:spcBef>
              <a:defRPr sz="2400"/>
            </a:pPr>
            <a:r>
              <a:t>What if one computer is not enough?</a:t>
            </a:r>
          </a:p>
          <a:p>
            <a:pPr marL="658368" lvl="1" indent="-219455" defTabSz="877823">
              <a:lnSpc>
                <a:spcPct val="81000"/>
              </a:lnSpc>
              <a:spcBef>
                <a:spcPts val="400"/>
              </a:spcBef>
              <a:defRPr sz="2112"/>
            </a:pPr>
            <a:r>
              <a:t>Buy a bigger (server-class) computer</a:t>
            </a:r>
            <a:br/>
            <a:endParaRPr/>
          </a:p>
          <a:p>
            <a:pPr marL="219455" indent="-219455" defTabSz="877823">
              <a:lnSpc>
                <a:spcPct val="81000"/>
              </a:lnSpc>
              <a:spcBef>
                <a:spcPts val="900"/>
              </a:spcBef>
              <a:defRPr sz="2400"/>
            </a:pPr>
            <a:r>
              <a:t>What if the biggest computer is not enough?</a:t>
            </a:r>
          </a:p>
          <a:p>
            <a:pPr marL="658368" lvl="1" indent="-219455" defTabSz="877823">
              <a:lnSpc>
                <a:spcPct val="81000"/>
              </a:lnSpc>
              <a:spcBef>
                <a:spcPts val="400"/>
              </a:spcBef>
              <a:defRPr sz="2112"/>
            </a:pPr>
            <a:r>
              <a:t>Buy many computers</a:t>
            </a:r>
          </a:p>
        </p:txBody>
      </p:sp>
      <p:sp>
        <p:nvSpPr>
          <p:cNvPr id="190" name="Slide Number Placeholder 3"/>
          <p:cNvSpPr txBox="1">
            <a:spLocks noGrp="1"/>
          </p:cNvSpPr>
          <p:nvPr>
            <p:ph type="sldNum" sz="quarter" idx="4294967295"/>
          </p:nvPr>
        </p:nvSpPr>
        <p:spPr>
          <a:xfrm>
            <a:off x="11166465" y="6404292"/>
            <a:ext cx="187336" cy="269241"/>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10</a:t>
            </a:fld>
            <a:endParaRPr/>
          </a:p>
        </p:txBody>
      </p:sp>
      <p:pic>
        <p:nvPicPr>
          <p:cNvPr id="191" name="Picture 5" descr="Picture 5"/>
          <p:cNvPicPr>
            <a:picLocks noChangeAspect="1"/>
          </p:cNvPicPr>
          <p:nvPr/>
        </p:nvPicPr>
        <p:blipFill>
          <a:blip r:embed="rId2">
            <a:extLst/>
          </a:blip>
          <a:stretch>
            <a:fillRect/>
          </a:stretch>
        </p:blipFill>
        <p:spPr>
          <a:xfrm>
            <a:off x="3657600" y="2399982"/>
            <a:ext cx="853495" cy="1009968"/>
          </a:xfrm>
          <a:prstGeom prst="rect">
            <a:avLst/>
          </a:prstGeom>
          <a:ln w="12700">
            <a:miter lim="400000"/>
          </a:ln>
        </p:spPr>
      </p:pic>
      <p:pic>
        <p:nvPicPr>
          <p:cNvPr id="192" name="Picture 6" descr="Picture 6"/>
          <p:cNvPicPr>
            <a:picLocks noChangeAspect="1"/>
          </p:cNvPicPr>
          <p:nvPr/>
        </p:nvPicPr>
        <p:blipFill>
          <a:blip r:embed="rId3">
            <a:extLst/>
          </a:blip>
          <a:stretch>
            <a:fillRect/>
          </a:stretch>
        </p:blipFill>
        <p:spPr>
          <a:xfrm flipH="1">
            <a:off x="5350588" y="2084358"/>
            <a:ext cx="1250238" cy="1368185"/>
          </a:xfrm>
          <a:prstGeom prst="rect">
            <a:avLst/>
          </a:prstGeom>
          <a:ln w="12700">
            <a:miter lim="400000"/>
          </a:ln>
        </p:spPr>
      </p:pic>
      <p:pic>
        <p:nvPicPr>
          <p:cNvPr id="193" name="Picture 7" descr="Picture 7"/>
          <p:cNvPicPr>
            <a:picLocks noChangeAspect="1"/>
          </p:cNvPicPr>
          <p:nvPr/>
        </p:nvPicPr>
        <p:blipFill>
          <a:blip r:embed="rId4">
            <a:extLst/>
          </a:blip>
          <a:stretch>
            <a:fillRect/>
          </a:stretch>
        </p:blipFill>
        <p:spPr>
          <a:xfrm flipH="1">
            <a:off x="7210055" y="598629"/>
            <a:ext cx="2029195" cy="2822837"/>
          </a:xfrm>
          <a:prstGeom prst="rect">
            <a:avLst/>
          </a:prstGeom>
          <a:ln w="12700">
            <a:miter lim="400000"/>
          </a:ln>
        </p:spPr>
      </p:pic>
      <p:sp>
        <p:nvSpPr>
          <p:cNvPr id="194" name="TextBox 12"/>
          <p:cNvSpPr txBox="1"/>
          <p:nvPr/>
        </p:nvSpPr>
        <p:spPr>
          <a:xfrm>
            <a:off x="3609974" y="3543301"/>
            <a:ext cx="885826" cy="3073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spcBef>
                <a:spcPts val="300"/>
              </a:spcBef>
              <a:defRPr sz="1400">
                <a:latin typeface="Tahoma"/>
                <a:ea typeface="Tahoma"/>
                <a:cs typeface="Tahoma"/>
                <a:sym typeface="Tahoma"/>
              </a:defRPr>
            </a:lvl1pPr>
          </a:lstStyle>
          <a:p>
            <a:r>
              <a:t>PC</a:t>
            </a:r>
          </a:p>
        </p:txBody>
      </p:sp>
      <p:sp>
        <p:nvSpPr>
          <p:cNvPr id="195" name="TextBox 13"/>
          <p:cNvSpPr txBox="1"/>
          <p:nvPr/>
        </p:nvSpPr>
        <p:spPr>
          <a:xfrm>
            <a:off x="5391151" y="3524251"/>
            <a:ext cx="1133475" cy="3073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spcBef>
                <a:spcPts val="300"/>
              </a:spcBef>
              <a:defRPr sz="1400">
                <a:latin typeface="Tahoma"/>
                <a:ea typeface="Tahoma"/>
                <a:cs typeface="Tahoma"/>
                <a:sym typeface="Tahoma"/>
              </a:defRPr>
            </a:lvl1pPr>
          </a:lstStyle>
          <a:p>
            <a:r>
              <a:t>Server</a:t>
            </a:r>
          </a:p>
        </p:txBody>
      </p:sp>
      <p:sp>
        <p:nvSpPr>
          <p:cNvPr id="196" name="TextBox 14"/>
          <p:cNvSpPr txBox="1"/>
          <p:nvPr/>
        </p:nvSpPr>
        <p:spPr>
          <a:xfrm>
            <a:off x="7734300" y="3533776"/>
            <a:ext cx="1019175" cy="3073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spcBef>
                <a:spcPts val="300"/>
              </a:spcBef>
              <a:defRPr sz="1400">
                <a:latin typeface="Tahoma"/>
                <a:ea typeface="Tahoma"/>
                <a:cs typeface="Tahoma"/>
                <a:sym typeface="Tahoma"/>
              </a:defRPr>
            </a:lvl1pPr>
          </a:lstStyle>
          <a:p>
            <a:r>
              <a:t>Cluster</a:t>
            </a:r>
          </a:p>
        </p:txBody>
      </p:sp>
    </p:spTree>
    <p:extLst>
      <p:ext uri="{BB962C8B-B14F-4D97-AF65-F5344CB8AC3E}">
        <p14:creationId xmlns:p14="http://schemas.microsoft.com/office/powerpoint/2010/main" val="128477486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189">
                                            <p:txEl>
                                              <p:pRg st="1" end="1"/>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iterate>
                                    <p:tmAbs val="0"/>
                                  </p:iterate>
                                  <p:childTnLst>
                                    <p:set>
                                      <p:cBhvr>
                                        <p:cTn id="9" fill="hold"/>
                                        <p:tgtEl>
                                          <p:spTgt spid="192"/>
                                        </p:tgtEl>
                                        <p:attrNameLst>
                                          <p:attrName>style.visibility</p:attrName>
                                        </p:attrNameLst>
                                      </p:cBhvr>
                                      <p:to>
                                        <p:strVal val="visible"/>
                                      </p:to>
                                    </p:set>
                                  </p:childTnLst>
                                </p:cTn>
                              </p:par>
                            </p:childTnLst>
                          </p:cTn>
                        </p:par>
                        <p:par>
                          <p:cTn id="10" fill="hold">
                            <p:stCondLst>
                              <p:cond delay="0"/>
                            </p:stCondLst>
                            <p:childTnLst>
                              <p:par>
                                <p:cTn id="11" presetID="1" presetClass="entr" presetSubtype="0" fill="hold" grpId="0" nodeType="afterEffect">
                                  <p:stCondLst>
                                    <p:cond delay="0"/>
                                  </p:stCondLst>
                                  <p:iterate>
                                    <p:tmAbs val="0"/>
                                  </p:iterate>
                                  <p:childTnLst>
                                    <p:set>
                                      <p:cBhvr>
                                        <p:cTn id="12" fill="hold"/>
                                        <p:tgtEl>
                                          <p:spTgt spid="19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iterate>
                                    <p:tmAbs val="0"/>
                                  </p:iterate>
                                  <p:childTnLst>
                                    <p:set>
                                      <p:cBhvr>
                                        <p:cTn id="16" fill="hold"/>
                                        <p:tgtEl>
                                          <p:spTgt spid="189">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iterate>
                                    <p:tmAbs val="0"/>
                                  </p:iterate>
                                  <p:childTnLst>
                                    <p:set>
                                      <p:cBhvr>
                                        <p:cTn id="20" fill="hold"/>
                                        <p:tgtEl>
                                          <p:spTgt spid="189">
                                            <p:txEl>
                                              <p:pRg st="3" end="3"/>
                                            </p:txEl>
                                          </p:spTgt>
                                        </p:tgtEl>
                                        <p:attrNameLst>
                                          <p:attrName>style.visibility</p:attrName>
                                        </p:attrNameLst>
                                      </p:cBhvr>
                                      <p:to>
                                        <p:strVal val="visible"/>
                                      </p:to>
                                    </p:set>
                                  </p:childTnLst>
                                </p:cTn>
                              </p:par>
                            </p:childTnLst>
                          </p:cTn>
                        </p:par>
                        <p:par>
                          <p:cTn id="21" fill="hold">
                            <p:stCondLst>
                              <p:cond delay="0"/>
                            </p:stCondLst>
                            <p:childTnLst>
                              <p:par>
                                <p:cTn id="22" presetID="1" presetClass="entr" presetSubtype="0" fill="hold" grpId="0" nodeType="afterEffect">
                                  <p:stCondLst>
                                    <p:cond delay="0"/>
                                  </p:stCondLst>
                                  <p:iterate>
                                    <p:tmAbs val="0"/>
                                  </p:iterate>
                                  <p:childTnLst>
                                    <p:set>
                                      <p:cBhvr>
                                        <p:cTn id="23" fill="hold"/>
                                        <p:tgtEl>
                                          <p:spTgt spid="196"/>
                                        </p:tgtEl>
                                        <p:attrNameLst>
                                          <p:attrName>style.visibility</p:attrName>
                                        </p:attrNameLst>
                                      </p:cBhvr>
                                      <p:to>
                                        <p:strVal val="visible"/>
                                      </p:to>
                                    </p:set>
                                  </p:childTnLst>
                                </p:cTn>
                              </p:par>
                            </p:childTnLst>
                          </p:cTn>
                        </p:par>
                        <p:par>
                          <p:cTn id="24" fill="hold">
                            <p:stCondLst>
                              <p:cond delay="0"/>
                            </p:stCondLst>
                            <p:childTnLst>
                              <p:par>
                                <p:cTn id="25" presetID="1" presetClass="entr" presetSubtype="0" fill="hold" grpId="0" nodeType="afterEffect">
                                  <p:stCondLst>
                                    <p:cond delay="0"/>
                                  </p:stCondLst>
                                  <p:iterate>
                                    <p:tmAbs val="0"/>
                                  </p:iterate>
                                  <p:childTnLst>
                                    <p:set>
                                      <p:cBhvr>
                                        <p:cTn id="26" fill="hold"/>
                                        <p:tgtEl>
                                          <p:spTgt spid="19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9" grpId="0" build="p" bldLvl="5" animBg="1" advAuto="0"/>
      <p:bldP spid="192" grpId="0" animBg="1" advAuto="0"/>
      <p:bldP spid="193" grpId="0" animBg="1" advAuto="0"/>
      <p:bldP spid="195" grpId="0" animBg="1" advAuto="0"/>
      <p:bldP spid="196" grpId="0" animBg="1" advAuto="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 name="Title 1"/>
          <p:cNvSpPr txBox="1">
            <a:spLocks noGrp="1"/>
          </p:cNvSpPr>
          <p:nvPr>
            <p:ph type="title"/>
          </p:nvPr>
        </p:nvSpPr>
        <p:spPr>
          <a:xfrm>
            <a:off x="838200" y="365125"/>
            <a:ext cx="10515600" cy="1325563"/>
          </a:xfrm>
          <a:prstGeom prst="rect">
            <a:avLst/>
          </a:prstGeom>
        </p:spPr>
        <p:txBody>
          <a:bodyPr/>
          <a:lstStyle/>
          <a:p>
            <a:r>
              <a:t>Clusters</a:t>
            </a:r>
          </a:p>
        </p:txBody>
      </p:sp>
      <p:sp>
        <p:nvSpPr>
          <p:cNvPr id="199" name="Content Placeholder 2"/>
          <p:cNvSpPr txBox="1">
            <a:spLocks noGrp="1"/>
          </p:cNvSpPr>
          <p:nvPr>
            <p:ph type="body" sz="quarter" idx="1"/>
          </p:nvPr>
        </p:nvSpPr>
        <p:spPr>
          <a:xfrm>
            <a:off x="2514600" y="4886326"/>
            <a:ext cx="7772400" cy="1609725"/>
          </a:xfrm>
          <a:prstGeom prst="rect">
            <a:avLst/>
          </a:prstGeom>
        </p:spPr>
        <p:txBody>
          <a:bodyPr/>
          <a:lstStyle/>
          <a:p>
            <a:pPr>
              <a:defRPr sz="2500"/>
            </a:pPr>
            <a:r>
              <a:t>Characteristics of a cluster:</a:t>
            </a:r>
          </a:p>
          <a:p>
            <a:pPr marL="685800" lvl="1" indent="-228600">
              <a:spcBef>
                <a:spcPts val="500"/>
              </a:spcBef>
              <a:defRPr sz="2200"/>
            </a:pPr>
            <a:r>
              <a:t>Many similar machines, close interconnection (same room?)</a:t>
            </a:r>
          </a:p>
          <a:p>
            <a:pPr marL="685800" lvl="1" indent="-228600">
              <a:spcBef>
                <a:spcPts val="500"/>
              </a:spcBef>
              <a:defRPr sz="2200"/>
            </a:pPr>
            <a:r>
              <a:t>Often special, standardized hardware (racks, blades)</a:t>
            </a:r>
          </a:p>
          <a:p>
            <a:pPr marL="685800" lvl="1" indent="-228600">
              <a:spcBef>
                <a:spcPts val="500"/>
              </a:spcBef>
              <a:defRPr sz="2200"/>
            </a:pPr>
            <a:r>
              <a:t>Usually owned and used by a single organization</a:t>
            </a:r>
          </a:p>
        </p:txBody>
      </p:sp>
      <p:sp>
        <p:nvSpPr>
          <p:cNvPr id="200" name="Slide Number Placeholder 3"/>
          <p:cNvSpPr txBox="1">
            <a:spLocks noGrp="1"/>
          </p:cNvSpPr>
          <p:nvPr>
            <p:ph type="sldNum" sz="quarter" idx="4294967295"/>
          </p:nvPr>
        </p:nvSpPr>
        <p:spPr>
          <a:xfrm>
            <a:off x="11083270" y="6404292"/>
            <a:ext cx="270531" cy="269241"/>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11</a:t>
            </a:fld>
            <a:endParaRPr/>
          </a:p>
        </p:txBody>
      </p:sp>
      <p:pic>
        <p:nvPicPr>
          <p:cNvPr id="201" name="Picture 5" descr="Picture 5"/>
          <p:cNvPicPr>
            <a:picLocks noChangeAspect="1"/>
          </p:cNvPicPr>
          <p:nvPr/>
        </p:nvPicPr>
        <p:blipFill>
          <a:blip r:embed="rId2">
            <a:extLst/>
          </a:blip>
          <a:stretch>
            <a:fillRect/>
          </a:stretch>
        </p:blipFill>
        <p:spPr>
          <a:xfrm>
            <a:off x="3219081" y="1536425"/>
            <a:ext cx="2341036" cy="3256640"/>
          </a:xfrm>
          <a:prstGeom prst="rect">
            <a:avLst/>
          </a:prstGeom>
          <a:ln w="12700">
            <a:miter lim="400000"/>
          </a:ln>
        </p:spPr>
      </p:pic>
      <p:pic>
        <p:nvPicPr>
          <p:cNvPr id="202" name="Picture 52" descr="Picture 52"/>
          <p:cNvPicPr>
            <a:picLocks noChangeAspect="1"/>
          </p:cNvPicPr>
          <p:nvPr/>
        </p:nvPicPr>
        <p:blipFill>
          <a:blip r:embed="rId3">
            <a:extLst/>
          </a:blip>
          <a:stretch>
            <a:fillRect/>
          </a:stretch>
        </p:blipFill>
        <p:spPr>
          <a:xfrm>
            <a:off x="6191251" y="2890464"/>
            <a:ext cx="2033588" cy="829050"/>
          </a:xfrm>
          <a:prstGeom prst="rect">
            <a:avLst/>
          </a:prstGeom>
          <a:ln w="12700">
            <a:miter lim="400000"/>
          </a:ln>
        </p:spPr>
      </p:pic>
      <p:pic>
        <p:nvPicPr>
          <p:cNvPr id="203" name="Picture 53" descr="Picture 53"/>
          <p:cNvPicPr>
            <a:picLocks noChangeAspect="1"/>
          </p:cNvPicPr>
          <p:nvPr/>
        </p:nvPicPr>
        <p:blipFill>
          <a:blip r:embed="rId4">
            <a:extLst/>
          </a:blip>
          <a:stretch>
            <a:fillRect/>
          </a:stretch>
        </p:blipFill>
        <p:spPr>
          <a:xfrm>
            <a:off x="6423025" y="1533525"/>
            <a:ext cx="1549400" cy="1162050"/>
          </a:xfrm>
          <a:prstGeom prst="rect">
            <a:avLst/>
          </a:prstGeom>
          <a:ln w="12700">
            <a:miter lim="400000"/>
          </a:ln>
        </p:spPr>
      </p:pic>
      <p:pic>
        <p:nvPicPr>
          <p:cNvPr id="204" name="Picture 54" descr="Picture 54"/>
          <p:cNvPicPr>
            <a:picLocks noChangeAspect="1"/>
          </p:cNvPicPr>
          <p:nvPr/>
        </p:nvPicPr>
        <p:blipFill>
          <a:blip r:embed="rId5">
            <a:extLst/>
          </a:blip>
          <a:stretch>
            <a:fillRect/>
          </a:stretch>
        </p:blipFill>
        <p:spPr>
          <a:xfrm>
            <a:off x="6496050" y="3946388"/>
            <a:ext cx="1509713" cy="778012"/>
          </a:xfrm>
          <a:prstGeom prst="rect">
            <a:avLst/>
          </a:prstGeom>
          <a:ln w="12700">
            <a:miter lim="400000"/>
          </a:ln>
        </p:spPr>
      </p:pic>
      <p:sp>
        <p:nvSpPr>
          <p:cNvPr id="205" name="Straight Arrow Connector 56"/>
          <p:cNvSpPr/>
          <p:nvPr/>
        </p:nvSpPr>
        <p:spPr>
          <a:xfrm flipH="1" flipV="1">
            <a:off x="4105276" y="1981199"/>
            <a:ext cx="2317750" cy="133352"/>
          </a:xfrm>
          <a:prstGeom prst="line">
            <a:avLst/>
          </a:prstGeom>
          <a:ln w="28575">
            <a:solidFill>
              <a:srgbClr val="FF0000"/>
            </a:solidFill>
            <a:tailEnd type="triangle"/>
          </a:ln>
        </p:spPr>
        <p:txBody>
          <a:bodyPr lIns="45719" rIns="45719"/>
          <a:lstStyle/>
          <a:p>
            <a:endParaRPr/>
          </a:p>
        </p:txBody>
      </p:sp>
      <p:sp>
        <p:nvSpPr>
          <p:cNvPr id="206" name="Straight Arrow Connector 58"/>
          <p:cNvSpPr/>
          <p:nvPr/>
        </p:nvSpPr>
        <p:spPr>
          <a:xfrm flipH="1" flipV="1">
            <a:off x="4124326" y="2362199"/>
            <a:ext cx="2060578" cy="933451"/>
          </a:xfrm>
          <a:prstGeom prst="line">
            <a:avLst/>
          </a:prstGeom>
          <a:ln w="28575">
            <a:solidFill>
              <a:srgbClr val="FF0000"/>
            </a:solidFill>
            <a:tailEnd type="triangle"/>
          </a:ln>
        </p:spPr>
        <p:txBody>
          <a:bodyPr lIns="45719" rIns="45719"/>
          <a:lstStyle/>
          <a:p>
            <a:endParaRPr/>
          </a:p>
        </p:txBody>
      </p:sp>
      <p:sp>
        <p:nvSpPr>
          <p:cNvPr id="207" name="Straight Arrow Connector 60"/>
          <p:cNvSpPr/>
          <p:nvPr/>
        </p:nvSpPr>
        <p:spPr>
          <a:xfrm flipH="1">
            <a:off x="4133849" y="3304988"/>
            <a:ext cx="2057401" cy="476438"/>
          </a:xfrm>
          <a:prstGeom prst="line">
            <a:avLst/>
          </a:prstGeom>
          <a:ln w="28575">
            <a:solidFill>
              <a:srgbClr val="FF0000"/>
            </a:solidFill>
            <a:tailEnd type="triangle"/>
          </a:ln>
        </p:spPr>
        <p:txBody>
          <a:bodyPr lIns="45719" rIns="45719"/>
          <a:lstStyle/>
          <a:p>
            <a:endParaRPr/>
          </a:p>
        </p:txBody>
      </p:sp>
      <p:sp>
        <p:nvSpPr>
          <p:cNvPr id="208" name="Straight Arrow Connector 63"/>
          <p:cNvSpPr/>
          <p:nvPr/>
        </p:nvSpPr>
        <p:spPr>
          <a:xfrm flipH="1">
            <a:off x="4114799" y="3304988"/>
            <a:ext cx="2076452" cy="47812"/>
          </a:xfrm>
          <a:prstGeom prst="line">
            <a:avLst/>
          </a:prstGeom>
          <a:ln w="28575">
            <a:solidFill>
              <a:srgbClr val="FF0000"/>
            </a:solidFill>
            <a:tailEnd type="triangle"/>
          </a:ln>
        </p:spPr>
        <p:txBody>
          <a:bodyPr lIns="45719" rIns="45719"/>
          <a:lstStyle/>
          <a:p>
            <a:endParaRPr/>
          </a:p>
        </p:txBody>
      </p:sp>
      <p:sp>
        <p:nvSpPr>
          <p:cNvPr id="209" name="Straight Arrow Connector 65"/>
          <p:cNvSpPr/>
          <p:nvPr/>
        </p:nvSpPr>
        <p:spPr>
          <a:xfrm flipH="1" flipV="1">
            <a:off x="4124326" y="3047999"/>
            <a:ext cx="2066926" cy="256989"/>
          </a:xfrm>
          <a:prstGeom prst="line">
            <a:avLst/>
          </a:prstGeom>
          <a:ln w="28575">
            <a:solidFill>
              <a:srgbClr val="FF0000"/>
            </a:solidFill>
            <a:tailEnd type="triangle"/>
          </a:ln>
        </p:spPr>
        <p:txBody>
          <a:bodyPr lIns="45719" rIns="45719"/>
          <a:lstStyle/>
          <a:p>
            <a:endParaRPr/>
          </a:p>
        </p:txBody>
      </p:sp>
      <p:sp>
        <p:nvSpPr>
          <p:cNvPr id="210" name="Straight Arrow Connector 68"/>
          <p:cNvSpPr/>
          <p:nvPr/>
        </p:nvSpPr>
        <p:spPr>
          <a:xfrm flipH="1" flipV="1">
            <a:off x="4114799" y="2714626"/>
            <a:ext cx="2076451" cy="590364"/>
          </a:xfrm>
          <a:prstGeom prst="line">
            <a:avLst/>
          </a:prstGeom>
          <a:ln w="28575">
            <a:solidFill>
              <a:srgbClr val="FF0000"/>
            </a:solidFill>
            <a:tailEnd type="triangle"/>
          </a:ln>
        </p:spPr>
        <p:txBody>
          <a:bodyPr lIns="45719" rIns="45719"/>
          <a:lstStyle/>
          <a:p>
            <a:endParaRPr/>
          </a:p>
        </p:txBody>
      </p:sp>
      <p:sp>
        <p:nvSpPr>
          <p:cNvPr id="211" name="TextBox 76"/>
          <p:cNvSpPr txBox="1"/>
          <p:nvPr/>
        </p:nvSpPr>
        <p:spPr>
          <a:xfrm>
            <a:off x="8483176" y="3009900"/>
            <a:ext cx="1830250" cy="5740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p>
            <a:pPr>
              <a:spcBef>
                <a:spcPts val="300"/>
              </a:spcBef>
              <a:defRPr sz="1600">
                <a:latin typeface="Tahoma"/>
                <a:ea typeface="Tahoma"/>
                <a:cs typeface="Tahoma"/>
                <a:sym typeface="Tahoma"/>
              </a:defRPr>
            </a:pPr>
            <a:r>
              <a:t>Many </a:t>
            </a:r>
            <a:r>
              <a:rPr>
                <a:solidFill>
                  <a:srgbClr val="FF9900"/>
                </a:solidFill>
              </a:rPr>
              <a:t>nodes/blades</a:t>
            </a:r>
            <a:br>
              <a:rPr>
                <a:solidFill>
                  <a:srgbClr val="FF9900"/>
                </a:solidFill>
              </a:rPr>
            </a:br>
            <a:r>
              <a:t>(often identical)</a:t>
            </a:r>
          </a:p>
        </p:txBody>
      </p:sp>
      <p:sp>
        <p:nvSpPr>
          <p:cNvPr id="212" name="TextBox 77"/>
          <p:cNvSpPr txBox="1"/>
          <p:nvPr/>
        </p:nvSpPr>
        <p:spPr>
          <a:xfrm>
            <a:off x="8392542" y="1571625"/>
            <a:ext cx="2011522" cy="10566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p>
            <a:pPr>
              <a:spcBef>
                <a:spcPts val="300"/>
              </a:spcBef>
              <a:defRPr sz="1600">
                <a:latin typeface="Tahoma"/>
                <a:ea typeface="Tahoma"/>
                <a:cs typeface="Tahoma"/>
                <a:sym typeface="Tahoma"/>
              </a:defRPr>
            </a:pPr>
            <a:r>
              <a:t>Network </a:t>
            </a:r>
            <a:r>
              <a:rPr>
                <a:solidFill>
                  <a:srgbClr val="FF9900"/>
                </a:solidFill>
              </a:rPr>
              <a:t>switch</a:t>
            </a:r>
            <a:br>
              <a:rPr>
                <a:solidFill>
                  <a:srgbClr val="FF9900"/>
                </a:solidFill>
              </a:rPr>
            </a:br>
            <a:r>
              <a:t>(connects nodes with</a:t>
            </a:r>
            <a:br/>
            <a:r>
              <a:t>each other and </a:t>
            </a:r>
            <a:br/>
            <a:r>
              <a:t>with other racks)</a:t>
            </a:r>
          </a:p>
        </p:txBody>
      </p:sp>
      <p:sp>
        <p:nvSpPr>
          <p:cNvPr id="213" name="TextBox 78"/>
          <p:cNvSpPr txBox="1"/>
          <p:nvPr/>
        </p:nvSpPr>
        <p:spPr>
          <a:xfrm>
            <a:off x="8630613" y="4171950"/>
            <a:ext cx="1668722" cy="3327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spcBef>
                <a:spcPts val="300"/>
              </a:spcBef>
              <a:defRPr sz="1600">
                <a:latin typeface="Tahoma"/>
                <a:ea typeface="Tahoma"/>
                <a:cs typeface="Tahoma"/>
                <a:sym typeface="Tahoma"/>
              </a:defRPr>
            </a:lvl1pPr>
          </a:lstStyle>
          <a:p>
            <a:r>
              <a:t>Storage device(s)</a:t>
            </a:r>
          </a:p>
        </p:txBody>
      </p:sp>
      <p:sp>
        <p:nvSpPr>
          <p:cNvPr id="214" name="Straight Arrow Connector 79"/>
          <p:cNvSpPr/>
          <p:nvPr/>
        </p:nvSpPr>
        <p:spPr>
          <a:xfrm flipH="1" flipV="1">
            <a:off x="4162426" y="4257673"/>
            <a:ext cx="2333626" cy="77721"/>
          </a:xfrm>
          <a:prstGeom prst="line">
            <a:avLst/>
          </a:prstGeom>
          <a:ln w="28575">
            <a:solidFill>
              <a:srgbClr val="FF0000"/>
            </a:solidFill>
            <a:tailEnd type="triangle"/>
          </a:ln>
        </p:spPr>
        <p:txBody>
          <a:bodyPr lIns="45719" rIns="45719"/>
          <a:lstStyle/>
          <a:p>
            <a:endParaRPr/>
          </a:p>
        </p:txBody>
      </p:sp>
      <p:sp>
        <p:nvSpPr>
          <p:cNvPr id="215" name="TextBox 81"/>
          <p:cNvSpPr txBox="1"/>
          <p:nvPr/>
        </p:nvSpPr>
        <p:spPr>
          <a:xfrm>
            <a:off x="2246682" y="2962275"/>
            <a:ext cx="530087" cy="3327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spcBef>
                <a:spcPts val="300"/>
              </a:spcBef>
              <a:defRPr sz="1600">
                <a:latin typeface="Tahoma"/>
                <a:ea typeface="Tahoma"/>
                <a:cs typeface="Tahoma"/>
                <a:sym typeface="Tahoma"/>
              </a:defRPr>
            </a:lvl1pPr>
          </a:lstStyle>
          <a:p>
            <a:r>
              <a:t>Rack</a:t>
            </a:r>
          </a:p>
        </p:txBody>
      </p:sp>
      <p:sp>
        <p:nvSpPr>
          <p:cNvPr id="216" name="Straight Arrow Connector 82"/>
          <p:cNvSpPr/>
          <p:nvPr/>
        </p:nvSpPr>
        <p:spPr>
          <a:xfrm flipV="1">
            <a:off x="2818763" y="3124200"/>
            <a:ext cx="648337" cy="7353"/>
          </a:xfrm>
          <a:prstGeom prst="line">
            <a:avLst/>
          </a:prstGeom>
          <a:ln w="28575">
            <a:solidFill>
              <a:srgbClr val="FF0000"/>
            </a:solidFill>
            <a:tailEnd type="triangle"/>
          </a:ln>
        </p:spPr>
        <p:txBody>
          <a:bodyPr lIns="45719" rIns="45719"/>
          <a:lstStyle/>
          <a:p>
            <a:endParaRPr/>
          </a:p>
        </p:txBody>
      </p:sp>
    </p:spTree>
    <p:extLst>
      <p:ext uri="{BB962C8B-B14F-4D97-AF65-F5344CB8AC3E}">
        <p14:creationId xmlns:p14="http://schemas.microsoft.com/office/powerpoint/2010/main" val="215971765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 name="Title 1"/>
          <p:cNvSpPr txBox="1">
            <a:spLocks noGrp="1"/>
          </p:cNvSpPr>
          <p:nvPr>
            <p:ph type="title"/>
          </p:nvPr>
        </p:nvSpPr>
        <p:spPr>
          <a:xfrm>
            <a:off x="838200" y="365125"/>
            <a:ext cx="10515600" cy="1325563"/>
          </a:xfrm>
          <a:prstGeom prst="rect">
            <a:avLst/>
          </a:prstGeom>
        </p:spPr>
        <p:txBody>
          <a:bodyPr/>
          <a:lstStyle/>
          <a:p>
            <a:r>
              <a:t>Power and cooling</a:t>
            </a:r>
          </a:p>
        </p:txBody>
      </p:sp>
      <p:sp>
        <p:nvSpPr>
          <p:cNvPr id="219" name="Content Placeholder 2"/>
          <p:cNvSpPr txBox="1">
            <a:spLocks noGrp="1"/>
          </p:cNvSpPr>
          <p:nvPr>
            <p:ph type="body" idx="1"/>
          </p:nvPr>
        </p:nvSpPr>
        <p:spPr>
          <a:xfrm>
            <a:off x="838200" y="1825625"/>
            <a:ext cx="10515600" cy="4351338"/>
          </a:xfrm>
          <a:prstGeom prst="rect">
            <a:avLst/>
          </a:prstGeom>
        </p:spPr>
        <p:txBody>
          <a:bodyPr/>
          <a:lstStyle/>
          <a:p>
            <a:r>
              <a:rPr dirty="0"/>
              <a:t>Clusters need lots of power</a:t>
            </a:r>
          </a:p>
          <a:p>
            <a:pPr marL="685800" lvl="1" indent="-228600">
              <a:spcBef>
                <a:spcPts val="500"/>
              </a:spcBef>
              <a:defRPr sz="2400"/>
            </a:pPr>
            <a:r>
              <a:rPr dirty="0"/>
              <a:t>Example: 140 Watts per server</a:t>
            </a:r>
          </a:p>
          <a:p>
            <a:pPr marL="685800" lvl="1" indent="-228600">
              <a:spcBef>
                <a:spcPts val="500"/>
              </a:spcBef>
              <a:defRPr sz="2400"/>
            </a:pPr>
            <a:r>
              <a:rPr dirty="0"/>
              <a:t>Rack with 32 servers: 4.5kW (needs special power supply!)</a:t>
            </a:r>
          </a:p>
          <a:p>
            <a:pPr marL="685800" lvl="1" indent="-228600">
              <a:spcBef>
                <a:spcPts val="500"/>
              </a:spcBef>
              <a:defRPr sz="2400"/>
            </a:pPr>
            <a:r>
              <a:rPr dirty="0"/>
              <a:t>Most of this power is converted into heat</a:t>
            </a:r>
          </a:p>
          <a:p>
            <a:r>
              <a:rPr dirty="0"/>
              <a:t>Large clusters need massive cooling</a:t>
            </a:r>
          </a:p>
          <a:p>
            <a:pPr marL="685800" lvl="1" indent="-228600">
              <a:spcBef>
                <a:spcPts val="500"/>
              </a:spcBef>
              <a:defRPr sz="2400"/>
            </a:pPr>
            <a:r>
              <a:rPr dirty="0"/>
              <a:t>4.5kW is about 3 space heaters</a:t>
            </a:r>
          </a:p>
          <a:p>
            <a:pPr marL="685800" lvl="1" indent="-228600">
              <a:spcBef>
                <a:spcPts val="500"/>
              </a:spcBef>
              <a:defRPr sz="2400"/>
            </a:pPr>
            <a:r>
              <a:rPr dirty="0"/>
              <a:t>And that's just one rack!</a:t>
            </a:r>
          </a:p>
        </p:txBody>
      </p:sp>
      <p:sp>
        <p:nvSpPr>
          <p:cNvPr id="220" name="Slide Number Placeholder 3"/>
          <p:cNvSpPr txBox="1">
            <a:spLocks noGrp="1"/>
          </p:cNvSpPr>
          <p:nvPr>
            <p:ph type="sldNum" sz="quarter" idx="4294967295"/>
          </p:nvPr>
        </p:nvSpPr>
        <p:spPr>
          <a:xfrm>
            <a:off x="11083270" y="6404292"/>
            <a:ext cx="270531" cy="269241"/>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12</a:t>
            </a:fld>
            <a:endParaRPr/>
          </a:p>
        </p:txBody>
      </p:sp>
      <p:grpSp>
        <p:nvGrpSpPr>
          <p:cNvPr id="223" name="Group 7"/>
          <p:cNvGrpSpPr/>
          <p:nvPr/>
        </p:nvGrpSpPr>
        <p:grpSpPr>
          <a:xfrm>
            <a:off x="7068165" y="3759612"/>
            <a:ext cx="2007631" cy="981076"/>
            <a:chOff x="0" y="0"/>
            <a:chExt cx="2007630" cy="981075"/>
          </a:xfrm>
        </p:grpSpPr>
        <p:pic>
          <p:nvPicPr>
            <p:cNvPr id="221" name="Picture 5" descr="Picture 5"/>
            <p:cNvPicPr>
              <a:picLocks noChangeAspect="1"/>
            </p:cNvPicPr>
            <p:nvPr/>
          </p:nvPicPr>
          <p:blipFill>
            <a:blip r:embed="rId2">
              <a:extLst/>
            </a:blip>
            <a:stretch>
              <a:fillRect/>
            </a:stretch>
          </p:blipFill>
          <p:spPr>
            <a:xfrm>
              <a:off x="-1" y="-1"/>
              <a:ext cx="974579" cy="974579"/>
            </a:xfrm>
            <a:prstGeom prst="rect">
              <a:avLst/>
            </a:prstGeom>
            <a:ln w="12700" cap="flat">
              <a:noFill/>
              <a:miter lim="400000"/>
            </a:ln>
            <a:effectLst/>
          </p:spPr>
        </p:pic>
        <p:pic>
          <p:nvPicPr>
            <p:cNvPr id="222" name="Picture 6" descr="Picture 6"/>
            <p:cNvPicPr>
              <a:picLocks noChangeAspect="1"/>
            </p:cNvPicPr>
            <p:nvPr/>
          </p:nvPicPr>
          <p:blipFill>
            <a:blip r:embed="rId2">
              <a:extLst/>
            </a:blip>
            <a:stretch>
              <a:fillRect/>
            </a:stretch>
          </p:blipFill>
          <p:spPr>
            <a:xfrm>
              <a:off x="1033052" y="6497"/>
              <a:ext cx="974579" cy="974579"/>
            </a:xfrm>
            <a:prstGeom prst="rect">
              <a:avLst/>
            </a:prstGeom>
            <a:ln w="12700" cap="flat">
              <a:noFill/>
              <a:miter lim="400000"/>
            </a:ln>
            <a:effectLst/>
          </p:spPr>
        </p:pic>
      </p:grpSp>
      <p:pic>
        <p:nvPicPr>
          <p:cNvPr id="224" name="Picture 10" descr="Picture 10"/>
          <p:cNvPicPr>
            <a:picLocks noChangeAspect="1"/>
          </p:cNvPicPr>
          <p:nvPr/>
        </p:nvPicPr>
        <p:blipFill>
          <a:blip r:embed="rId2">
            <a:extLst/>
          </a:blip>
          <a:stretch>
            <a:fillRect/>
          </a:stretch>
        </p:blipFill>
        <p:spPr>
          <a:xfrm>
            <a:off x="9158493" y="3775632"/>
            <a:ext cx="974579" cy="974579"/>
          </a:xfrm>
          <a:prstGeom prst="rect">
            <a:avLst/>
          </a:prstGeom>
          <a:ln w="12700">
            <a:miter lim="400000"/>
          </a:ln>
        </p:spPr>
      </p:pic>
    </p:spTree>
    <p:extLst>
      <p:ext uri="{BB962C8B-B14F-4D97-AF65-F5344CB8AC3E}">
        <p14:creationId xmlns:p14="http://schemas.microsoft.com/office/powerpoint/2010/main" val="407061991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219">
                                            <p:bg/>
                                          </p:spTgt>
                                        </p:tgtEl>
                                        <p:attrNameLst>
                                          <p:attrName>style.visibility</p:attrName>
                                        </p:attrNameLst>
                                      </p:cBhvr>
                                      <p:to>
                                        <p:strVal val="visible"/>
                                      </p:to>
                                    </p:set>
                                  </p:childTnLst>
                                </p:cTn>
                              </p:par>
                              <p:par>
                                <p:cTn id="7" presetID="1" presetClass="entr" presetSubtype="0" fill="hold" grpId="0" nodeType="withEffect">
                                  <p:stCondLst>
                                    <p:cond delay="0"/>
                                  </p:stCondLst>
                                  <p:iterate>
                                    <p:tmAbs val="0"/>
                                  </p:iterate>
                                  <p:childTnLst>
                                    <p:set>
                                      <p:cBhvr>
                                        <p:cTn id="8" fill="hold"/>
                                        <p:tgtEl>
                                          <p:spTgt spid="219">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iterate>
                                    <p:tmAbs val="0"/>
                                  </p:iterate>
                                  <p:childTnLst>
                                    <p:set>
                                      <p:cBhvr>
                                        <p:cTn id="10" fill="hold"/>
                                        <p:tgtEl>
                                          <p:spTgt spid="219">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iterate>
                                    <p:tmAbs val="0"/>
                                  </p:iterate>
                                  <p:childTnLst>
                                    <p:set>
                                      <p:cBhvr>
                                        <p:cTn id="12" fill="hold"/>
                                        <p:tgtEl>
                                          <p:spTgt spid="219">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iterate>
                                    <p:tmAbs val="0"/>
                                  </p:iterate>
                                  <p:childTnLst>
                                    <p:set>
                                      <p:cBhvr>
                                        <p:cTn id="14" fill="hold"/>
                                        <p:tgtEl>
                                          <p:spTgt spid="219">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iterate>
                                    <p:tmAbs val="0"/>
                                  </p:iterate>
                                  <p:childTnLst>
                                    <p:set>
                                      <p:cBhvr>
                                        <p:cTn id="18" fill="hold"/>
                                        <p:tgtEl>
                                          <p:spTgt spid="219">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iterate>
                                    <p:tmAbs val="0"/>
                                  </p:iterate>
                                  <p:childTnLst>
                                    <p:set>
                                      <p:cBhvr>
                                        <p:cTn id="20" fill="hold"/>
                                        <p:tgtEl>
                                          <p:spTgt spid="219">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iterate>
                                    <p:tmAbs val="0"/>
                                  </p:iterate>
                                  <p:childTnLst>
                                    <p:set>
                                      <p:cBhvr>
                                        <p:cTn id="22" fill="hold"/>
                                        <p:tgtEl>
                                          <p:spTgt spid="219">
                                            <p:txEl>
                                              <p:pRg st="6" end="6"/>
                                            </p:txEl>
                                          </p:spTgt>
                                        </p:tgtEl>
                                        <p:attrNameLst>
                                          <p:attrName>style.visibility</p:attrName>
                                        </p:attrNameLst>
                                      </p:cBhvr>
                                      <p:to>
                                        <p:strVal val="visible"/>
                                      </p:to>
                                    </p:set>
                                  </p:childTnLst>
                                </p:cTn>
                              </p:par>
                            </p:childTnLst>
                          </p:cTn>
                        </p:par>
                        <p:par>
                          <p:cTn id="23" fill="hold">
                            <p:stCondLst>
                              <p:cond delay="0"/>
                            </p:stCondLst>
                            <p:childTnLst>
                              <p:par>
                                <p:cTn id="24" presetID="1" presetClass="entr" presetSubtype="0" fill="hold" grpId="0" nodeType="afterEffect">
                                  <p:stCondLst>
                                    <p:cond delay="0"/>
                                  </p:stCondLst>
                                  <p:iterate>
                                    <p:tmAbs val="0"/>
                                  </p:iterate>
                                  <p:childTnLst>
                                    <p:set>
                                      <p:cBhvr>
                                        <p:cTn id="25" fill="hold"/>
                                        <p:tgtEl>
                                          <p:spTgt spid="223"/>
                                        </p:tgtEl>
                                        <p:attrNameLst>
                                          <p:attrName>style.visibility</p:attrName>
                                        </p:attrNameLst>
                                      </p:cBhvr>
                                      <p:to>
                                        <p:strVal val="visible"/>
                                      </p:to>
                                    </p:set>
                                  </p:childTnLst>
                                </p:cTn>
                              </p:par>
                            </p:childTnLst>
                          </p:cTn>
                        </p:par>
                        <p:par>
                          <p:cTn id="26" fill="hold">
                            <p:stCondLst>
                              <p:cond delay="0"/>
                            </p:stCondLst>
                            <p:childTnLst>
                              <p:par>
                                <p:cTn id="27" presetID="1" presetClass="entr" presetSubtype="0" fill="hold" grpId="0" nodeType="afterEffect">
                                  <p:stCondLst>
                                    <p:cond delay="0"/>
                                  </p:stCondLst>
                                  <p:iterate>
                                    <p:tmAbs val="0"/>
                                  </p:iterate>
                                  <p:childTnLst>
                                    <p:set>
                                      <p:cBhvr>
                                        <p:cTn id="28" fill="hold"/>
                                        <p:tgtEl>
                                          <p:spTgt spid="2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9" grpId="0" build="p" animBg="1" advAuto="0"/>
      <p:bldP spid="223" grpId="0" animBg="1" advAuto="0"/>
      <p:bldP spid="224" grpId="0" animBg="1" advAuto="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 name="Title 1"/>
          <p:cNvSpPr txBox="1">
            <a:spLocks noGrp="1"/>
          </p:cNvSpPr>
          <p:nvPr>
            <p:ph type="title"/>
          </p:nvPr>
        </p:nvSpPr>
        <p:spPr>
          <a:xfrm>
            <a:off x="838200" y="365125"/>
            <a:ext cx="10515600" cy="1325563"/>
          </a:xfrm>
          <a:prstGeom prst="rect">
            <a:avLst/>
          </a:prstGeom>
        </p:spPr>
        <p:txBody>
          <a:bodyPr/>
          <a:lstStyle/>
          <a:p>
            <a:r>
              <a:t>Scaling up</a:t>
            </a:r>
          </a:p>
        </p:txBody>
      </p:sp>
      <p:sp>
        <p:nvSpPr>
          <p:cNvPr id="227" name="Content Placeholder 2"/>
          <p:cNvSpPr txBox="1">
            <a:spLocks noGrp="1"/>
          </p:cNvSpPr>
          <p:nvPr>
            <p:ph type="body" sz="quarter" idx="1"/>
          </p:nvPr>
        </p:nvSpPr>
        <p:spPr>
          <a:xfrm>
            <a:off x="2514600" y="4276726"/>
            <a:ext cx="7772400" cy="1743076"/>
          </a:xfrm>
          <a:prstGeom prst="rect">
            <a:avLst/>
          </a:prstGeom>
        </p:spPr>
        <p:txBody>
          <a:bodyPr/>
          <a:lstStyle/>
          <a:p>
            <a:pPr marL="219455" indent="-219455" defTabSz="877823">
              <a:lnSpc>
                <a:spcPct val="81000"/>
              </a:lnSpc>
              <a:spcBef>
                <a:spcPts val="900"/>
              </a:spcBef>
              <a:defRPr sz="2400"/>
            </a:pPr>
            <a:r>
              <a:t>What if your cluster is too big (hot, power hungry) to fit into your office building?</a:t>
            </a:r>
          </a:p>
          <a:p>
            <a:pPr marL="658368" lvl="1" indent="-219455" defTabSz="877823">
              <a:lnSpc>
                <a:spcPct val="81000"/>
              </a:lnSpc>
              <a:spcBef>
                <a:spcPts val="400"/>
              </a:spcBef>
              <a:defRPr sz="2112"/>
            </a:pPr>
            <a:r>
              <a:t>Build a separate building for the cluster</a:t>
            </a:r>
          </a:p>
          <a:p>
            <a:pPr marL="658368" lvl="1" indent="-219455" defTabSz="877823">
              <a:lnSpc>
                <a:spcPct val="81000"/>
              </a:lnSpc>
              <a:spcBef>
                <a:spcPts val="400"/>
              </a:spcBef>
              <a:defRPr sz="2112"/>
            </a:pPr>
            <a:r>
              <a:t>Building can have lots of cooling and power</a:t>
            </a:r>
          </a:p>
          <a:p>
            <a:pPr marL="658368" lvl="1" indent="-219455" defTabSz="877823">
              <a:lnSpc>
                <a:spcPct val="81000"/>
              </a:lnSpc>
              <a:spcBef>
                <a:spcPts val="400"/>
              </a:spcBef>
              <a:defRPr sz="2112"/>
            </a:pPr>
            <a:r>
              <a:t>Result: Data center</a:t>
            </a:r>
          </a:p>
        </p:txBody>
      </p:sp>
      <p:sp>
        <p:nvSpPr>
          <p:cNvPr id="228" name="Slide Number Placeholder 3"/>
          <p:cNvSpPr txBox="1">
            <a:spLocks noGrp="1"/>
          </p:cNvSpPr>
          <p:nvPr>
            <p:ph type="sldNum" sz="quarter" idx="4294967295"/>
          </p:nvPr>
        </p:nvSpPr>
        <p:spPr>
          <a:xfrm>
            <a:off x="11083270" y="6404292"/>
            <a:ext cx="270531" cy="269241"/>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13</a:t>
            </a:fld>
            <a:endParaRPr/>
          </a:p>
        </p:txBody>
      </p:sp>
      <p:pic>
        <p:nvPicPr>
          <p:cNvPr id="229" name="Picture 5" descr="Picture 5"/>
          <p:cNvPicPr>
            <a:picLocks noChangeAspect="1"/>
          </p:cNvPicPr>
          <p:nvPr/>
        </p:nvPicPr>
        <p:blipFill>
          <a:blip r:embed="rId2">
            <a:extLst/>
          </a:blip>
          <a:stretch>
            <a:fillRect/>
          </a:stretch>
        </p:blipFill>
        <p:spPr>
          <a:xfrm>
            <a:off x="3019425" y="2549218"/>
            <a:ext cx="723054" cy="855614"/>
          </a:xfrm>
          <a:prstGeom prst="rect">
            <a:avLst/>
          </a:prstGeom>
          <a:ln w="12700">
            <a:miter lim="400000"/>
          </a:ln>
        </p:spPr>
      </p:pic>
      <p:pic>
        <p:nvPicPr>
          <p:cNvPr id="230" name="Picture 6" descr="Picture 6"/>
          <p:cNvPicPr>
            <a:picLocks noChangeAspect="1"/>
          </p:cNvPicPr>
          <p:nvPr/>
        </p:nvPicPr>
        <p:blipFill>
          <a:blip r:embed="rId3">
            <a:extLst/>
          </a:blip>
          <a:stretch>
            <a:fillRect/>
          </a:stretch>
        </p:blipFill>
        <p:spPr>
          <a:xfrm flipH="1">
            <a:off x="4085690" y="2169523"/>
            <a:ext cx="1146303" cy="1254444"/>
          </a:xfrm>
          <a:prstGeom prst="rect">
            <a:avLst/>
          </a:prstGeom>
          <a:ln w="12700">
            <a:miter lim="400000"/>
          </a:ln>
        </p:spPr>
      </p:pic>
      <p:pic>
        <p:nvPicPr>
          <p:cNvPr id="231" name="Picture 7" descr="Picture 7"/>
          <p:cNvPicPr>
            <a:picLocks noChangeAspect="1"/>
          </p:cNvPicPr>
          <p:nvPr/>
        </p:nvPicPr>
        <p:blipFill>
          <a:blip r:embed="rId4">
            <a:extLst/>
          </a:blip>
          <a:stretch>
            <a:fillRect/>
          </a:stretch>
        </p:blipFill>
        <p:spPr>
          <a:xfrm flipH="1">
            <a:off x="5632570" y="1714410"/>
            <a:ext cx="1226459" cy="1706141"/>
          </a:xfrm>
          <a:prstGeom prst="rect">
            <a:avLst/>
          </a:prstGeom>
          <a:ln w="12700">
            <a:miter lim="400000"/>
          </a:ln>
        </p:spPr>
      </p:pic>
      <p:sp>
        <p:nvSpPr>
          <p:cNvPr id="232" name="TextBox 12"/>
          <p:cNvSpPr txBox="1"/>
          <p:nvPr/>
        </p:nvSpPr>
        <p:spPr>
          <a:xfrm>
            <a:off x="2933699" y="3543301"/>
            <a:ext cx="885826" cy="3073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spcBef>
                <a:spcPts val="300"/>
              </a:spcBef>
              <a:defRPr sz="1400">
                <a:latin typeface="Tahoma"/>
                <a:ea typeface="Tahoma"/>
                <a:cs typeface="Tahoma"/>
                <a:sym typeface="Tahoma"/>
              </a:defRPr>
            </a:lvl1pPr>
          </a:lstStyle>
          <a:p>
            <a:r>
              <a:t>PC</a:t>
            </a:r>
          </a:p>
        </p:txBody>
      </p:sp>
      <p:sp>
        <p:nvSpPr>
          <p:cNvPr id="233" name="TextBox 13"/>
          <p:cNvSpPr txBox="1"/>
          <p:nvPr/>
        </p:nvSpPr>
        <p:spPr>
          <a:xfrm>
            <a:off x="4086226" y="3524251"/>
            <a:ext cx="1133475" cy="3073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spcBef>
                <a:spcPts val="300"/>
              </a:spcBef>
              <a:defRPr sz="1400">
                <a:latin typeface="Tahoma"/>
                <a:ea typeface="Tahoma"/>
                <a:cs typeface="Tahoma"/>
                <a:sym typeface="Tahoma"/>
              </a:defRPr>
            </a:lvl1pPr>
          </a:lstStyle>
          <a:p>
            <a:r>
              <a:t>Server</a:t>
            </a:r>
          </a:p>
        </p:txBody>
      </p:sp>
      <p:sp>
        <p:nvSpPr>
          <p:cNvPr id="234" name="TextBox 14"/>
          <p:cNvSpPr txBox="1"/>
          <p:nvPr/>
        </p:nvSpPr>
        <p:spPr>
          <a:xfrm>
            <a:off x="5753100" y="3533776"/>
            <a:ext cx="1019175" cy="3073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spcBef>
                <a:spcPts val="300"/>
              </a:spcBef>
              <a:defRPr sz="1400">
                <a:latin typeface="Tahoma"/>
                <a:ea typeface="Tahoma"/>
                <a:cs typeface="Tahoma"/>
                <a:sym typeface="Tahoma"/>
              </a:defRPr>
            </a:lvl1pPr>
          </a:lstStyle>
          <a:p>
            <a:r>
              <a:t>Cluster</a:t>
            </a:r>
          </a:p>
        </p:txBody>
      </p:sp>
      <p:sp>
        <p:nvSpPr>
          <p:cNvPr id="235" name="TextBox 15"/>
          <p:cNvSpPr txBox="1"/>
          <p:nvPr/>
        </p:nvSpPr>
        <p:spPr>
          <a:xfrm>
            <a:off x="7991474" y="3533776"/>
            <a:ext cx="1190627" cy="3073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spcBef>
                <a:spcPts val="300"/>
              </a:spcBef>
              <a:defRPr sz="1400">
                <a:latin typeface="Tahoma"/>
                <a:ea typeface="Tahoma"/>
                <a:cs typeface="Tahoma"/>
                <a:sym typeface="Tahoma"/>
              </a:defRPr>
            </a:lvl1pPr>
          </a:lstStyle>
          <a:p>
            <a:r>
              <a:t>Data center</a:t>
            </a:r>
          </a:p>
        </p:txBody>
      </p:sp>
      <p:pic>
        <p:nvPicPr>
          <p:cNvPr id="236" name="Picture 17" descr="Picture 17"/>
          <p:cNvPicPr>
            <a:picLocks noChangeAspect="1"/>
          </p:cNvPicPr>
          <p:nvPr/>
        </p:nvPicPr>
        <p:blipFill>
          <a:blip r:embed="rId5">
            <a:extLst/>
          </a:blip>
          <a:stretch>
            <a:fillRect/>
          </a:stretch>
        </p:blipFill>
        <p:spPr>
          <a:xfrm>
            <a:off x="7396163" y="1285875"/>
            <a:ext cx="2276476" cy="2228850"/>
          </a:xfrm>
          <a:prstGeom prst="rect">
            <a:avLst/>
          </a:prstGeom>
          <a:ln w="12700">
            <a:miter lim="400000"/>
          </a:ln>
        </p:spPr>
      </p:pic>
    </p:spTree>
    <p:extLst>
      <p:ext uri="{BB962C8B-B14F-4D97-AF65-F5344CB8AC3E}">
        <p14:creationId xmlns:p14="http://schemas.microsoft.com/office/powerpoint/2010/main" val="381543568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227">
                                            <p:txEl>
                                              <p:pRg st="1" end="1"/>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iterate>
                                    <p:tmAbs val="0"/>
                                  </p:iterate>
                                  <p:childTnLst>
                                    <p:set>
                                      <p:cBhvr>
                                        <p:cTn id="9" fill="hold"/>
                                        <p:tgtEl>
                                          <p:spTgt spid="227">
                                            <p:txEl>
                                              <p:pRg st="2" end="2"/>
                                            </p:txEl>
                                          </p:spTgt>
                                        </p:tgtEl>
                                        <p:attrNameLst>
                                          <p:attrName>style.visibility</p:attrName>
                                        </p:attrNameLst>
                                      </p:cBhvr>
                                      <p:to>
                                        <p:strVal val="visible"/>
                                      </p:to>
                                    </p:set>
                                  </p:childTnLst>
                                </p:cTn>
                              </p:par>
                            </p:childTnLst>
                          </p:cTn>
                        </p:par>
                        <p:par>
                          <p:cTn id="10" fill="hold">
                            <p:stCondLst>
                              <p:cond delay="0"/>
                            </p:stCondLst>
                            <p:childTnLst>
                              <p:par>
                                <p:cTn id="11" presetID="1" presetClass="entr" presetSubtype="0" fill="hold" grpId="0" nodeType="afterEffect">
                                  <p:stCondLst>
                                    <p:cond delay="0"/>
                                  </p:stCondLst>
                                  <p:iterate>
                                    <p:tmAbs val="0"/>
                                  </p:iterate>
                                  <p:childTnLst>
                                    <p:set>
                                      <p:cBhvr>
                                        <p:cTn id="12" fill="hold"/>
                                        <p:tgtEl>
                                          <p:spTgt spid="227">
                                            <p:txEl>
                                              <p:pRg st="3" end="3"/>
                                            </p:txEl>
                                          </p:spTgt>
                                        </p:tgtEl>
                                        <p:attrNameLst>
                                          <p:attrName>style.visibility</p:attrName>
                                        </p:attrNameLst>
                                      </p:cBhvr>
                                      <p:to>
                                        <p:strVal val="visible"/>
                                      </p:to>
                                    </p:set>
                                  </p:childTnLst>
                                </p:cTn>
                              </p:par>
                            </p:childTnLst>
                          </p:cTn>
                        </p:par>
                        <p:par>
                          <p:cTn id="13" fill="hold">
                            <p:stCondLst>
                              <p:cond delay="0"/>
                            </p:stCondLst>
                            <p:childTnLst>
                              <p:par>
                                <p:cTn id="14" presetID="1" presetClass="entr" presetSubtype="0" fill="hold" grpId="0" nodeType="afterEffect">
                                  <p:stCondLst>
                                    <p:cond delay="0"/>
                                  </p:stCondLst>
                                  <p:iterate>
                                    <p:tmAbs val="0"/>
                                  </p:iterate>
                                  <p:childTnLst>
                                    <p:set>
                                      <p:cBhvr>
                                        <p:cTn id="15" fill="hold"/>
                                        <p:tgtEl>
                                          <p:spTgt spid="235"/>
                                        </p:tgtEl>
                                        <p:attrNameLst>
                                          <p:attrName>style.visibility</p:attrName>
                                        </p:attrNameLst>
                                      </p:cBhvr>
                                      <p:to>
                                        <p:strVal val="visible"/>
                                      </p:to>
                                    </p:set>
                                  </p:childTnLst>
                                </p:cTn>
                              </p:par>
                            </p:childTnLst>
                          </p:cTn>
                        </p:par>
                        <p:par>
                          <p:cTn id="16" fill="hold">
                            <p:stCondLst>
                              <p:cond delay="0"/>
                            </p:stCondLst>
                            <p:childTnLst>
                              <p:par>
                                <p:cTn id="17" presetID="1" presetClass="entr" presetSubtype="0" fill="hold" grpId="0" nodeType="afterEffect">
                                  <p:stCondLst>
                                    <p:cond delay="0"/>
                                  </p:stCondLst>
                                  <p:iterate>
                                    <p:tmAbs val="0"/>
                                  </p:iterate>
                                  <p:childTnLst>
                                    <p:set>
                                      <p:cBhvr>
                                        <p:cTn id="18" fill="hold"/>
                                        <p:tgtEl>
                                          <p:spTgt spid="2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7" grpId="0" build="p" bldLvl="5" animBg="1" advAuto="0"/>
      <p:bldP spid="235" grpId="0" animBg="1" advAuto="0"/>
      <p:bldP spid="236" grpId="0" animBg="1" advAuto="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Scaling the Cloud</a:t>
            </a:r>
            <a:endParaRPr lang="en-GB" dirty="0"/>
          </a:p>
        </p:txBody>
      </p:sp>
      <p:sp>
        <p:nvSpPr>
          <p:cNvPr id="3" name="Content Placeholder 2"/>
          <p:cNvSpPr>
            <a:spLocks noGrp="1"/>
          </p:cNvSpPr>
          <p:nvPr>
            <p:ph idx="1"/>
          </p:nvPr>
        </p:nvSpPr>
        <p:spPr/>
        <p:txBody>
          <a:bodyPr/>
          <a:lstStyle/>
          <a:p>
            <a:endParaRPr lang="en-GB"/>
          </a:p>
        </p:txBody>
      </p:sp>
      <p:sp>
        <p:nvSpPr>
          <p:cNvPr id="4" name="Date Placeholder 3"/>
          <p:cNvSpPr>
            <a:spLocks noGrp="1"/>
          </p:cNvSpPr>
          <p:nvPr>
            <p:ph type="dt" sz="half" idx="10"/>
          </p:nvPr>
        </p:nvSpPr>
        <p:spPr/>
        <p:txBody>
          <a:bodyPr/>
          <a:lstStyle/>
          <a:p>
            <a:fld id="{FD373E26-AE59-49D1-BE1A-5923DE0A1969}" type="datetime1">
              <a:rPr lang="en-US" smtClean="0"/>
              <a:t>5/9/2026</a:t>
            </a:fld>
            <a:endParaRPr lang="en-US"/>
          </a:p>
        </p:txBody>
      </p:sp>
      <p:sp>
        <p:nvSpPr>
          <p:cNvPr id="5" name="Footer Placeholder 4"/>
          <p:cNvSpPr>
            <a:spLocks noGrp="1"/>
          </p:cNvSpPr>
          <p:nvPr>
            <p:ph type="ftr" sz="quarter" idx="11"/>
          </p:nvPr>
        </p:nvSpPr>
        <p:spPr/>
        <p:txBody>
          <a:bodyPr/>
          <a:lstStyle/>
          <a:p>
            <a:r>
              <a:rPr lang="en-US" smtClean="0"/>
              <a:t>Robert Agboyi</a:t>
            </a:r>
            <a:endParaRPr lang="en-US"/>
          </a:p>
        </p:txBody>
      </p:sp>
      <p:sp>
        <p:nvSpPr>
          <p:cNvPr id="6" name="Slide Number Placeholder 5"/>
          <p:cNvSpPr>
            <a:spLocks noGrp="1"/>
          </p:cNvSpPr>
          <p:nvPr>
            <p:ph type="sldNum" sz="quarter" idx="12"/>
          </p:nvPr>
        </p:nvSpPr>
        <p:spPr/>
        <p:txBody>
          <a:bodyPr/>
          <a:lstStyle/>
          <a:p>
            <a:fld id="{425FABBE-56DF-43E0-A033-9B2FCA448362}" type="slidenum">
              <a:rPr lang="en-US" smtClean="0"/>
              <a:t>14</a:t>
            </a:fld>
            <a:endParaRPr lang="en-US"/>
          </a:p>
        </p:txBody>
      </p:sp>
      <p:pic>
        <p:nvPicPr>
          <p:cNvPr id="7" name="Picture 6">
            <a:extLst>
              <a:ext uri="{FF2B5EF4-FFF2-40B4-BE49-F238E27FC236}">
                <a16:creationId xmlns="" xmlns:wpc="http://schemas.microsoft.com/office/word/2010/wordprocessingCanva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mc="http://schemas.openxmlformats.org/markup-compatibility/2006" xmlns:aink="http://schemas.microsoft.com/office/drawing/2016/ink" xmlns:am3d="http://schemas.microsoft.com/office/drawing/2017/model3d" xmlns:o="urn:schemas-microsoft-com:office:office" xmlns:oel="http://schemas.microsoft.com/office/2019/extlst" xmlns:m="http://schemas.openxmlformats.org/officeDocument/2006/math"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15="http://schemas.microsoft.com/office/word/2012/wordml" xmlns:w16cex="http://schemas.microsoft.com/office/word/2018/wordml/cex" xmlns:w16cid="http://schemas.microsoft.com/office/word/2016/wordml/cid" xmlns:w16="http://schemas.microsoft.com/office/word/2018/wordml" xmlns:w16du="http://schemas.microsoft.com/office/word/2023/wordml/word16du" xmlns:w16sdtdh="http://schemas.microsoft.com/office/word/2020/wordml/sdtdatahash" xmlns:w16se="http://schemas.microsoft.com/office/word/2015/wordml/symex" xmlns:wpg="http://schemas.microsoft.com/office/word/2010/wordprocessingGroup" xmlns:wpi="http://schemas.microsoft.com/office/word/2010/wordprocessingInk" xmlns:wne="http://schemas.microsoft.com/office/word/2006/wordml" xmlns:wps="http://schemas.microsoft.com/office/word/2010/wordprocessingShape" xmlns:a16="http://schemas.microsoft.com/office/drawing/2014/main" xmlns:lc="http://schemas.openxmlformats.org/drawingml/2006/lockedCanvas" id="{F720BA76-61A0-ADC7-6D8A-3EAA5D61D7F7}"/>
              </a:ext>
            </a:extLst>
          </p:cNvPr>
          <p:cNvPicPr/>
          <p:nvPr/>
        </p:nvPicPr>
        <p:blipFill rotWithShape="1">
          <a:blip r:embed="rId3">
            <a:extLst>
              <a:ext uri="{28A0092B-C50C-407E-A947-70E740481C1C}">
                <a14:useLocalDpi xmlns:a14="http://schemas.microsoft.com/office/drawing/2010/main" val="0"/>
              </a:ext>
            </a:extLst>
          </a:blip>
          <a:srcRect l="8511" t="21490" r="6995" b="7593"/>
          <a:stretch/>
        </p:blipFill>
        <p:spPr>
          <a:xfrm>
            <a:off x="441960" y="1825625"/>
            <a:ext cx="11353800" cy="5211762"/>
          </a:xfrm>
          <a:prstGeom prst="rect">
            <a:avLst/>
          </a:prstGeom>
          <a:ln w="3175">
            <a:solidFill>
              <a:schemeClr val="tx1"/>
            </a:solidFill>
          </a:ln>
        </p:spPr>
      </p:pic>
    </p:spTree>
    <p:extLst>
      <p:ext uri="{BB962C8B-B14F-4D97-AF65-F5344CB8AC3E}">
        <p14:creationId xmlns:p14="http://schemas.microsoft.com/office/powerpoint/2010/main" val="341021749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 name="Title 1"/>
          <p:cNvSpPr txBox="1">
            <a:spLocks noGrp="1"/>
          </p:cNvSpPr>
          <p:nvPr>
            <p:ph type="title"/>
          </p:nvPr>
        </p:nvSpPr>
        <p:spPr>
          <a:xfrm>
            <a:off x="838200" y="365125"/>
            <a:ext cx="10515600" cy="1325563"/>
          </a:xfrm>
          <a:prstGeom prst="rect">
            <a:avLst/>
          </a:prstGeom>
        </p:spPr>
        <p:txBody>
          <a:bodyPr/>
          <a:lstStyle/>
          <a:p>
            <a:r>
              <a:t>What does a data center look like?</a:t>
            </a:r>
          </a:p>
        </p:txBody>
      </p:sp>
      <p:sp>
        <p:nvSpPr>
          <p:cNvPr id="239" name="Content Placeholder 2"/>
          <p:cNvSpPr txBox="1">
            <a:spLocks noGrp="1"/>
          </p:cNvSpPr>
          <p:nvPr>
            <p:ph type="body" sz="quarter" idx="1"/>
          </p:nvPr>
        </p:nvSpPr>
        <p:spPr>
          <a:xfrm>
            <a:off x="1355725" y="4953000"/>
            <a:ext cx="10105133" cy="1238250"/>
          </a:xfrm>
          <a:prstGeom prst="rect">
            <a:avLst/>
          </a:prstGeom>
        </p:spPr>
        <p:txBody>
          <a:bodyPr/>
          <a:lstStyle>
            <a:lvl1pPr marL="226313" indent="-226313" defTabSz="905255">
              <a:spcBef>
                <a:spcPts val="900"/>
              </a:spcBef>
              <a:defRPr sz="2772"/>
            </a:lvl1pPr>
            <a:lvl2pPr marL="678941" indent="-226313" defTabSz="905255">
              <a:spcBef>
                <a:spcPts val="400"/>
              </a:spcBef>
              <a:defRPr sz="2376"/>
            </a:lvl2pPr>
          </a:lstStyle>
          <a:p>
            <a:r>
              <a:t>A warehouse-sized computer</a:t>
            </a:r>
          </a:p>
          <a:p>
            <a:pPr lvl="1"/>
            <a:r>
              <a:t>A single data center can easily contain 10,000 racks with 100 cores in each rack (1,000,000 cores total)</a:t>
            </a:r>
          </a:p>
        </p:txBody>
      </p:sp>
      <p:sp>
        <p:nvSpPr>
          <p:cNvPr id="240" name="Slide Number Placeholder 3"/>
          <p:cNvSpPr txBox="1">
            <a:spLocks noGrp="1"/>
          </p:cNvSpPr>
          <p:nvPr>
            <p:ph type="sldNum" sz="quarter" idx="4294967295"/>
          </p:nvPr>
        </p:nvSpPr>
        <p:spPr>
          <a:xfrm>
            <a:off x="11083270" y="6404292"/>
            <a:ext cx="270531" cy="269241"/>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15</a:t>
            </a:fld>
            <a:endParaRPr/>
          </a:p>
        </p:txBody>
      </p:sp>
      <p:sp>
        <p:nvSpPr>
          <p:cNvPr id="241" name="TextBox 6"/>
          <p:cNvSpPr txBox="1"/>
          <p:nvPr/>
        </p:nvSpPr>
        <p:spPr>
          <a:xfrm>
            <a:off x="6239183" y="4238626"/>
            <a:ext cx="2889236" cy="2692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spcBef>
                <a:spcPts val="200"/>
              </a:spcBef>
              <a:defRPr sz="1200">
                <a:latin typeface="Tahoma"/>
                <a:ea typeface="Tahoma"/>
                <a:cs typeface="Tahoma"/>
                <a:sym typeface="Tahoma"/>
              </a:defRPr>
            </a:lvl1pPr>
          </a:lstStyle>
          <a:p>
            <a:r>
              <a:t>Google data center in The Dalles, Oregon</a:t>
            </a:r>
          </a:p>
        </p:txBody>
      </p:sp>
      <p:pic>
        <p:nvPicPr>
          <p:cNvPr id="242" name="Picture 7" descr="Picture 7"/>
          <p:cNvPicPr>
            <a:picLocks noChangeAspect="1"/>
          </p:cNvPicPr>
          <p:nvPr/>
        </p:nvPicPr>
        <p:blipFill>
          <a:blip r:embed="rId2">
            <a:extLst/>
          </a:blip>
          <a:stretch>
            <a:fillRect/>
          </a:stretch>
        </p:blipFill>
        <p:spPr>
          <a:xfrm>
            <a:off x="3467100" y="2019300"/>
            <a:ext cx="5715000" cy="2247900"/>
          </a:xfrm>
          <a:prstGeom prst="rect">
            <a:avLst/>
          </a:prstGeom>
          <a:ln w="12700">
            <a:miter lim="400000"/>
          </a:ln>
        </p:spPr>
      </p:pic>
      <p:sp>
        <p:nvSpPr>
          <p:cNvPr id="243" name="TextBox 8"/>
          <p:cNvSpPr txBox="1"/>
          <p:nvPr/>
        </p:nvSpPr>
        <p:spPr>
          <a:xfrm>
            <a:off x="2002051" y="2162175"/>
            <a:ext cx="1286034" cy="8153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p>
            <a:pPr>
              <a:spcBef>
                <a:spcPts val="300"/>
              </a:spcBef>
              <a:defRPr sz="1600">
                <a:latin typeface="Tahoma"/>
                <a:ea typeface="Tahoma"/>
                <a:cs typeface="Tahoma"/>
                <a:sym typeface="Tahoma"/>
              </a:defRPr>
            </a:pPr>
            <a:r>
              <a:t>Data centers</a:t>
            </a:r>
            <a:br/>
            <a:r>
              <a:t>(size of a </a:t>
            </a:r>
            <a:br/>
            <a:r>
              <a:t>football field)</a:t>
            </a:r>
          </a:p>
        </p:txBody>
      </p:sp>
      <p:sp>
        <p:nvSpPr>
          <p:cNvPr id="244" name="TextBox 9"/>
          <p:cNvSpPr txBox="1"/>
          <p:nvPr/>
        </p:nvSpPr>
        <p:spPr>
          <a:xfrm>
            <a:off x="6729527" y="1343025"/>
            <a:ext cx="765533" cy="5740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p>
            <a:pPr>
              <a:spcBef>
                <a:spcPts val="300"/>
              </a:spcBef>
              <a:defRPr sz="1600">
                <a:latin typeface="Tahoma"/>
                <a:ea typeface="Tahoma"/>
                <a:cs typeface="Tahoma"/>
                <a:sym typeface="Tahoma"/>
              </a:defRPr>
            </a:pPr>
            <a:r>
              <a:t>Cooling</a:t>
            </a:r>
            <a:br/>
            <a:r>
              <a:t>plant</a:t>
            </a:r>
          </a:p>
        </p:txBody>
      </p:sp>
      <p:sp>
        <p:nvSpPr>
          <p:cNvPr id="245" name="Straight Arrow Connector 11"/>
          <p:cNvSpPr/>
          <p:nvPr/>
        </p:nvSpPr>
        <p:spPr>
          <a:xfrm>
            <a:off x="3334615" y="2577674"/>
            <a:ext cx="2418485" cy="413177"/>
          </a:xfrm>
          <a:prstGeom prst="line">
            <a:avLst/>
          </a:prstGeom>
          <a:ln w="19050">
            <a:solidFill>
              <a:srgbClr val="FF0000"/>
            </a:solidFill>
            <a:tailEnd type="triangle"/>
          </a:ln>
        </p:spPr>
        <p:txBody>
          <a:bodyPr lIns="45719" rIns="45719"/>
          <a:lstStyle/>
          <a:p>
            <a:endParaRPr/>
          </a:p>
        </p:txBody>
      </p:sp>
      <p:sp>
        <p:nvSpPr>
          <p:cNvPr id="246" name="Straight Arrow Connector 13"/>
          <p:cNvSpPr/>
          <p:nvPr/>
        </p:nvSpPr>
        <p:spPr>
          <a:xfrm>
            <a:off x="3305174" y="2724150"/>
            <a:ext cx="1123952" cy="838201"/>
          </a:xfrm>
          <a:prstGeom prst="line">
            <a:avLst/>
          </a:prstGeom>
          <a:ln w="19050">
            <a:solidFill>
              <a:srgbClr val="FF0000"/>
            </a:solidFill>
            <a:tailEnd type="triangle"/>
          </a:ln>
        </p:spPr>
        <p:txBody>
          <a:bodyPr lIns="45719" rIns="45719"/>
          <a:lstStyle/>
          <a:p>
            <a:endParaRPr/>
          </a:p>
        </p:txBody>
      </p:sp>
      <p:sp>
        <p:nvSpPr>
          <p:cNvPr id="247" name="Straight Arrow Connector 15"/>
          <p:cNvSpPr/>
          <p:nvPr/>
        </p:nvSpPr>
        <p:spPr>
          <a:xfrm flipH="1">
            <a:off x="6772276" y="1924049"/>
            <a:ext cx="171451" cy="904876"/>
          </a:xfrm>
          <a:prstGeom prst="line">
            <a:avLst/>
          </a:prstGeom>
          <a:ln w="19050">
            <a:solidFill>
              <a:srgbClr val="FF0000"/>
            </a:solidFill>
            <a:tailEnd type="triangle"/>
          </a:ln>
        </p:spPr>
        <p:txBody>
          <a:bodyPr lIns="45719" rIns="45719"/>
          <a:lstStyle/>
          <a:p>
            <a:endParaRPr/>
          </a:p>
        </p:txBody>
      </p:sp>
      <p:pic>
        <p:nvPicPr>
          <p:cNvPr id="248" name="Picture 12" descr="Picture 12"/>
          <p:cNvPicPr>
            <a:picLocks noChangeAspect="1"/>
          </p:cNvPicPr>
          <p:nvPr/>
        </p:nvPicPr>
        <p:blipFill>
          <a:blip r:embed="rId3">
            <a:extLst/>
          </a:blip>
          <a:stretch>
            <a:fillRect/>
          </a:stretch>
        </p:blipFill>
        <p:spPr>
          <a:xfrm>
            <a:off x="9361115" y="389826"/>
            <a:ext cx="2630769" cy="1977231"/>
          </a:xfrm>
          <a:prstGeom prst="rect">
            <a:avLst/>
          </a:prstGeom>
          <a:ln w="12700">
            <a:miter lim="400000"/>
          </a:ln>
        </p:spPr>
      </p:pic>
    </p:spTree>
    <p:extLst>
      <p:ext uri="{BB962C8B-B14F-4D97-AF65-F5344CB8AC3E}">
        <p14:creationId xmlns:p14="http://schemas.microsoft.com/office/powerpoint/2010/main" val="56809928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23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p:tmAbs val="0"/>
                                  </p:iterate>
                                  <p:childTnLst>
                                    <p:set>
                                      <p:cBhvr>
                                        <p:cTn id="10" fill="hold"/>
                                        <p:tgtEl>
                                          <p:spTgt spid="243"/>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grpId="0" nodeType="afterEffect">
                                  <p:stCondLst>
                                    <p:cond delay="0"/>
                                  </p:stCondLst>
                                  <p:iterate>
                                    <p:tmAbs val="0"/>
                                  </p:iterate>
                                  <p:childTnLst>
                                    <p:set>
                                      <p:cBhvr>
                                        <p:cTn id="13" fill="hold"/>
                                        <p:tgtEl>
                                          <p:spTgt spid="246"/>
                                        </p:tgtEl>
                                        <p:attrNameLst>
                                          <p:attrName>style.visibility</p:attrName>
                                        </p:attrNameLst>
                                      </p:cBhvr>
                                      <p:to>
                                        <p:strVal val="visible"/>
                                      </p:to>
                                    </p:set>
                                  </p:childTnLst>
                                </p:cTn>
                              </p:par>
                            </p:childTnLst>
                          </p:cTn>
                        </p:par>
                        <p:par>
                          <p:cTn id="14" fill="hold">
                            <p:stCondLst>
                              <p:cond delay="0"/>
                            </p:stCondLst>
                            <p:childTnLst>
                              <p:par>
                                <p:cTn id="15" presetID="1" presetClass="entr" presetSubtype="0" fill="hold" grpId="0" nodeType="afterEffect">
                                  <p:stCondLst>
                                    <p:cond delay="0"/>
                                  </p:stCondLst>
                                  <p:iterate>
                                    <p:tmAbs val="0"/>
                                  </p:iterate>
                                  <p:childTnLst>
                                    <p:set>
                                      <p:cBhvr>
                                        <p:cTn id="16" fill="hold"/>
                                        <p:tgtEl>
                                          <p:spTgt spid="24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iterate>
                                    <p:tmAbs val="0"/>
                                  </p:iterate>
                                  <p:childTnLst>
                                    <p:set>
                                      <p:cBhvr>
                                        <p:cTn id="20" fill="hold"/>
                                        <p:tgtEl>
                                          <p:spTgt spid="244"/>
                                        </p:tgtEl>
                                        <p:attrNameLst>
                                          <p:attrName>style.visibility</p:attrName>
                                        </p:attrNameLst>
                                      </p:cBhvr>
                                      <p:to>
                                        <p:strVal val="visible"/>
                                      </p:to>
                                    </p:set>
                                  </p:childTnLst>
                                </p:cTn>
                              </p:par>
                            </p:childTnLst>
                          </p:cTn>
                        </p:par>
                        <p:par>
                          <p:cTn id="21" fill="hold">
                            <p:stCondLst>
                              <p:cond delay="0"/>
                            </p:stCondLst>
                            <p:childTnLst>
                              <p:par>
                                <p:cTn id="22" presetID="1" presetClass="entr" presetSubtype="0" fill="hold" grpId="0" nodeType="afterEffect">
                                  <p:stCondLst>
                                    <p:cond delay="0"/>
                                  </p:stCondLst>
                                  <p:iterate>
                                    <p:tmAbs val="0"/>
                                  </p:iterate>
                                  <p:childTnLst>
                                    <p:set>
                                      <p:cBhvr>
                                        <p:cTn id="23" fill="hold"/>
                                        <p:tgtEl>
                                          <p:spTgt spid="247"/>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iterate>
                                    <p:tmAbs val="0"/>
                                  </p:iterate>
                                  <p:childTnLst>
                                    <p:set>
                                      <p:cBhvr>
                                        <p:cTn id="27" fill="hold"/>
                                        <p:tgtEl>
                                          <p:spTgt spid="2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9" grpId="0" animBg="1" advAuto="0"/>
      <p:bldP spid="243" grpId="0" animBg="1" advAuto="0"/>
      <p:bldP spid="244" grpId="0" animBg="1" advAuto="0"/>
      <p:bldP spid="245" grpId="0" animBg="1" advAuto="0"/>
      <p:bldP spid="246" grpId="0" animBg="1" advAuto="0"/>
      <p:bldP spid="247" grpId="0" animBg="1" advAuto="0"/>
      <p:bldP spid="248" grpId="0" animBg="1" advAuto="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 name="Title 1"/>
          <p:cNvSpPr txBox="1">
            <a:spLocks noGrp="1"/>
          </p:cNvSpPr>
          <p:nvPr>
            <p:ph type="title"/>
          </p:nvPr>
        </p:nvSpPr>
        <p:spPr>
          <a:xfrm>
            <a:off x="838200" y="365125"/>
            <a:ext cx="10515600" cy="1325563"/>
          </a:xfrm>
          <a:prstGeom prst="rect">
            <a:avLst/>
          </a:prstGeom>
        </p:spPr>
        <p:txBody>
          <a:bodyPr/>
          <a:lstStyle/>
          <a:p>
            <a:r>
              <a:t>What's in a data center?</a:t>
            </a:r>
          </a:p>
        </p:txBody>
      </p:sp>
      <p:sp>
        <p:nvSpPr>
          <p:cNvPr id="251" name="Content Placeholder 24"/>
          <p:cNvSpPr txBox="1">
            <a:spLocks noGrp="1"/>
          </p:cNvSpPr>
          <p:nvPr>
            <p:ph type="body" sz="quarter" idx="1"/>
          </p:nvPr>
        </p:nvSpPr>
        <p:spPr>
          <a:xfrm>
            <a:off x="2514600" y="5353050"/>
            <a:ext cx="7772400" cy="838200"/>
          </a:xfrm>
          <a:prstGeom prst="rect">
            <a:avLst/>
          </a:prstGeom>
        </p:spPr>
        <p:txBody>
          <a:bodyPr/>
          <a:lstStyle/>
          <a:p>
            <a:r>
              <a:t>Hundreds or thousands of racks</a:t>
            </a:r>
          </a:p>
        </p:txBody>
      </p:sp>
      <p:sp>
        <p:nvSpPr>
          <p:cNvPr id="252" name="Slide Number Placeholder 3"/>
          <p:cNvSpPr txBox="1">
            <a:spLocks noGrp="1"/>
          </p:cNvSpPr>
          <p:nvPr>
            <p:ph type="sldNum" sz="quarter" idx="4294967295"/>
          </p:nvPr>
        </p:nvSpPr>
        <p:spPr>
          <a:xfrm>
            <a:off x="11083270" y="6404292"/>
            <a:ext cx="270531" cy="269241"/>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16</a:t>
            </a:fld>
            <a:endParaRPr/>
          </a:p>
        </p:txBody>
      </p:sp>
      <p:pic>
        <p:nvPicPr>
          <p:cNvPr id="253" name="Picture 27" descr="Picture 27"/>
          <p:cNvPicPr>
            <a:picLocks noChangeAspect="1"/>
          </p:cNvPicPr>
          <p:nvPr/>
        </p:nvPicPr>
        <p:blipFill>
          <a:blip r:embed="rId2">
            <a:extLst/>
          </a:blip>
          <a:stretch>
            <a:fillRect/>
          </a:stretch>
        </p:blipFill>
        <p:spPr>
          <a:xfrm>
            <a:off x="2647950" y="1557480"/>
            <a:ext cx="4848225" cy="3224071"/>
          </a:xfrm>
          <a:prstGeom prst="rect">
            <a:avLst/>
          </a:prstGeom>
          <a:ln w="12700">
            <a:miter lim="400000"/>
          </a:ln>
        </p:spPr>
      </p:pic>
      <p:pic>
        <p:nvPicPr>
          <p:cNvPr id="254" name="Picture 30" descr="Picture 30"/>
          <p:cNvPicPr>
            <a:picLocks noChangeAspect="1"/>
          </p:cNvPicPr>
          <p:nvPr/>
        </p:nvPicPr>
        <p:blipFill>
          <a:blip r:embed="rId3">
            <a:extLst/>
          </a:blip>
          <a:stretch>
            <a:fillRect/>
          </a:stretch>
        </p:blipFill>
        <p:spPr>
          <a:xfrm>
            <a:off x="7868477" y="1543050"/>
            <a:ext cx="2070654" cy="3238501"/>
          </a:xfrm>
          <a:prstGeom prst="rect">
            <a:avLst/>
          </a:prstGeom>
          <a:ln w="12700">
            <a:miter lim="400000"/>
          </a:ln>
        </p:spPr>
      </p:pic>
      <p:sp>
        <p:nvSpPr>
          <p:cNvPr id="255" name="TextBox 32"/>
          <p:cNvSpPr txBox="1"/>
          <p:nvPr/>
        </p:nvSpPr>
        <p:spPr>
          <a:xfrm>
            <a:off x="9008307" y="4762501"/>
            <a:ext cx="932369" cy="2692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spcBef>
                <a:spcPts val="200"/>
              </a:spcBef>
              <a:defRPr sz="1200">
                <a:latin typeface="Tahoma"/>
                <a:ea typeface="Tahoma"/>
                <a:cs typeface="Tahoma"/>
                <a:sym typeface="Tahoma"/>
              </a:defRPr>
            </a:lvl1pPr>
          </a:lstStyle>
          <a:p>
            <a:r>
              <a:t>Source: 1&amp;1</a:t>
            </a:r>
          </a:p>
        </p:txBody>
      </p:sp>
    </p:spTree>
    <p:extLst>
      <p:ext uri="{BB962C8B-B14F-4D97-AF65-F5344CB8AC3E}">
        <p14:creationId xmlns:p14="http://schemas.microsoft.com/office/powerpoint/2010/main" val="357117645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 name="Title 1"/>
          <p:cNvSpPr txBox="1">
            <a:spLocks noGrp="1"/>
          </p:cNvSpPr>
          <p:nvPr>
            <p:ph type="title"/>
          </p:nvPr>
        </p:nvSpPr>
        <p:spPr>
          <a:xfrm>
            <a:off x="838200" y="365125"/>
            <a:ext cx="10515600" cy="1325563"/>
          </a:xfrm>
          <a:prstGeom prst="rect">
            <a:avLst/>
          </a:prstGeom>
        </p:spPr>
        <p:txBody>
          <a:bodyPr/>
          <a:lstStyle/>
          <a:p>
            <a:r>
              <a:t>What's in a data center?</a:t>
            </a:r>
          </a:p>
        </p:txBody>
      </p:sp>
      <p:sp>
        <p:nvSpPr>
          <p:cNvPr id="258" name="Content Placeholder 24"/>
          <p:cNvSpPr txBox="1">
            <a:spLocks noGrp="1"/>
          </p:cNvSpPr>
          <p:nvPr>
            <p:ph type="body" sz="quarter" idx="1"/>
          </p:nvPr>
        </p:nvSpPr>
        <p:spPr>
          <a:xfrm>
            <a:off x="2514600" y="5257800"/>
            <a:ext cx="7772400" cy="933450"/>
          </a:xfrm>
          <a:prstGeom prst="rect">
            <a:avLst/>
          </a:prstGeom>
        </p:spPr>
        <p:txBody>
          <a:bodyPr/>
          <a:lstStyle/>
          <a:p>
            <a:r>
              <a:t>Massive networking</a:t>
            </a:r>
          </a:p>
        </p:txBody>
      </p:sp>
      <p:sp>
        <p:nvSpPr>
          <p:cNvPr id="259" name="Slide Number Placeholder 3"/>
          <p:cNvSpPr txBox="1">
            <a:spLocks noGrp="1"/>
          </p:cNvSpPr>
          <p:nvPr>
            <p:ph type="sldNum" sz="quarter" idx="4294967295"/>
          </p:nvPr>
        </p:nvSpPr>
        <p:spPr>
          <a:xfrm>
            <a:off x="11083270" y="6404292"/>
            <a:ext cx="270531" cy="269241"/>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17</a:t>
            </a:fld>
            <a:endParaRPr/>
          </a:p>
        </p:txBody>
      </p:sp>
      <p:sp>
        <p:nvSpPr>
          <p:cNvPr id="260" name="TextBox 32"/>
          <p:cNvSpPr txBox="1"/>
          <p:nvPr/>
        </p:nvSpPr>
        <p:spPr>
          <a:xfrm>
            <a:off x="8465382" y="4400551"/>
            <a:ext cx="932369" cy="2692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spcBef>
                <a:spcPts val="200"/>
              </a:spcBef>
              <a:defRPr sz="1200">
                <a:latin typeface="Tahoma"/>
                <a:ea typeface="Tahoma"/>
                <a:cs typeface="Tahoma"/>
                <a:sym typeface="Tahoma"/>
              </a:defRPr>
            </a:lvl1pPr>
          </a:lstStyle>
          <a:p>
            <a:r>
              <a:t>Source: 1&amp;1</a:t>
            </a:r>
          </a:p>
        </p:txBody>
      </p:sp>
      <p:pic>
        <p:nvPicPr>
          <p:cNvPr id="261" name="Picture 8" descr="Picture 8"/>
          <p:cNvPicPr>
            <a:picLocks noChangeAspect="1"/>
          </p:cNvPicPr>
          <p:nvPr/>
        </p:nvPicPr>
        <p:blipFill>
          <a:blip r:embed="rId2">
            <a:extLst/>
          </a:blip>
          <a:stretch>
            <a:fillRect/>
          </a:stretch>
        </p:blipFill>
        <p:spPr>
          <a:xfrm>
            <a:off x="3705226" y="1800224"/>
            <a:ext cx="3438524" cy="2578894"/>
          </a:xfrm>
          <a:prstGeom prst="rect">
            <a:avLst/>
          </a:prstGeom>
          <a:ln w="12700">
            <a:miter lim="400000"/>
          </a:ln>
        </p:spPr>
      </p:pic>
      <p:pic>
        <p:nvPicPr>
          <p:cNvPr id="262" name="Picture 11" descr="Picture 11"/>
          <p:cNvPicPr>
            <a:picLocks noChangeAspect="1"/>
          </p:cNvPicPr>
          <p:nvPr/>
        </p:nvPicPr>
        <p:blipFill>
          <a:blip r:embed="rId3">
            <a:extLst/>
          </a:blip>
          <a:stretch>
            <a:fillRect/>
          </a:stretch>
        </p:blipFill>
        <p:spPr>
          <a:xfrm>
            <a:off x="7472156" y="1781175"/>
            <a:ext cx="1967120" cy="2624138"/>
          </a:xfrm>
          <a:prstGeom prst="rect">
            <a:avLst/>
          </a:prstGeom>
          <a:ln w="12700">
            <a:miter lim="400000"/>
          </a:ln>
        </p:spPr>
      </p:pic>
    </p:spTree>
    <p:extLst>
      <p:ext uri="{BB962C8B-B14F-4D97-AF65-F5344CB8AC3E}">
        <p14:creationId xmlns:p14="http://schemas.microsoft.com/office/powerpoint/2010/main" val="174620247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 name="Title 1"/>
          <p:cNvSpPr txBox="1">
            <a:spLocks noGrp="1"/>
          </p:cNvSpPr>
          <p:nvPr>
            <p:ph type="title"/>
          </p:nvPr>
        </p:nvSpPr>
        <p:spPr>
          <a:xfrm>
            <a:off x="838200" y="365125"/>
            <a:ext cx="10515600" cy="1325563"/>
          </a:xfrm>
          <a:prstGeom prst="rect">
            <a:avLst/>
          </a:prstGeom>
        </p:spPr>
        <p:txBody>
          <a:bodyPr/>
          <a:lstStyle/>
          <a:p>
            <a:r>
              <a:t>What's in a data center?</a:t>
            </a:r>
          </a:p>
        </p:txBody>
      </p:sp>
      <p:sp>
        <p:nvSpPr>
          <p:cNvPr id="265" name="Content Placeholder 24"/>
          <p:cNvSpPr txBox="1">
            <a:spLocks noGrp="1"/>
          </p:cNvSpPr>
          <p:nvPr>
            <p:ph type="body" sz="quarter" idx="1"/>
          </p:nvPr>
        </p:nvSpPr>
        <p:spPr>
          <a:xfrm>
            <a:off x="2514600" y="5257800"/>
            <a:ext cx="7772400" cy="933450"/>
          </a:xfrm>
          <a:prstGeom prst="rect">
            <a:avLst/>
          </a:prstGeom>
        </p:spPr>
        <p:txBody>
          <a:bodyPr/>
          <a:lstStyle/>
          <a:p>
            <a:r>
              <a:t>Emergency power supplies</a:t>
            </a:r>
          </a:p>
        </p:txBody>
      </p:sp>
      <p:sp>
        <p:nvSpPr>
          <p:cNvPr id="266" name="Slide Number Placeholder 3"/>
          <p:cNvSpPr txBox="1">
            <a:spLocks noGrp="1"/>
          </p:cNvSpPr>
          <p:nvPr>
            <p:ph type="sldNum" sz="quarter" idx="4294967295"/>
          </p:nvPr>
        </p:nvSpPr>
        <p:spPr>
          <a:xfrm>
            <a:off x="11083270" y="6404292"/>
            <a:ext cx="270531" cy="269241"/>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18</a:t>
            </a:fld>
            <a:endParaRPr/>
          </a:p>
        </p:txBody>
      </p:sp>
      <p:sp>
        <p:nvSpPr>
          <p:cNvPr id="267" name="TextBox 32"/>
          <p:cNvSpPr txBox="1"/>
          <p:nvPr/>
        </p:nvSpPr>
        <p:spPr>
          <a:xfrm>
            <a:off x="9475032" y="4505326"/>
            <a:ext cx="932369" cy="2692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spcBef>
                <a:spcPts val="200"/>
              </a:spcBef>
              <a:defRPr sz="1200">
                <a:latin typeface="Tahoma"/>
                <a:ea typeface="Tahoma"/>
                <a:cs typeface="Tahoma"/>
                <a:sym typeface="Tahoma"/>
              </a:defRPr>
            </a:lvl1pPr>
          </a:lstStyle>
          <a:p>
            <a:r>
              <a:t>Source: 1&amp;1</a:t>
            </a:r>
          </a:p>
        </p:txBody>
      </p:sp>
      <p:pic>
        <p:nvPicPr>
          <p:cNvPr id="268" name="Picture 10" descr="Picture 10"/>
          <p:cNvPicPr>
            <a:picLocks noChangeAspect="1"/>
          </p:cNvPicPr>
          <p:nvPr/>
        </p:nvPicPr>
        <p:blipFill>
          <a:blip r:embed="rId2">
            <a:extLst/>
          </a:blip>
          <a:stretch>
            <a:fillRect/>
          </a:stretch>
        </p:blipFill>
        <p:spPr>
          <a:xfrm>
            <a:off x="2533650" y="1821657"/>
            <a:ext cx="3609975" cy="2707482"/>
          </a:xfrm>
          <a:prstGeom prst="rect">
            <a:avLst/>
          </a:prstGeom>
          <a:ln w="12700">
            <a:miter lim="400000"/>
          </a:ln>
        </p:spPr>
      </p:pic>
      <p:pic>
        <p:nvPicPr>
          <p:cNvPr id="269" name="Picture 12" descr="Picture 12"/>
          <p:cNvPicPr>
            <a:picLocks noChangeAspect="1"/>
          </p:cNvPicPr>
          <p:nvPr/>
        </p:nvPicPr>
        <p:blipFill>
          <a:blip r:embed="rId3">
            <a:extLst/>
          </a:blip>
          <a:stretch>
            <a:fillRect/>
          </a:stretch>
        </p:blipFill>
        <p:spPr>
          <a:xfrm>
            <a:off x="6226907" y="1819275"/>
            <a:ext cx="2042093" cy="2724150"/>
          </a:xfrm>
          <a:prstGeom prst="rect">
            <a:avLst/>
          </a:prstGeom>
          <a:ln w="12700">
            <a:miter lim="400000"/>
          </a:ln>
        </p:spPr>
      </p:pic>
      <p:pic>
        <p:nvPicPr>
          <p:cNvPr id="270" name="Picture 13" descr="Picture 13"/>
          <p:cNvPicPr>
            <a:picLocks noChangeAspect="1"/>
          </p:cNvPicPr>
          <p:nvPr/>
        </p:nvPicPr>
        <p:blipFill>
          <a:blip r:embed="rId4">
            <a:extLst/>
          </a:blip>
          <a:stretch>
            <a:fillRect/>
          </a:stretch>
        </p:blipFill>
        <p:spPr>
          <a:xfrm>
            <a:off x="8409205" y="1828800"/>
            <a:ext cx="2020672" cy="2695575"/>
          </a:xfrm>
          <a:prstGeom prst="rect">
            <a:avLst/>
          </a:prstGeom>
          <a:ln w="12700">
            <a:miter lim="400000"/>
          </a:ln>
        </p:spPr>
      </p:pic>
    </p:spTree>
    <p:extLst>
      <p:ext uri="{BB962C8B-B14F-4D97-AF65-F5344CB8AC3E}">
        <p14:creationId xmlns:p14="http://schemas.microsoft.com/office/powerpoint/2010/main" val="313154486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 name="Title 1"/>
          <p:cNvSpPr txBox="1">
            <a:spLocks noGrp="1"/>
          </p:cNvSpPr>
          <p:nvPr>
            <p:ph type="title"/>
          </p:nvPr>
        </p:nvSpPr>
        <p:spPr>
          <a:xfrm>
            <a:off x="838200" y="365125"/>
            <a:ext cx="10515600" cy="1325563"/>
          </a:xfrm>
          <a:prstGeom prst="rect">
            <a:avLst/>
          </a:prstGeom>
        </p:spPr>
        <p:txBody>
          <a:bodyPr/>
          <a:lstStyle/>
          <a:p>
            <a:r>
              <a:t>What's in a data center?</a:t>
            </a:r>
          </a:p>
        </p:txBody>
      </p:sp>
      <p:sp>
        <p:nvSpPr>
          <p:cNvPr id="273" name="Content Placeholder 24"/>
          <p:cNvSpPr txBox="1">
            <a:spLocks noGrp="1"/>
          </p:cNvSpPr>
          <p:nvPr>
            <p:ph type="body" sz="quarter" idx="1"/>
          </p:nvPr>
        </p:nvSpPr>
        <p:spPr>
          <a:xfrm>
            <a:off x="2514600" y="5257800"/>
            <a:ext cx="7772400" cy="933450"/>
          </a:xfrm>
          <a:prstGeom prst="rect">
            <a:avLst/>
          </a:prstGeom>
        </p:spPr>
        <p:txBody>
          <a:bodyPr/>
          <a:lstStyle/>
          <a:p>
            <a:r>
              <a:t>Massive cooling</a:t>
            </a:r>
          </a:p>
        </p:txBody>
      </p:sp>
      <p:sp>
        <p:nvSpPr>
          <p:cNvPr id="274" name="Slide Number Placeholder 3"/>
          <p:cNvSpPr txBox="1">
            <a:spLocks noGrp="1"/>
          </p:cNvSpPr>
          <p:nvPr>
            <p:ph type="sldNum" sz="quarter" idx="4294967295"/>
          </p:nvPr>
        </p:nvSpPr>
        <p:spPr>
          <a:xfrm>
            <a:off x="11083270" y="6404292"/>
            <a:ext cx="270531" cy="269241"/>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19</a:t>
            </a:fld>
            <a:endParaRPr/>
          </a:p>
        </p:txBody>
      </p:sp>
      <p:sp>
        <p:nvSpPr>
          <p:cNvPr id="275" name="TextBox 32"/>
          <p:cNvSpPr txBox="1"/>
          <p:nvPr/>
        </p:nvSpPr>
        <p:spPr>
          <a:xfrm>
            <a:off x="9008307" y="4324351"/>
            <a:ext cx="932369" cy="2692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spcBef>
                <a:spcPts val="200"/>
              </a:spcBef>
              <a:defRPr sz="1200">
                <a:latin typeface="Tahoma"/>
                <a:ea typeface="Tahoma"/>
                <a:cs typeface="Tahoma"/>
                <a:sym typeface="Tahoma"/>
              </a:defRPr>
            </a:lvl1pPr>
          </a:lstStyle>
          <a:p>
            <a:r>
              <a:t>Source: 1&amp;1</a:t>
            </a:r>
          </a:p>
        </p:txBody>
      </p:sp>
      <p:grpSp>
        <p:nvGrpSpPr>
          <p:cNvPr id="278" name="Group 10"/>
          <p:cNvGrpSpPr/>
          <p:nvPr/>
        </p:nvGrpSpPr>
        <p:grpSpPr>
          <a:xfrm>
            <a:off x="3019426" y="1743076"/>
            <a:ext cx="7010618" cy="2543175"/>
            <a:chOff x="0" y="0"/>
            <a:chExt cx="7010617" cy="2543174"/>
          </a:xfrm>
        </p:grpSpPr>
        <p:pic>
          <p:nvPicPr>
            <p:cNvPr id="276" name="Picture 8" descr="Picture 8"/>
            <p:cNvPicPr>
              <a:picLocks noChangeAspect="1"/>
            </p:cNvPicPr>
            <p:nvPr/>
          </p:nvPicPr>
          <p:blipFill>
            <a:blip r:embed="rId2">
              <a:extLst/>
            </a:blip>
            <a:stretch>
              <a:fillRect/>
            </a:stretch>
          </p:blipFill>
          <p:spPr>
            <a:xfrm>
              <a:off x="0" y="6202"/>
              <a:ext cx="3382631" cy="2536973"/>
            </a:xfrm>
            <a:prstGeom prst="rect">
              <a:avLst/>
            </a:prstGeom>
            <a:ln w="12700" cap="flat">
              <a:noFill/>
              <a:miter lim="400000"/>
            </a:ln>
            <a:effectLst/>
          </p:spPr>
        </p:pic>
        <p:pic>
          <p:nvPicPr>
            <p:cNvPr id="277" name="Picture 9" descr="Picture 9"/>
            <p:cNvPicPr>
              <a:picLocks noChangeAspect="1"/>
            </p:cNvPicPr>
            <p:nvPr/>
          </p:nvPicPr>
          <p:blipFill>
            <a:blip r:embed="rId3">
              <a:extLst/>
            </a:blip>
            <a:stretch>
              <a:fillRect/>
            </a:stretch>
          </p:blipFill>
          <p:spPr>
            <a:xfrm>
              <a:off x="3636258" y="0"/>
              <a:ext cx="3374360" cy="2530770"/>
            </a:xfrm>
            <a:prstGeom prst="rect">
              <a:avLst/>
            </a:prstGeom>
            <a:ln w="12700" cap="flat">
              <a:noFill/>
              <a:miter lim="400000"/>
            </a:ln>
            <a:effectLst/>
          </p:spPr>
        </p:pic>
      </p:grpSp>
    </p:spTree>
    <p:extLst>
      <p:ext uri="{BB962C8B-B14F-4D97-AF65-F5344CB8AC3E}">
        <p14:creationId xmlns:p14="http://schemas.microsoft.com/office/powerpoint/2010/main" val="148076626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 name="Title 1"/>
          <p:cNvSpPr txBox="1">
            <a:spLocks noGrp="1"/>
          </p:cNvSpPr>
          <p:nvPr>
            <p:ph type="title"/>
          </p:nvPr>
        </p:nvSpPr>
        <p:spPr>
          <a:xfrm>
            <a:off x="838200" y="365125"/>
            <a:ext cx="10515600" cy="1325563"/>
          </a:xfrm>
          <a:prstGeom prst="rect">
            <a:avLst/>
          </a:prstGeom>
        </p:spPr>
        <p:txBody>
          <a:bodyPr/>
          <a:lstStyle/>
          <a:p>
            <a:r>
              <a:t>Energy matters!</a:t>
            </a:r>
          </a:p>
        </p:txBody>
      </p:sp>
      <p:sp>
        <p:nvSpPr>
          <p:cNvPr id="281" name="Content Placeholder 2"/>
          <p:cNvSpPr txBox="1">
            <a:spLocks noGrp="1"/>
          </p:cNvSpPr>
          <p:nvPr>
            <p:ph type="body" sz="quarter" idx="1"/>
          </p:nvPr>
        </p:nvSpPr>
        <p:spPr>
          <a:xfrm>
            <a:off x="838200" y="4325049"/>
            <a:ext cx="9987115" cy="1821432"/>
          </a:xfrm>
          <a:prstGeom prst="rect">
            <a:avLst/>
          </a:prstGeom>
        </p:spPr>
        <p:txBody>
          <a:bodyPr/>
          <a:lstStyle/>
          <a:p>
            <a:pPr marL="214884" indent="-214884" defTabSz="859536">
              <a:lnSpc>
                <a:spcPct val="72000"/>
              </a:lnSpc>
              <a:spcBef>
                <a:spcPts val="900"/>
              </a:spcBef>
              <a:defRPr sz="2350"/>
            </a:pPr>
            <a:r>
              <a:rPr dirty="0"/>
              <a:t>Data centers consume a lot of energy</a:t>
            </a:r>
          </a:p>
          <a:p>
            <a:pPr marL="644651" lvl="1" indent="-214884" defTabSz="859536">
              <a:lnSpc>
                <a:spcPct val="72000"/>
              </a:lnSpc>
              <a:spcBef>
                <a:spcPts val="400"/>
              </a:spcBef>
              <a:defRPr sz="2068"/>
            </a:pPr>
            <a:r>
              <a:rPr dirty="0"/>
              <a:t>Makes sense to build them near sources of cheap electricity</a:t>
            </a:r>
          </a:p>
          <a:p>
            <a:pPr marL="644651" lvl="1" indent="-214884" defTabSz="859536">
              <a:lnSpc>
                <a:spcPct val="72000"/>
              </a:lnSpc>
              <a:spcBef>
                <a:spcPts val="400"/>
              </a:spcBef>
              <a:defRPr sz="2068"/>
            </a:pPr>
            <a:r>
              <a:rPr dirty="0"/>
              <a:t>Example: Price per </a:t>
            </a:r>
            <a:r>
              <a:rPr dirty="0" err="1"/>
              <a:t>KWh</a:t>
            </a:r>
            <a:r>
              <a:rPr dirty="0"/>
              <a:t> is 3.6ct in Idaho (near hydroelectric power), 10ct in California (long distance transmission), 18ct in Hawaii (must ship fuel)</a:t>
            </a:r>
          </a:p>
          <a:p>
            <a:pPr marL="644651" lvl="1" indent="-214884" defTabSz="859536">
              <a:lnSpc>
                <a:spcPct val="72000"/>
              </a:lnSpc>
              <a:spcBef>
                <a:spcPts val="400"/>
              </a:spcBef>
              <a:defRPr sz="2068"/>
            </a:pPr>
            <a:r>
              <a:rPr dirty="0"/>
              <a:t>Most of this is converted into heat </a:t>
            </a:r>
            <a:r>
              <a:rPr dirty="0">
                <a:latin typeface="Symbol"/>
                <a:ea typeface="Symbol"/>
                <a:cs typeface="Symbol"/>
                <a:sym typeface="Symbol"/>
              </a:rPr>
              <a:t>® </a:t>
            </a:r>
            <a:r>
              <a:rPr dirty="0"/>
              <a:t>Cooling is a big issue!</a:t>
            </a:r>
          </a:p>
        </p:txBody>
      </p:sp>
      <p:sp>
        <p:nvSpPr>
          <p:cNvPr id="282" name="Slide Number Placeholder 3"/>
          <p:cNvSpPr txBox="1">
            <a:spLocks noGrp="1"/>
          </p:cNvSpPr>
          <p:nvPr>
            <p:ph type="sldNum" sz="quarter" idx="4294967295"/>
          </p:nvPr>
        </p:nvSpPr>
        <p:spPr>
          <a:xfrm>
            <a:off x="11083270" y="6404292"/>
            <a:ext cx="270531" cy="269241"/>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20</a:t>
            </a:fld>
            <a:endParaRPr/>
          </a:p>
        </p:txBody>
      </p:sp>
      <p:graphicFrame>
        <p:nvGraphicFramePr>
          <p:cNvPr id="283" name="Table 6"/>
          <p:cNvGraphicFramePr/>
          <p:nvPr/>
        </p:nvGraphicFramePr>
        <p:xfrm>
          <a:off x="3762375" y="1606550"/>
          <a:ext cx="5038724" cy="2346960"/>
        </p:xfrm>
        <a:graphic>
          <a:graphicData uri="http://schemas.openxmlformats.org/drawingml/2006/table">
            <a:tbl>
              <a:tblPr firstRow="1" bandRow="1"/>
              <a:tblGrid>
                <a:gridCol w="1324633">
                  <a:extLst>
                    <a:ext uri="{9D8B030D-6E8A-4147-A177-3AD203B41FA5}">
                      <a16:colId xmlns:a16="http://schemas.microsoft.com/office/drawing/2014/main" xmlns="" val="20000"/>
                    </a:ext>
                  </a:extLst>
                </a:gridCol>
                <a:gridCol w="866117">
                  <a:extLst>
                    <a:ext uri="{9D8B030D-6E8A-4147-A177-3AD203B41FA5}">
                      <a16:colId xmlns:a16="http://schemas.microsoft.com/office/drawing/2014/main" xmlns="" val="20001"/>
                    </a:ext>
                  </a:extLst>
                </a:gridCol>
                <a:gridCol w="1590675">
                  <a:extLst>
                    <a:ext uri="{9D8B030D-6E8A-4147-A177-3AD203B41FA5}">
                      <a16:colId xmlns:a16="http://schemas.microsoft.com/office/drawing/2014/main" xmlns="" val="20002"/>
                    </a:ext>
                  </a:extLst>
                </a:gridCol>
                <a:gridCol w="1257299">
                  <a:extLst>
                    <a:ext uri="{9D8B030D-6E8A-4147-A177-3AD203B41FA5}">
                      <a16:colId xmlns:a16="http://schemas.microsoft.com/office/drawing/2014/main" xmlns="" val="20003"/>
                    </a:ext>
                  </a:extLst>
                </a:gridCol>
              </a:tblGrid>
              <a:tr h="333829">
                <a:tc>
                  <a:txBody>
                    <a:bodyPr/>
                    <a:lstStyle/>
                    <a:p>
                      <a:pPr algn="l">
                        <a:spcBef>
                          <a:spcPts val="0"/>
                        </a:spcBef>
                        <a:defRPr sz="1800" b="0">
                          <a:solidFill>
                            <a:srgbClr val="000000"/>
                          </a:solidFill>
                        </a:defRPr>
                      </a:pPr>
                      <a:r>
                        <a:rPr sz="1600" b="1">
                          <a:solidFill>
                            <a:srgbClr val="FFFFFF"/>
                          </a:solidFill>
                          <a:sym typeface="Calibri"/>
                        </a:rPr>
                        <a:t>Company</a:t>
                      </a:r>
                    </a:p>
                  </a:txBody>
                  <a:tcPr marL="45720" marR="45720" horzOverflow="overflow"/>
                </a:tc>
                <a:tc>
                  <a:txBody>
                    <a:bodyPr/>
                    <a:lstStyle/>
                    <a:p>
                      <a:pPr algn="l">
                        <a:spcBef>
                          <a:spcPts val="0"/>
                        </a:spcBef>
                        <a:defRPr sz="1800" b="0">
                          <a:solidFill>
                            <a:srgbClr val="000000"/>
                          </a:solidFill>
                        </a:defRPr>
                      </a:pPr>
                      <a:r>
                        <a:rPr sz="1600" b="1">
                          <a:solidFill>
                            <a:srgbClr val="FFFFFF"/>
                          </a:solidFill>
                          <a:sym typeface="Calibri"/>
                        </a:rPr>
                        <a:t>Servers</a:t>
                      </a:r>
                    </a:p>
                  </a:txBody>
                  <a:tcPr marL="45720" marR="45720" horzOverflow="overflow"/>
                </a:tc>
                <a:tc>
                  <a:txBody>
                    <a:bodyPr/>
                    <a:lstStyle/>
                    <a:p>
                      <a:pPr algn="l">
                        <a:spcBef>
                          <a:spcPts val="0"/>
                        </a:spcBef>
                        <a:defRPr sz="1800" b="0">
                          <a:solidFill>
                            <a:srgbClr val="000000"/>
                          </a:solidFill>
                        </a:defRPr>
                      </a:pPr>
                      <a:r>
                        <a:rPr sz="1600" b="1">
                          <a:solidFill>
                            <a:srgbClr val="FFFFFF"/>
                          </a:solidFill>
                          <a:sym typeface="Calibri"/>
                        </a:rPr>
                        <a:t>Electricity</a:t>
                      </a:r>
                    </a:p>
                  </a:txBody>
                  <a:tcPr marL="45720" marR="45720" horzOverflow="overflow"/>
                </a:tc>
                <a:tc>
                  <a:txBody>
                    <a:bodyPr/>
                    <a:lstStyle/>
                    <a:p>
                      <a:pPr algn="l">
                        <a:spcBef>
                          <a:spcPts val="0"/>
                        </a:spcBef>
                        <a:defRPr sz="1800" b="0">
                          <a:solidFill>
                            <a:srgbClr val="000000"/>
                          </a:solidFill>
                        </a:defRPr>
                      </a:pPr>
                      <a:r>
                        <a:rPr sz="1600" b="1">
                          <a:solidFill>
                            <a:srgbClr val="FFFFFF"/>
                          </a:solidFill>
                          <a:sym typeface="Calibri"/>
                        </a:rPr>
                        <a:t>Cost</a:t>
                      </a:r>
                    </a:p>
                  </a:txBody>
                  <a:tcPr marL="45720" marR="45720" horzOverflow="overflow"/>
                </a:tc>
                <a:extLst>
                  <a:ext uri="{0D108BD9-81ED-4DB2-BD59-A6C34878D82A}">
                    <a16:rowId xmlns:a16="http://schemas.microsoft.com/office/drawing/2014/main" xmlns="" val="10000"/>
                  </a:ext>
                </a:extLst>
              </a:tr>
              <a:tr h="333829">
                <a:tc>
                  <a:txBody>
                    <a:bodyPr/>
                    <a:lstStyle/>
                    <a:p>
                      <a:pPr algn="l">
                        <a:spcBef>
                          <a:spcPts val="0"/>
                        </a:spcBef>
                        <a:defRPr sz="1800"/>
                      </a:pPr>
                      <a:r>
                        <a:rPr sz="1600">
                          <a:sym typeface="Calibri"/>
                        </a:rPr>
                        <a:t>eBay</a:t>
                      </a:r>
                    </a:p>
                  </a:txBody>
                  <a:tcPr marL="45720" marR="45720" horzOverflow="overflow"/>
                </a:tc>
                <a:tc>
                  <a:txBody>
                    <a:bodyPr/>
                    <a:lstStyle/>
                    <a:p>
                      <a:pPr>
                        <a:spcBef>
                          <a:spcPts val="0"/>
                        </a:spcBef>
                        <a:defRPr sz="1800"/>
                      </a:pPr>
                      <a:r>
                        <a:rPr sz="1600">
                          <a:sym typeface="Calibri"/>
                        </a:rPr>
                        <a:t>16K</a:t>
                      </a:r>
                    </a:p>
                  </a:txBody>
                  <a:tcPr marL="45720" marR="45720" horzOverflow="overflow"/>
                </a:tc>
                <a:tc>
                  <a:txBody>
                    <a:bodyPr/>
                    <a:lstStyle/>
                    <a:p>
                      <a:pPr>
                        <a:spcBef>
                          <a:spcPts val="0"/>
                        </a:spcBef>
                        <a:defRPr sz="1600">
                          <a:sym typeface="Calibri"/>
                        </a:defRPr>
                      </a:pPr>
                      <a:r>
                        <a:t>~0.6*10</a:t>
                      </a:r>
                      <a:r>
                        <a:rPr baseline="30000"/>
                        <a:t>5</a:t>
                      </a:r>
                      <a:r>
                        <a:t> MWh</a:t>
                      </a:r>
                    </a:p>
                  </a:txBody>
                  <a:tcPr marL="45720" marR="45720" horzOverflow="overflow"/>
                </a:tc>
                <a:tc>
                  <a:txBody>
                    <a:bodyPr/>
                    <a:lstStyle/>
                    <a:p>
                      <a:pPr>
                        <a:spcBef>
                          <a:spcPts val="0"/>
                        </a:spcBef>
                        <a:defRPr sz="1800"/>
                      </a:pPr>
                      <a:r>
                        <a:rPr sz="1600">
                          <a:sym typeface="Calibri"/>
                        </a:rPr>
                        <a:t>~$3.7M/yr</a:t>
                      </a:r>
                    </a:p>
                  </a:txBody>
                  <a:tcPr marL="45720" marR="45720" horzOverflow="overflow"/>
                </a:tc>
                <a:extLst>
                  <a:ext uri="{0D108BD9-81ED-4DB2-BD59-A6C34878D82A}">
                    <a16:rowId xmlns:a16="http://schemas.microsoft.com/office/drawing/2014/main" xmlns="" val="10001"/>
                  </a:ext>
                </a:extLst>
              </a:tr>
              <a:tr h="333829">
                <a:tc>
                  <a:txBody>
                    <a:bodyPr/>
                    <a:lstStyle/>
                    <a:p>
                      <a:pPr algn="l">
                        <a:spcBef>
                          <a:spcPts val="0"/>
                        </a:spcBef>
                        <a:defRPr sz="1800"/>
                      </a:pPr>
                      <a:r>
                        <a:rPr sz="1600">
                          <a:sym typeface="Calibri"/>
                        </a:rPr>
                        <a:t>Akamai</a:t>
                      </a:r>
                    </a:p>
                  </a:txBody>
                  <a:tcPr marL="45720" marR="45720" horzOverflow="overflow"/>
                </a:tc>
                <a:tc>
                  <a:txBody>
                    <a:bodyPr/>
                    <a:lstStyle/>
                    <a:p>
                      <a:pPr>
                        <a:spcBef>
                          <a:spcPts val="0"/>
                        </a:spcBef>
                        <a:defRPr sz="1800"/>
                      </a:pPr>
                      <a:r>
                        <a:rPr sz="1600">
                          <a:sym typeface="Calibri"/>
                        </a:rPr>
                        <a:t>40K</a:t>
                      </a:r>
                    </a:p>
                  </a:txBody>
                  <a:tcPr marL="45720" marR="45720" horzOverflow="overflow"/>
                </a:tc>
                <a:tc>
                  <a:txBody>
                    <a:bodyPr/>
                    <a:lstStyle/>
                    <a:p>
                      <a:pPr>
                        <a:spcBef>
                          <a:spcPts val="0"/>
                        </a:spcBef>
                        <a:defRPr sz="1600">
                          <a:sym typeface="Calibri"/>
                        </a:defRPr>
                      </a:pPr>
                      <a:r>
                        <a:t>~1.7*10</a:t>
                      </a:r>
                      <a:r>
                        <a:rPr baseline="30000"/>
                        <a:t>5</a:t>
                      </a:r>
                      <a:r>
                        <a:t> MWh</a:t>
                      </a:r>
                    </a:p>
                  </a:txBody>
                  <a:tcPr marL="45720" marR="45720" horzOverflow="overflow"/>
                </a:tc>
                <a:tc>
                  <a:txBody>
                    <a:bodyPr/>
                    <a:lstStyle/>
                    <a:p>
                      <a:pPr>
                        <a:spcBef>
                          <a:spcPts val="0"/>
                        </a:spcBef>
                        <a:defRPr sz="1800"/>
                      </a:pPr>
                      <a:r>
                        <a:rPr sz="1600">
                          <a:sym typeface="Calibri"/>
                        </a:rPr>
                        <a:t>~$10M/yr</a:t>
                      </a:r>
                    </a:p>
                  </a:txBody>
                  <a:tcPr marL="45720" marR="45720" horzOverflow="overflow"/>
                </a:tc>
                <a:extLst>
                  <a:ext uri="{0D108BD9-81ED-4DB2-BD59-A6C34878D82A}">
                    <a16:rowId xmlns:a16="http://schemas.microsoft.com/office/drawing/2014/main" xmlns="" val="10002"/>
                  </a:ext>
                </a:extLst>
              </a:tr>
              <a:tr h="333829">
                <a:tc>
                  <a:txBody>
                    <a:bodyPr/>
                    <a:lstStyle/>
                    <a:p>
                      <a:pPr algn="l">
                        <a:spcBef>
                          <a:spcPts val="0"/>
                        </a:spcBef>
                        <a:defRPr sz="1800"/>
                      </a:pPr>
                      <a:r>
                        <a:rPr sz="1600">
                          <a:sym typeface="Calibri"/>
                        </a:rPr>
                        <a:t>Rackspace</a:t>
                      </a:r>
                    </a:p>
                  </a:txBody>
                  <a:tcPr marL="45720" marR="45720" horzOverflow="overflow"/>
                </a:tc>
                <a:tc>
                  <a:txBody>
                    <a:bodyPr/>
                    <a:lstStyle/>
                    <a:p>
                      <a:pPr>
                        <a:spcBef>
                          <a:spcPts val="0"/>
                        </a:spcBef>
                        <a:defRPr sz="1800"/>
                      </a:pPr>
                      <a:r>
                        <a:rPr sz="1600">
                          <a:sym typeface="Calibri"/>
                        </a:rPr>
                        <a:t>50K</a:t>
                      </a:r>
                    </a:p>
                  </a:txBody>
                  <a:tcPr marL="45720" marR="45720" horzOverflow="overflow"/>
                </a:tc>
                <a:tc>
                  <a:txBody>
                    <a:bodyPr/>
                    <a:lstStyle/>
                    <a:p>
                      <a:pPr>
                        <a:spcBef>
                          <a:spcPts val="0"/>
                        </a:spcBef>
                        <a:defRPr sz="1600">
                          <a:sym typeface="Calibri"/>
                        </a:defRPr>
                      </a:pPr>
                      <a:r>
                        <a:t>~2*10</a:t>
                      </a:r>
                      <a:r>
                        <a:rPr baseline="30000"/>
                        <a:t>5</a:t>
                      </a:r>
                      <a:r>
                        <a:t> MWh</a:t>
                      </a:r>
                    </a:p>
                  </a:txBody>
                  <a:tcPr marL="45720" marR="45720" horzOverflow="overflow"/>
                </a:tc>
                <a:tc>
                  <a:txBody>
                    <a:bodyPr/>
                    <a:lstStyle/>
                    <a:p>
                      <a:pPr>
                        <a:spcBef>
                          <a:spcPts val="0"/>
                        </a:spcBef>
                        <a:defRPr sz="1800"/>
                      </a:pPr>
                      <a:r>
                        <a:rPr sz="1600">
                          <a:sym typeface="Calibri"/>
                        </a:rPr>
                        <a:t>~$12M/yr</a:t>
                      </a:r>
                    </a:p>
                  </a:txBody>
                  <a:tcPr marL="45720" marR="45720" horzOverflow="overflow"/>
                </a:tc>
                <a:extLst>
                  <a:ext uri="{0D108BD9-81ED-4DB2-BD59-A6C34878D82A}">
                    <a16:rowId xmlns:a16="http://schemas.microsoft.com/office/drawing/2014/main" xmlns="" val="10003"/>
                  </a:ext>
                </a:extLst>
              </a:tr>
              <a:tr h="333829">
                <a:tc>
                  <a:txBody>
                    <a:bodyPr/>
                    <a:lstStyle/>
                    <a:p>
                      <a:pPr algn="l">
                        <a:spcBef>
                          <a:spcPts val="0"/>
                        </a:spcBef>
                        <a:defRPr sz="1800"/>
                      </a:pPr>
                      <a:r>
                        <a:rPr sz="1600">
                          <a:sym typeface="Calibri"/>
                        </a:rPr>
                        <a:t>Microsoft</a:t>
                      </a:r>
                    </a:p>
                  </a:txBody>
                  <a:tcPr marL="45720" marR="45720" horzOverflow="overflow"/>
                </a:tc>
                <a:tc>
                  <a:txBody>
                    <a:bodyPr/>
                    <a:lstStyle/>
                    <a:p>
                      <a:pPr>
                        <a:spcBef>
                          <a:spcPts val="0"/>
                        </a:spcBef>
                        <a:defRPr sz="1800"/>
                      </a:pPr>
                      <a:r>
                        <a:rPr sz="1600">
                          <a:sym typeface="Calibri"/>
                        </a:rPr>
                        <a:t>&gt;200K</a:t>
                      </a:r>
                    </a:p>
                  </a:txBody>
                  <a:tcPr marL="45720" marR="45720" horzOverflow="overflow"/>
                </a:tc>
                <a:tc>
                  <a:txBody>
                    <a:bodyPr/>
                    <a:lstStyle/>
                    <a:p>
                      <a:pPr>
                        <a:spcBef>
                          <a:spcPts val="0"/>
                        </a:spcBef>
                        <a:defRPr sz="1600">
                          <a:sym typeface="Calibri"/>
                        </a:defRPr>
                      </a:pPr>
                      <a:r>
                        <a:t>&gt;6*10</a:t>
                      </a:r>
                      <a:r>
                        <a:rPr baseline="30000"/>
                        <a:t>5</a:t>
                      </a:r>
                      <a:r>
                        <a:t> MWh</a:t>
                      </a:r>
                    </a:p>
                  </a:txBody>
                  <a:tcPr marL="45720" marR="45720" horzOverflow="overflow"/>
                </a:tc>
                <a:tc>
                  <a:txBody>
                    <a:bodyPr/>
                    <a:lstStyle/>
                    <a:p>
                      <a:pPr>
                        <a:spcBef>
                          <a:spcPts val="0"/>
                        </a:spcBef>
                        <a:defRPr sz="1800"/>
                      </a:pPr>
                      <a:r>
                        <a:rPr sz="1600">
                          <a:sym typeface="Calibri"/>
                        </a:rPr>
                        <a:t>&gt;$36M/yr</a:t>
                      </a:r>
                    </a:p>
                  </a:txBody>
                  <a:tcPr marL="45720" marR="45720" horzOverflow="overflow"/>
                </a:tc>
                <a:extLst>
                  <a:ext uri="{0D108BD9-81ED-4DB2-BD59-A6C34878D82A}">
                    <a16:rowId xmlns:a16="http://schemas.microsoft.com/office/drawing/2014/main" xmlns="" val="10004"/>
                  </a:ext>
                </a:extLst>
              </a:tr>
              <a:tr h="333829">
                <a:tc>
                  <a:txBody>
                    <a:bodyPr/>
                    <a:lstStyle/>
                    <a:p>
                      <a:pPr algn="l">
                        <a:spcBef>
                          <a:spcPts val="0"/>
                        </a:spcBef>
                        <a:defRPr sz="1800"/>
                      </a:pPr>
                      <a:r>
                        <a:rPr sz="1600">
                          <a:sym typeface="Calibri"/>
                        </a:rPr>
                        <a:t>Google</a:t>
                      </a:r>
                    </a:p>
                  </a:txBody>
                  <a:tcPr marL="45720" marR="45720" horzOverflow="overflow"/>
                </a:tc>
                <a:tc>
                  <a:txBody>
                    <a:bodyPr/>
                    <a:lstStyle/>
                    <a:p>
                      <a:pPr>
                        <a:spcBef>
                          <a:spcPts val="0"/>
                        </a:spcBef>
                        <a:defRPr sz="1800"/>
                      </a:pPr>
                      <a:r>
                        <a:rPr sz="1600">
                          <a:sym typeface="Calibri"/>
                        </a:rPr>
                        <a:t>&gt;500K</a:t>
                      </a:r>
                    </a:p>
                  </a:txBody>
                  <a:tcPr marL="45720" marR="45720" horzOverflow="overflow"/>
                </a:tc>
                <a:tc>
                  <a:txBody>
                    <a:bodyPr/>
                    <a:lstStyle/>
                    <a:p>
                      <a:pPr>
                        <a:spcBef>
                          <a:spcPts val="0"/>
                        </a:spcBef>
                        <a:defRPr sz="1600">
                          <a:sym typeface="Calibri"/>
                        </a:defRPr>
                      </a:pPr>
                      <a:r>
                        <a:t>&gt;6.3*10</a:t>
                      </a:r>
                      <a:r>
                        <a:rPr baseline="30000"/>
                        <a:t>5</a:t>
                      </a:r>
                      <a:r>
                        <a:t> MWh</a:t>
                      </a:r>
                    </a:p>
                  </a:txBody>
                  <a:tcPr marL="45720" marR="45720" horzOverflow="overflow"/>
                </a:tc>
                <a:tc>
                  <a:txBody>
                    <a:bodyPr/>
                    <a:lstStyle/>
                    <a:p>
                      <a:pPr>
                        <a:spcBef>
                          <a:spcPts val="0"/>
                        </a:spcBef>
                        <a:defRPr sz="1800"/>
                      </a:pPr>
                      <a:r>
                        <a:rPr sz="1600">
                          <a:sym typeface="Calibri"/>
                        </a:rPr>
                        <a:t>&gt;$38M/yr</a:t>
                      </a:r>
                    </a:p>
                  </a:txBody>
                  <a:tcPr marL="45720" marR="45720" horzOverflow="overflow"/>
                </a:tc>
                <a:extLst>
                  <a:ext uri="{0D108BD9-81ED-4DB2-BD59-A6C34878D82A}">
                    <a16:rowId xmlns:a16="http://schemas.microsoft.com/office/drawing/2014/main" xmlns="" val="10005"/>
                  </a:ext>
                </a:extLst>
              </a:tr>
              <a:tr h="333829">
                <a:tc>
                  <a:txBody>
                    <a:bodyPr/>
                    <a:lstStyle/>
                    <a:p>
                      <a:pPr algn="l">
                        <a:spcBef>
                          <a:spcPts val="0"/>
                        </a:spcBef>
                        <a:defRPr sz="1800"/>
                      </a:pPr>
                      <a:r>
                        <a:rPr sz="1600">
                          <a:sym typeface="Calibri"/>
                        </a:rPr>
                        <a:t>USA (2006)</a:t>
                      </a:r>
                    </a:p>
                  </a:txBody>
                  <a:tcPr marL="45720" marR="45720" horzOverflow="overflow"/>
                </a:tc>
                <a:tc>
                  <a:txBody>
                    <a:bodyPr/>
                    <a:lstStyle/>
                    <a:p>
                      <a:pPr>
                        <a:spcBef>
                          <a:spcPts val="0"/>
                        </a:spcBef>
                        <a:defRPr sz="1600">
                          <a:sym typeface="Calibri"/>
                        </a:defRPr>
                      </a:pPr>
                      <a:endParaRPr/>
                    </a:p>
                  </a:txBody>
                  <a:tcPr marL="45720" marR="45720" horzOverflow="overflow"/>
                </a:tc>
                <a:tc>
                  <a:txBody>
                    <a:bodyPr/>
                    <a:lstStyle/>
                    <a:p>
                      <a:pPr>
                        <a:spcBef>
                          <a:spcPts val="0"/>
                        </a:spcBef>
                        <a:defRPr sz="1600">
                          <a:sym typeface="Calibri"/>
                        </a:defRPr>
                      </a:pPr>
                      <a:endParaRPr/>
                    </a:p>
                  </a:txBody>
                  <a:tcPr marL="45720" marR="45720" horzOverflow="overflow"/>
                </a:tc>
                <a:tc>
                  <a:txBody>
                    <a:bodyPr/>
                    <a:lstStyle/>
                    <a:p>
                      <a:pPr>
                        <a:spcBef>
                          <a:spcPts val="0"/>
                        </a:spcBef>
                        <a:defRPr sz="1600">
                          <a:sym typeface="Calibri"/>
                        </a:defRPr>
                      </a:pPr>
                      <a:endParaRPr/>
                    </a:p>
                  </a:txBody>
                  <a:tcPr marL="45720" marR="45720" horzOverflow="overflow"/>
                </a:tc>
                <a:extLst>
                  <a:ext uri="{0D108BD9-81ED-4DB2-BD59-A6C34878D82A}">
                    <a16:rowId xmlns:a16="http://schemas.microsoft.com/office/drawing/2014/main" xmlns="" val="10006"/>
                  </a:ext>
                </a:extLst>
              </a:tr>
            </a:tbl>
          </a:graphicData>
        </a:graphic>
      </p:graphicFrame>
      <p:sp>
        <p:nvSpPr>
          <p:cNvPr id="284" name="TextBox 7"/>
          <p:cNvSpPr txBox="1"/>
          <p:nvPr/>
        </p:nvSpPr>
        <p:spPr>
          <a:xfrm>
            <a:off x="6459127" y="3988018"/>
            <a:ext cx="2273745" cy="2438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spcBef>
                <a:spcPts val="200"/>
              </a:spcBef>
              <a:defRPr sz="1000">
                <a:latin typeface="Tahoma"/>
                <a:ea typeface="Tahoma"/>
                <a:cs typeface="Tahoma"/>
                <a:sym typeface="Tahoma"/>
              </a:defRPr>
            </a:lvl1pPr>
          </a:lstStyle>
          <a:p>
            <a:r>
              <a:t>Source: Qureshi et al., SIGCOMM 2009</a:t>
            </a:r>
          </a:p>
        </p:txBody>
      </p:sp>
      <p:sp>
        <p:nvSpPr>
          <p:cNvPr id="285" name="TextBox 9"/>
          <p:cNvSpPr txBox="1"/>
          <p:nvPr/>
        </p:nvSpPr>
        <p:spPr>
          <a:xfrm>
            <a:off x="5245117" y="3626108"/>
            <a:ext cx="655003" cy="3327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spcBef>
                <a:spcPts val="300"/>
              </a:spcBef>
              <a:defRPr sz="1600">
                <a:latin typeface="Tahoma"/>
                <a:ea typeface="Tahoma"/>
                <a:cs typeface="Tahoma"/>
                <a:sym typeface="Tahoma"/>
              </a:defRPr>
            </a:lvl1pPr>
          </a:lstStyle>
          <a:p>
            <a:r>
              <a:t>10.9M</a:t>
            </a:r>
          </a:p>
        </p:txBody>
      </p:sp>
      <p:sp>
        <p:nvSpPr>
          <p:cNvPr id="286" name="TextBox 10"/>
          <p:cNvSpPr txBox="1"/>
          <p:nvPr/>
        </p:nvSpPr>
        <p:spPr>
          <a:xfrm>
            <a:off x="6148609" y="3599388"/>
            <a:ext cx="1360283" cy="3327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p>
            <a:pPr algn="r">
              <a:spcBef>
                <a:spcPts val="300"/>
              </a:spcBef>
              <a:defRPr sz="1600">
                <a:latin typeface="Tahoma"/>
                <a:ea typeface="Tahoma"/>
                <a:cs typeface="Tahoma"/>
                <a:sym typeface="Tahoma"/>
              </a:defRPr>
            </a:pPr>
            <a:r>
              <a:t>610*10</a:t>
            </a:r>
            <a:r>
              <a:rPr baseline="30000"/>
              <a:t>5</a:t>
            </a:r>
            <a:r>
              <a:t> MWh</a:t>
            </a:r>
          </a:p>
        </p:txBody>
      </p:sp>
      <p:sp>
        <p:nvSpPr>
          <p:cNvPr id="287" name="TextBox 11"/>
          <p:cNvSpPr txBox="1"/>
          <p:nvPr/>
        </p:nvSpPr>
        <p:spPr>
          <a:xfrm>
            <a:off x="7846289" y="3646068"/>
            <a:ext cx="868324" cy="3327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lgn="r">
              <a:spcBef>
                <a:spcPts val="300"/>
              </a:spcBef>
              <a:defRPr sz="1600">
                <a:latin typeface="Tahoma"/>
                <a:ea typeface="Tahoma"/>
                <a:cs typeface="Tahoma"/>
                <a:sym typeface="Tahoma"/>
              </a:defRPr>
            </a:lvl1pPr>
          </a:lstStyle>
          <a:p>
            <a:r>
              <a:t>$4.5B/yr</a:t>
            </a:r>
          </a:p>
        </p:txBody>
      </p:sp>
    </p:spTree>
    <p:extLst>
      <p:ext uri="{BB962C8B-B14F-4D97-AF65-F5344CB8AC3E}">
        <p14:creationId xmlns:p14="http://schemas.microsoft.com/office/powerpoint/2010/main" val="363326130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283"/>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iterate>
                                    <p:tmAbs val="0"/>
                                  </p:iterate>
                                  <p:childTnLst>
                                    <p:set>
                                      <p:cBhvr>
                                        <p:cTn id="9" fill="hold"/>
                                        <p:tgtEl>
                                          <p:spTgt spid="284"/>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iterate>
                                    <p:tmAbs val="0"/>
                                  </p:iterate>
                                  <p:childTnLst>
                                    <p:set>
                                      <p:cBhvr>
                                        <p:cTn id="13" fill="hold"/>
                                        <p:tgtEl>
                                          <p:spTgt spid="285"/>
                                        </p:tgtEl>
                                        <p:attrNameLst>
                                          <p:attrName>style.visibility</p:attrName>
                                        </p:attrNameLst>
                                      </p:cBhvr>
                                      <p:to>
                                        <p:strVal val="visible"/>
                                      </p:to>
                                    </p:set>
                                  </p:childTnLst>
                                </p:cTn>
                              </p:par>
                            </p:childTnLst>
                          </p:cTn>
                        </p:par>
                        <p:par>
                          <p:cTn id="14" fill="hold">
                            <p:stCondLst>
                              <p:cond delay="0"/>
                            </p:stCondLst>
                            <p:childTnLst>
                              <p:par>
                                <p:cTn id="15" presetID="1" presetClass="entr" presetSubtype="0" fill="hold" grpId="0" nodeType="afterEffect">
                                  <p:stCondLst>
                                    <p:cond delay="700"/>
                                  </p:stCondLst>
                                  <p:iterate>
                                    <p:tmAbs val="0"/>
                                  </p:iterate>
                                  <p:childTnLst>
                                    <p:set>
                                      <p:cBhvr>
                                        <p:cTn id="16" fill="hold"/>
                                        <p:tgtEl>
                                          <p:spTgt spid="286"/>
                                        </p:tgtEl>
                                        <p:attrNameLst>
                                          <p:attrName>style.visibility</p:attrName>
                                        </p:attrNameLst>
                                      </p:cBhvr>
                                      <p:to>
                                        <p:strVal val="visible"/>
                                      </p:to>
                                    </p:set>
                                  </p:childTnLst>
                                </p:cTn>
                              </p:par>
                            </p:childTnLst>
                          </p:cTn>
                        </p:par>
                        <p:par>
                          <p:cTn id="17" fill="hold">
                            <p:stCondLst>
                              <p:cond delay="700"/>
                            </p:stCondLst>
                            <p:childTnLst>
                              <p:par>
                                <p:cTn id="18" presetID="1" presetClass="entr" presetSubtype="0" fill="hold" grpId="0" nodeType="afterEffect">
                                  <p:stCondLst>
                                    <p:cond delay="700"/>
                                  </p:stCondLst>
                                  <p:iterate>
                                    <p:tmAbs val="0"/>
                                  </p:iterate>
                                  <p:childTnLst>
                                    <p:set>
                                      <p:cBhvr>
                                        <p:cTn id="19" fill="hold"/>
                                        <p:tgtEl>
                                          <p:spTgt spid="28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iterate>
                                    <p:tmAbs val="0"/>
                                  </p:iterate>
                                  <p:childTnLst>
                                    <p:set>
                                      <p:cBhvr>
                                        <p:cTn id="23" fill="hold"/>
                                        <p:tgtEl>
                                          <p:spTgt spid="281">
                                            <p:txEl>
                                              <p:pRg st="1" end="1"/>
                                            </p:txEl>
                                          </p:spTgt>
                                        </p:tgtEl>
                                        <p:attrNameLst>
                                          <p:attrName>style.visibility</p:attrName>
                                        </p:attrNameLst>
                                      </p:cBhvr>
                                      <p:to>
                                        <p:strVal val="visible"/>
                                      </p:to>
                                    </p:set>
                                  </p:childTnLst>
                                </p:cTn>
                              </p:par>
                            </p:childTnLst>
                          </p:cTn>
                        </p:par>
                        <p:par>
                          <p:cTn id="24" fill="hold">
                            <p:stCondLst>
                              <p:cond delay="0"/>
                            </p:stCondLst>
                            <p:childTnLst>
                              <p:par>
                                <p:cTn id="25" presetID="1" presetClass="entr" presetSubtype="0" fill="hold" grpId="0" nodeType="afterEffect">
                                  <p:stCondLst>
                                    <p:cond delay="0"/>
                                  </p:stCondLst>
                                  <p:iterate>
                                    <p:tmAbs val="0"/>
                                  </p:iterate>
                                  <p:childTnLst>
                                    <p:set>
                                      <p:cBhvr>
                                        <p:cTn id="26" fill="hold"/>
                                        <p:tgtEl>
                                          <p:spTgt spid="281">
                                            <p:txEl>
                                              <p:pRg st="2" end="2"/>
                                            </p:txEl>
                                          </p:spTgt>
                                        </p:tgtEl>
                                        <p:attrNameLst>
                                          <p:attrName>style.visibility</p:attrName>
                                        </p:attrNameLst>
                                      </p:cBhvr>
                                      <p:to>
                                        <p:strVal val="visible"/>
                                      </p:to>
                                    </p:set>
                                  </p:childTnLst>
                                </p:cTn>
                              </p:par>
                            </p:childTnLst>
                          </p:cTn>
                        </p:par>
                        <p:par>
                          <p:cTn id="27" fill="hold">
                            <p:stCondLst>
                              <p:cond delay="0"/>
                            </p:stCondLst>
                            <p:childTnLst>
                              <p:par>
                                <p:cTn id="28" presetID="1" presetClass="entr" presetSubtype="0" fill="hold" grpId="0" nodeType="afterEffect">
                                  <p:stCondLst>
                                    <p:cond delay="0"/>
                                  </p:stCondLst>
                                  <p:iterate>
                                    <p:tmAbs val="0"/>
                                  </p:iterate>
                                  <p:childTnLst>
                                    <p:set>
                                      <p:cBhvr>
                                        <p:cTn id="29" fill="hold"/>
                                        <p:tgtEl>
                                          <p:spTgt spid="28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1" grpId="0" build="p" bldLvl="5" animBg="1" advAuto="0"/>
      <p:bldP spid="283" grpId="0" animBg="1" advAuto="0"/>
      <p:bldP spid="284" grpId="0" animBg="1" advAuto="0"/>
      <p:bldP spid="285" grpId="0" animBg="1" advAuto="0"/>
      <p:bldP spid="286" grpId="0" animBg="1" advAuto="0"/>
      <p:bldP spid="287" grpId="0" animBg="1" advAuto="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9" name="Title 1"/>
          <p:cNvSpPr txBox="1">
            <a:spLocks noGrp="1"/>
          </p:cNvSpPr>
          <p:nvPr>
            <p:ph type="title"/>
          </p:nvPr>
        </p:nvSpPr>
        <p:spPr>
          <a:xfrm>
            <a:off x="838200" y="365125"/>
            <a:ext cx="10515600" cy="1325563"/>
          </a:xfrm>
          <a:prstGeom prst="rect">
            <a:avLst/>
          </a:prstGeom>
        </p:spPr>
        <p:txBody>
          <a:bodyPr/>
          <a:lstStyle/>
          <a:p>
            <a:r>
              <a:rPr dirty="0"/>
              <a:t>Energy matters!</a:t>
            </a:r>
          </a:p>
        </p:txBody>
      </p:sp>
      <p:sp>
        <p:nvSpPr>
          <p:cNvPr id="290" name="Content Placeholder 2"/>
          <p:cNvSpPr txBox="1">
            <a:spLocks noGrp="1"/>
          </p:cNvSpPr>
          <p:nvPr>
            <p:ph type="body" idx="1"/>
          </p:nvPr>
        </p:nvSpPr>
        <p:spPr>
          <a:xfrm>
            <a:off x="905470" y="1690687"/>
            <a:ext cx="10381060" cy="4776789"/>
          </a:xfrm>
          <a:prstGeom prst="rect">
            <a:avLst/>
          </a:prstGeom>
        </p:spPr>
        <p:txBody>
          <a:bodyPr/>
          <a:lstStyle/>
          <a:p>
            <a:r>
              <a:rPr dirty="0"/>
              <a:t>There are even bigger energy consumers:</a:t>
            </a:r>
          </a:p>
          <a:p>
            <a:pPr marL="685800" lvl="1" indent="-228600">
              <a:spcBef>
                <a:spcPts val="500"/>
              </a:spcBef>
              <a:defRPr sz="2400"/>
            </a:pPr>
            <a:r>
              <a:rPr u="sng" dirty="0">
                <a:solidFill>
                  <a:srgbClr val="0563C1"/>
                </a:solidFill>
                <a:uFill>
                  <a:solidFill>
                    <a:srgbClr val="0563C1"/>
                  </a:solidFill>
                </a:uFill>
                <a:hlinkClick r:id="rId2"/>
              </a:rPr>
              <a:t>http://motherboard.vice.com/read/bitcoin-could-consume-as-much-electricity-as-denmark-by-2020</a:t>
            </a:r>
          </a:p>
          <a:p>
            <a:pPr marL="685800" lvl="1" indent="-228600">
              <a:spcBef>
                <a:spcPts val="500"/>
              </a:spcBef>
              <a:defRPr sz="2400"/>
            </a:pPr>
            <a:r>
              <a:rPr dirty="0"/>
              <a:t>2020 14 Gigawatts (Total power generation capacity of Denmark)</a:t>
            </a:r>
          </a:p>
          <a:p>
            <a:pPr marL="685800" lvl="1" indent="-228600">
              <a:spcBef>
                <a:spcPts val="500"/>
              </a:spcBef>
              <a:defRPr sz="2400"/>
            </a:pPr>
            <a:r>
              <a:rPr dirty="0"/>
              <a:t>1 Bitcoin in 2020 would consume half the annual household usage emitting 4,000 kg of CO</a:t>
            </a:r>
            <a:r>
              <a:rPr baseline="-25000" dirty="0"/>
              <a:t>2</a:t>
            </a:r>
          </a:p>
          <a:p>
            <a:pPr marL="685800" lvl="1" indent="-228600">
              <a:spcBef>
                <a:spcPts val="500"/>
              </a:spcBef>
              <a:defRPr sz="2400"/>
            </a:pPr>
            <a:r>
              <a:rPr dirty="0"/>
              <a:t>This is a big issue because of the enthusiasm for the Blockchain driving new functionality</a:t>
            </a:r>
          </a:p>
        </p:txBody>
      </p:sp>
      <p:sp>
        <p:nvSpPr>
          <p:cNvPr id="291" name="Slide Number Placeholder 3"/>
          <p:cNvSpPr txBox="1">
            <a:spLocks noGrp="1"/>
          </p:cNvSpPr>
          <p:nvPr>
            <p:ph type="sldNum" sz="quarter" idx="4294967295"/>
          </p:nvPr>
        </p:nvSpPr>
        <p:spPr>
          <a:xfrm>
            <a:off x="11083270" y="6404292"/>
            <a:ext cx="270531" cy="269241"/>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21</a:t>
            </a:fld>
            <a:endParaRPr/>
          </a:p>
        </p:txBody>
      </p:sp>
    </p:spTree>
    <p:extLst>
      <p:ext uri="{BB962C8B-B14F-4D97-AF65-F5344CB8AC3E}">
        <p14:creationId xmlns:p14="http://schemas.microsoft.com/office/powerpoint/2010/main" val="373385961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 name="Title 1"/>
          <p:cNvSpPr txBox="1">
            <a:spLocks noGrp="1"/>
          </p:cNvSpPr>
          <p:nvPr>
            <p:ph type="title"/>
          </p:nvPr>
        </p:nvSpPr>
        <p:spPr>
          <a:xfrm>
            <a:off x="838200" y="365125"/>
            <a:ext cx="10515600" cy="1325563"/>
          </a:xfrm>
          <a:prstGeom prst="rect">
            <a:avLst/>
          </a:prstGeom>
        </p:spPr>
        <p:txBody>
          <a:bodyPr/>
          <a:lstStyle/>
          <a:p>
            <a:r>
              <a:t>Scaling up</a:t>
            </a:r>
          </a:p>
        </p:txBody>
      </p:sp>
      <p:sp>
        <p:nvSpPr>
          <p:cNvPr id="294" name="Content Placeholder 2"/>
          <p:cNvSpPr txBox="1">
            <a:spLocks noGrp="1"/>
          </p:cNvSpPr>
          <p:nvPr>
            <p:ph type="body" sz="quarter" idx="1"/>
          </p:nvPr>
        </p:nvSpPr>
        <p:spPr>
          <a:xfrm>
            <a:off x="2514600" y="4410076"/>
            <a:ext cx="7772400" cy="1609726"/>
          </a:xfrm>
          <a:prstGeom prst="rect">
            <a:avLst/>
          </a:prstGeom>
        </p:spPr>
        <p:txBody>
          <a:bodyPr/>
          <a:lstStyle/>
          <a:p>
            <a:r>
              <a:t>What if even a data center is not big enough?</a:t>
            </a:r>
          </a:p>
          <a:p>
            <a:pPr marL="685800" lvl="1" indent="-228600">
              <a:spcBef>
                <a:spcPts val="500"/>
              </a:spcBef>
              <a:defRPr sz="2400"/>
            </a:pPr>
            <a:r>
              <a:t>Build additional data centers</a:t>
            </a:r>
          </a:p>
          <a:p>
            <a:pPr marL="685800" lvl="1" indent="-228600">
              <a:spcBef>
                <a:spcPts val="500"/>
              </a:spcBef>
              <a:defRPr sz="2400"/>
            </a:pPr>
            <a:r>
              <a:t>Where? How many?</a:t>
            </a:r>
          </a:p>
        </p:txBody>
      </p:sp>
      <p:sp>
        <p:nvSpPr>
          <p:cNvPr id="295" name="Slide Number Placeholder 3"/>
          <p:cNvSpPr txBox="1">
            <a:spLocks noGrp="1"/>
          </p:cNvSpPr>
          <p:nvPr>
            <p:ph type="sldNum" sz="quarter" idx="4294967295"/>
          </p:nvPr>
        </p:nvSpPr>
        <p:spPr>
          <a:xfrm>
            <a:off x="11083270" y="6404292"/>
            <a:ext cx="270531" cy="269241"/>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22</a:t>
            </a:fld>
            <a:endParaRPr/>
          </a:p>
        </p:txBody>
      </p:sp>
      <p:pic>
        <p:nvPicPr>
          <p:cNvPr id="296" name="Picture 5" descr="Picture 5"/>
          <p:cNvPicPr>
            <a:picLocks noChangeAspect="1"/>
          </p:cNvPicPr>
          <p:nvPr/>
        </p:nvPicPr>
        <p:blipFill>
          <a:blip r:embed="rId2">
            <a:extLst/>
          </a:blip>
          <a:stretch>
            <a:fillRect/>
          </a:stretch>
        </p:blipFill>
        <p:spPr>
          <a:xfrm>
            <a:off x="2105025" y="2783204"/>
            <a:ext cx="529644" cy="626746"/>
          </a:xfrm>
          <a:prstGeom prst="rect">
            <a:avLst/>
          </a:prstGeom>
          <a:ln w="12700">
            <a:miter lim="400000"/>
          </a:ln>
        </p:spPr>
      </p:pic>
      <p:pic>
        <p:nvPicPr>
          <p:cNvPr id="297" name="Picture 6" descr="Picture 6"/>
          <p:cNvPicPr>
            <a:picLocks noChangeAspect="1"/>
          </p:cNvPicPr>
          <p:nvPr/>
        </p:nvPicPr>
        <p:blipFill>
          <a:blip r:embed="rId3">
            <a:extLst/>
          </a:blip>
          <a:stretch>
            <a:fillRect/>
          </a:stretch>
        </p:blipFill>
        <p:spPr>
          <a:xfrm flipH="1">
            <a:off x="2886075" y="2505075"/>
            <a:ext cx="839679" cy="918894"/>
          </a:xfrm>
          <a:prstGeom prst="rect">
            <a:avLst/>
          </a:prstGeom>
          <a:ln w="12700">
            <a:miter lim="400000"/>
          </a:ln>
        </p:spPr>
      </p:pic>
      <p:pic>
        <p:nvPicPr>
          <p:cNvPr id="298" name="Picture 7" descr="Picture 7"/>
          <p:cNvPicPr>
            <a:picLocks noChangeAspect="1"/>
          </p:cNvPicPr>
          <p:nvPr/>
        </p:nvPicPr>
        <p:blipFill>
          <a:blip r:embed="rId4">
            <a:extLst/>
          </a:blip>
          <a:stretch>
            <a:fillRect/>
          </a:stretch>
        </p:blipFill>
        <p:spPr>
          <a:xfrm flipH="1">
            <a:off x="4019182" y="2171700"/>
            <a:ext cx="898394" cy="1249765"/>
          </a:xfrm>
          <a:prstGeom prst="rect">
            <a:avLst/>
          </a:prstGeom>
          <a:ln w="12700">
            <a:miter lim="400000"/>
          </a:ln>
        </p:spPr>
      </p:pic>
      <p:sp>
        <p:nvSpPr>
          <p:cNvPr id="299" name="TextBox 12"/>
          <p:cNvSpPr txBox="1"/>
          <p:nvPr/>
        </p:nvSpPr>
        <p:spPr>
          <a:xfrm>
            <a:off x="1895474" y="3543301"/>
            <a:ext cx="885826" cy="3073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spcBef>
                <a:spcPts val="300"/>
              </a:spcBef>
              <a:defRPr sz="1400">
                <a:latin typeface="Tahoma"/>
                <a:ea typeface="Tahoma"/>
                <a:cs typeface="Tahoma"/>
                <a:sym typeface="Tahoma"/>
              </a:defRPr>
            </a:lvl1pPr>
          </a:lstStyle>
          <a:p>
            <a:r>
              <a:t>PC</a:t>
            </a:r>
          </a:p>
        </p:txBody>
      </p:sp>
      <p:sp>
        <p:nvSpPr>
          <p:cNvPr id="300" name="TextBox 13"/>
          <p:cNvSpPr txBox="1"/>
          <p:nvPr/>
        </p:nvSpPr>
        <p:spPr>
          <a:xfrm>
            <a:off x="2714625" y="3524251"/>
            <a:ext cx="1133475" cy="3073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spcBef>
                <a:spcPts val="300"/>
              </a:spcBef>
              <a:defRPr sz="1400">
                <a:latin typeface="Tahoma"/>
                <a:ea typeface="Tahoma"/>
                <a:cs typeface="Tahoma"/>
                <a:sym typeface="Tahoma"/>
              </a:defRPr>
            </a:lvl1pPr>
          </a:lstStyle>
          <a:p>
            <a:r>
              <a:t>Server</a:t>
            </a:r>
          </a:p>
        </p:txBody>
      </p:sp>
      <p:sp>
        <p:nvSpPr>
          <p:cNvPr id="301" name="TextBox 14"/>
          <p:cNvSpPr txBox="1"/>
          <p:nvPr/>
        </p:nvSpPr>
        <p:spPr>
          <a:xfrm>
            <a:off x="3933825" y="3533776"/>
            <a:ext cx="1019175" cy="3073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spcBef>
                <a:spcPts val="300"/>
              </a:spcBef>
              <a:defRPr sz="1400">
                <a:latin typeface="Tahoma"/>
                <a:ea typeface="Tahoma"/>
                <a:cs typeface="Tahoma"/>
                <a:sym typeface="Tahoma"/>
              </a:defRPr>
            </a:lvl1pPr>
          </a:lstStyle>
          <a:p>
            <a:r>
              <a:t>Cluster</a:t>
            </a:r>
          </a:p>
        </p:txBody>
      </p:sp>
      <p:sp>
        <p:nvSpPr>
          <p:cNvPr id="302" name="TextBox 15"/>
          <p:cNvSpPr txBox="1"/>
          <p:nvPr/>
        </p:nvSpPr>
        <p:spPr>
          <a:xfrm>
            <a:off x="5562598" y="3533776"/>
            <a:ext cx="1190627" cy="3073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spcBef>
                <a:spcPts val="300"/>
              </a:spcBef>
              <a:defRPr sz="1400">
                <a:latin typeface="Tahoma"/>
                <a:ea typeface="Tahoma"/>
                <a:cs typeface="Tahoma"/>
                <a:sym typeface="Tahoma"/>
              </a:defRPr>
            </a:lvl1pPr>
          </a:lstStyle>
          <a:p>
            <a:r>
              <a:t>Data center</a:t>
            </a:r>
          </a:p>
        </p:txBody>
      </p:sp>
      <p:sp>
        <p:nvSpPr>
          <p:cNvPr id="303" name="TextBox 16"/>
          <p:cNvSpPr txBox="1"/>
          <p:nvPr/>
        </p:nvSpPr>
        <p:spPr>
          <a:xfrm>
            <a:off x="7734299" y="3524251"/>
            <a:ext cx="2381252" cy="3073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spcBef>
                <a:spcPts val="300"/>
              </a:spcBef>
              <a:defRPr sz="1400">
                <a:latin typeface="Tahoma"/>
                <a:ea typeface="Tahoma"/>
                <a:cs typeface="Tahoma"/>
                <a:sym typeface="Tahoma"/>
              </a:defRPr>
            </a:lvl1pPr>
          </a:lstStyle>
          <a:p>
            <a:r>
              <a:t>Network of data centers</a:t>
            </a:r>
          </a:p>
        </p:txBody>
      </p:sp>
      <p:pic>
        <p:nvPicPr>
          <p:cNvPr id="304" name="Picture 17" descr="Picture 17"/>
          <p:cNvPicPr>
            <a:picLocks noChangeAspect="1"/>
          </p:cNvPicPr>
          <p:nvPr/>
        </p:nvPicPr>
        <p:blipFill>
          <a:blip r:embed="rId5">
            <a:extLst/>
          </a:blip>
          <a:stretch>
            <a:fillRect/>
          </a:stretch>
        </p:blipFill>
        <p:spPr>
          <a:xfrm>
            <a:off x="5353050" y="1746104"/>
            <a:ext cx="1738312" cy="1701946"/>
          </a:xfrm>
          <a:prstGeom prst="rect">
            <a:avLst/>
          </a:prstGeom>
          <a:ln w="12700">
            <a:miter lim="400000"/>
          </a:ln>
        </p:spPr>
      </p:pic>
      <p:pic>
        <p:nvPicPr>
          <p:cNvPr id="305" name="Picture 18" descr="Picture 18"/>
          <p:cNvPicPr>
            <a:picLocks noChangeAspect="1"/>
          </p:cNvPicPr>
          <p:nvPr/>
        </p:nvPicPr>
        <p:blipFill>
          <a:blip r:embed="rId5">
            <a:extLst/>
          </a:blip>
          <a:stretch>
            <a:fillRect/>
          </a:stretch>
        </p:blipFill>
        <p:spPr>
          <a:xfrm>
            <a:off x="7800975" y="1203178"/>
            <a:ext cx="704850" cy="690105"/>
          </a:xfrm>
          <a:prstGeom prst="rect">
            <a:avLst/>
          </a:prstGeom>
          <a:ln w="12700">
            <a:miter lim="400000"/>
          </a:ln>
        </p:spPr>
      </p:pic>
      <p:pic>
        <p:nvPicPr>
          <p:cNvPr id="306" name="Picture 19" descr="Picture 19"/>
          <p:cNvPicPr>
            <a:picLocks noChangeAspect="1"/>
          </p:cNvPicPr>
          <p:nvPr/>
        </p:nvPicPr>
        <p:blipFill>
          <a:blip r:embed="rId5">
            <a:extLst/>
          </a:blip>
          <a:stretch>
            <a:fillRect/>
          </a:stretch>
        </p:blipFill>
        <p:spPr>
          <a:xfrm>
            <a:off x="8572500" y="1203178"/>
            <a:ext cx="704850" cy="690105"/>
          </a:xfrm>
          <a:prstGeom prst="rect">
            <a:avLst/>
          </a:prstGeom>
          <a:ln w="12700">
            <a:miter lim="400000"/>
          </a:ln>
        </p:spPr>
      </p:pic>
      <p:pic>
        <p:nvPicPr>
          <p:cNvPr id="307" name="Picture 20" descr="Picture 20"/>
          <p:cNvPicPr>
            <a:picLocks noChangeAspect="1"/>
          </p:cNvPicPr>
          <p:nvPr/>
        </p:nvPicPr>
        <p:blipFill>
          <a:blip r:embed="rId5">
            <a:extLst/>
          </a:blip>
          <a:stretch>
            <a:fillRect/>
          </a:stretch>
        </p:blipFill>
        <p:spPr>
          <a:xfrm>
            <a:off x="9344025" y="1203178"/>
            <a:ext cx="704850" cy="690105"/>
          </a:xfrm>
          <a:prstGeom prst="rect">
            <a:avLst/>
          </a:prstGeom>
          <a:ln w="12700">
            <a:miter lim="400000"/>
          </a:ln>
        </p:spPr>
      </p:pic>
      <p:pic>
        <p:nvPicPr>
          <p:cNvPr id="308" name="Picture 21" descr="Picture 21"/>
          <p:cNvPicPr>
            <a:picLocks noChangeAspect="1"/>
          </p:cNvPicPr>
          <p:nvPr/>
        </p:nvPicPr>
        <p:blipFill>
          <a:blip r:embed="rId5">
            <a:extLst/>
          </a:blip>
          <a:stretch>
            <a:fillRect/>
          </a:stretch>
        </p:blipFill>
        <p:spPr>
          <a:xfrm>
            <a:off x="7791450" y="1974704"/>
            <a:ext cx="704850" cy="690105"/>
          </a:xfrm>
          <a:prstGeom prst="rect">
            <a:avLst/>
          </a:prstGeom>
          <a:ln w="12700">
            <a:miter lim="400000"/>
          </a:ln>
        </p:spPr>
      </p:pic>
      <p:pic>
        <p:nvPicPr>
          <p:cNvPr id="309" name="Picture 22" descr="Picture 22"/>
          <p:cNvPicPr>
            <a:picLocks noChangeAspect="1"/>
          </p:cNvPicPr>
          <p:nvPr/>
        </p:nvPicPr>
        <p:blipFill>
          <a:blip r:embed="rId5">
            <a:extLst/>
          </a:blip>
          <a:stretch>
            <a:fillRect/>
          </a:stretch>
        </p:blipFill>
        <p:spPr>
          <a:xfrm>
            <a:off x="8562975" y="1974704"/>
            <a:ext cx="704850" cy="690105"/>
          </a:xfrm>
          <a:prstGeom prst="rect">
            <a:avLst/>
          </a:prstGeom>
          <a:ln w="12700">
            <a:miter lim="400000"/>
          </a:ln>
        </p:spPr>
      </p:pic>
      <p:pic>
        <p:nvPicPr>
          <p:cNvPr id="310" name="Picture 23" descr="Picture 23"/>
          <p:cNvPicPr>
            <a:picLocks noChangeAspect="1"/>
          </p:cNvPicPr>
          <p:nvPr/>
        </p:nvPicPr>
        <p:blipFill>
          <a:blip r:embed="rId5">
            <a:extLst/>
          </a:blip>
          <a:stretch>
            <a:fillRect/>
          </a:stretch>
        </p:blipFill>
        <p:spPr>
          <a:xfrm>
            <a:off x="9334500" y="1974704"/>
            <a:ext cx="704850" cy="690105"/>
          </a:xfrm>
          <a:prstGeom prst="rect">
            <a:avLst/>
          </a:prstGeom>
          <a:ln w="12700">
            <a:miter lim="400000"/>
          </a:ln>
        </p:spPr>
      </p:pic>
      <p:pic>
        <p:nvPicPr>
          <p:cNvPr id="311" name="Picture 24" descr="Picture 24"/>
          <p:cNvPicPr>
            <a:picLocks noChangeAspect="1"/>
          </p:cNvPicPr>
          <p:nvPr/>
        </p:nvPicPr>
        <p:blipFill>
          <a:blip r:embed="rId5">
            <a:extLst/>
          </a:blip>
          <a:stretch>
            <a:fillRect/>
          </a:stretch>
        </p:blipFill>
        <p:spPr>
          <a:xfrm>
            <a:off x="7791450" y="2746229"/>
            <a:ext cx="704850" cy="690105"/>
          </a:xfrm>
          <a:prstGeom prst="rect">
            <a:avLst/>
          </a:prstGeom>
          <a:ln w="12700">
            <a:miter lim="400000"/>
          </a:ln>
        </p:spPr>
      </p:pic>
      <p:pic>
        <p:nvPicPr>
          <p:cNvPr id="312" name="Picture 25" descr="Picture 25"/>
          <p:cNvPicPr>
            <a:picLocks noChangeAspect="1"/>
          </p:cNvPicPr>
          <p:nvPr/>
        </p:nvPicPr>
        <p:blipFill>
          <a:blip r:embed="rId5">
            <a:extLst/>
          </a:blip>
          <a:stretch>
            <a:fillRect/>
          </a:stretch>
        </p:blipFill>
        <p:spPr>
          <a:xfrm>
            <a:off x="8562975" y="2746229"/>
            <a:ext cx="704850" cy="690105"/>
          </a:xfrm>
          <a:prstGeom prst="rect">
            <a:avLst/>
          </a:prstGeom>
          <a:ln w="12700">
            <a:miter lim="400000"/>
          </a:ln>
        </p:spPr>
      </p:pic>
      <p:pic>
        <p:nvPicPr>
          <p:cNvPr id="313" name="Picture 26" descr="Picture 26"/>
          <p:cNvPicPr>
            <a:picLocks noChangeAspect="1"/>
          </p:cNvPicPr>
          <p:nvPr/>
        </p:nvPicPr>
        <p:blipFill>
          <a:blip r:embed="rId5">
            <a:extLst/>
          </a:blip>
          <a:stretch>
            <a:fillRect/>
          </a:stretch>
        </p:blipFill>
        <p:spPr>
          <a:xfrm>
            <a:off x="9334500" y="2746229"/>
            <a:ext cx="704850" cy="690105"/>
          </a:xfrm>
          <a:prstGeom prst="rect">
            <a:avLst/>
          </a:prstGeom>
          <a:ln w="12700">
            <a:miter lim="400000"/>
          </a:ln>
        </p:spPr>
      </p:pic>
    </p:spTree>
    <p:extLst>
      <p:ext uri="{BB962C8B-B14F-4D97-AF65-F5344CB8AC3E}">
        <p14:creationId xmlns:p14="http://schemas.microsoft.com/office/powerpoint/2010/main" val="305636348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305"/>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iterate>
                                    <p:tmAbs val="0"/>
                                  </p:iterate>
                                  <p:childTnLst>
                                    <p:set>
                                      <p:cBhvr>
                                        <p:cTn id="9" fill="hold"/>
                                        <p:tgtEl>
                                          <p:spTgt spid="306"/>
                                        </p:tgtEl>
                                        <p:attrNameLst>
                                          <p:attrName>style.visibility</p:attrName>
                                        </p:attrNameLst>
                                      </p:cBhvr>
                                      <p:to>
                                        <p:strVal val="visible"/>
                                      </p:to>
                                    </p:set>
                                  </p:childTnLst>
                                </p:cTn>
                              </p:par>
                            </p:childTnLst>
                          </p:cTn>
                        </p:par>
                        <p:par>
                          <p:cTn id="10" fill="hold">
                            <p:stCondLst>
                              <p:cond delay="0"/>
                            </p:stCondLst>
                            <p:childTnLst>
                              <p:par>
                                <p:cTn id="11" presetID="1" presetClass="entr" presetSubtype="0" fill="hold" grpId="0" nodeType="afterEffect">
                                  <p:stCondLst>
                                    <p:cond delay="0"/>
                                  </p:stCondLst>
                                  <p:iterate>
                                    <p:tmAbs val="0"/>
                                  </p:iterate>
                                  <p:childTnLst>
                                    <p:set>
                                      <p:cBhvr>
                                        <p:cTn id="12" fill="hold"/>
                                        <p:tgtEl>
                                          <p:spTgt spid="307"/>
                                        </p:tgtEl>
                                        <p:attrNameLst>
                                          <p:attrName>style.visibility</p:attrName>
                                        </p:attrNameLst>
                                      </p:cBhvr>
                                      <p:to>
                                        <p:strVal val="visible"/>
                                      </p:to>
                                    </p:set>
                                  </p:childTnLst>
                                </p:cTn>
                              </p:par>
                            </p:childTnLst>
                          </p:cTn>
                        </p:par>
                        <p:par>
                          <p:cTn id="13" fill="hold">
                            <p:stCondLst>
                              <p:cond delay="0"/>
                            </p:stCondLst>
                            <p:childTnLst>
                              <p:par>
                                <p:cTn id="14" presetID="1" presetClass="entr" presetSubtype="0" fill="hold" grpId="0" nodeType="afterEffect">
                                  <p:stCondLst>
                                    <p:cond delay="0"/>
                                  </p:stCondLst>
                                  <p:iterate>
                                    <p:tmAbs val="0"/>
                                  </p:iterate>
                                  <p:childTnLst>
                                    <p:set>
                                      <p:cBhvr>
                                        <p:cTn id="15" fill="hold"/>
                                        <p:tgtEl>
                                          <p:spTgt spid="308"/>
                                        </p:tgtEl>
                                        <p:attrNameLst>
                                          <p:attrName>style.visibility</p:attrName>
                                        </p:attrNameLst>
                                      </p:cBhvr>
                                      <p:to>
                                        <p:strVal val="visible"/>
                                      </p:to>
                                    </p:set>
                                  </p:childTnLst>
                                </p:cTn>
                              </p:par>
                            </p:childTnLst>
                          </p:cTn>
                        </p:par>
                        <p:par>
                          <p:cTn id="16" fill="hold">
                            <p:stCondLst>
                              <p:cond delay="0"/>
                            </p:stCondLst>
                            <p:childTnLst>
                              <p:par>
                                <p:cTn id="17" presetID="1" presetClass="entr" presetSubtype="0" fill="hold" grpId="0" nodeType="afterEffect">
                                  <p:stCondLst>
                                    <p:cond delay="0"/>
                                  </p:stCondLst>
                                  <p:iterate>
                                    <p:tmAbs val="0"/>
                                  </p:iterate>
                                  <p:childTnLst>
                                    <p:set>
                                      <p:cBhvr>
                                        <p:cTn id="18" fill="hold"/>
                                        <p:tgtEl>
                                          <p:spTgt spid="309"/>
                                        </p:tgtEl>
                                        <p:attrNameLst>
                                          <p:attrName>style.visibility</p:attrName>
                                        </p:attrNameLst>
                                      </p:cBhvr>
                                      <p:to>
                                        <p:strVal val="visible"/>
                                      </p:to>
                                    </p:set>
                                  </p:childTnLst>
                                </p:cTn>
                              </p:par>
                            </p:childTnLst>
                          </p:cTn>
                        </p:par>
                        <p:par>
                          <p:cTn id="19" fill="hold">
                            <p:stCondLst>
                              <p:cond delay="0"/>
                            </p:stCondLst>
                            <p:childTnLst>
                              <p:par>
                                <p:cTn id="20" presetID="1" presetClass="entr" presetSubtype="0" fill="hold" grpId="0" nodeType="afterEffect">
                                  <p:stCondLst>
                                    <p:cond delay="0"/>
                                  </p:stCondLst>
                                  <p:iterate>
                                    <p:tmAbs val="0"/>
                                  </p:iterate>
                                  <p:childTnLst>
                                    <p:set>
                                      <p:cBhvr>
                                        <p:cTn id="21" fill="hold"/>
                                        <p:tgtEl>
                                          <p:spTgt spid="310"/>
                                        </p:tgtEl>
                                        <p:attrNameLst>
                                          <p:attrName>style.visibility</p:attrName>
                                        </p:attrNameLst>
                                      </p:cBhvr>
                                      <p:to>
                                        <p:strVal val="visible"/>
                                      </p:to>
                                    </p:set>
                                  </p:childTnLst>
                                </p:cTn>
                              </p:par>
                            </p:childTnLst>
                          </p:cTn>
                        </p:par>
                        <p:par>
                          <p:cTn id="22" fill="hold">
                            <p:stCondLst>
                              <p:cond delay="0"/>
                            </p:stCondLst>
                            <p:childTnLst>
                              <p:par>
                                <p:cTn id="23" presetID="1" presetClass="entr" presetSubtype="0" fill="hold" grpId="0" nodeType="afterEffect">
                                  <p:stCondLst>
                                    <p:cond delay="0"/>
                                  </p:stCondLst>
                                  <p:iterate>
                                    <p:tmAbs val="0"/>
                                  </p:iterate>
                                  <p:childTnLst>
                                    <p:set>
                                      <p:cBhvr>
                                        <p:cTn id="24" fill="hold"/>
                                        <p:tgtEl>
                                          <p:spTgt spid="311"/>
                                        </p:tgtEl>
                                        <p:attrNameLst>
                                          <p:attrName>style.visibility</p:attrName>
                                        </p:attrNameLst>
                                      </p:cBhvr>
                                      <p:to>
                                        <p:strVal val="visible"/>
                                      </p:to>
                                    </p:set>
                                  </p:childTnLst>
                                </p:cTn>
                              </p:par>
                            </p:childTnLst>
                          </p:cTn>
                        </p:par>
                        <p:par>
                          <p:cTn id="25" fill="hold">
                            <p:stCondLst>
                              <p:cond delay="0"/>
                            </p:stCondLst>
                            <p:childTnLst>
                              <p:par>
                                <p:cTn id="26" presetID="1" presetClass="entr" presetSubtype="0" fill="hold" grpId="0" nodeType="afterEffect">
                                  <p:stCondLst>
                                    <p:cond delay="0"/>
                                  </p:stCondLst>
                                  <p:iterate>
                                    <p:tmAbs val="0"/>
                                  </p:iterate>
                                  <p:childTnLst>
                                    <p:set>
                                      <p:cBhvr>
                                        <p:cTn id="27" fill="hold"/>
                                        <p:tgtEl>
                                          <p:spTgt spid="312"/>
                                        </p:tgtEl>
                                        <p:attrNameLst>
                                          <p:attrName>style.visibility</p:attrName>
                                        </p:attrNameLst>
                                      </p:cBhvr>
                                      <p:to>
                                        <p:strVal val="visible"/>
                                      </p:to>
                                    </p:set>
                                  </p:childTnLst>
                                </p:cTn>
                              </p:par>
                            </p:childTnLst>
                          </p:cTn>
                        </p:par>
                        <p:par>
                          <p:cTn id="28" fill="hold">
                            <p:stCondLst>
                              <p:cond delay="0"/>
                            </p:stCondLst>
                            <p:childTnLst>
                              <p:par>
                                <p:cTn id="29" presetID="1" presetClass="entr" presetSubtype="0" fill="hold" grpId="0" nodeType="afterEffect">
                                  <p:stCondLst>
                                    <p:cond delay="0"/>
                                  </p:stCondLst>
                                  <p:iterate>
                                    <p:tmAbs val="0"/>
                                  </p:iterate>
                                  <p:childTnLst>
                                    <p:set>
                                      <p:cBhvr>
                                        <p:cTn id="30" fill="hold"/>
                                        <p:tgtEl>
                                          <p:spTgt spid="313"/>
                                        </p:tgtEl>
                                        <p:attrNameLst>
                                          <p:attrName>style.visibility</p:attrName>
                                        </p:attrNameLst>
                                      </p:cBhvr>
                                      <p:to>
                                        <p:strVal val="visible"/>
                                      </p:to>
                                    </p:set>
                                  </p:childTnLst>
                                </p:cTn>
                              </p:par>
                            </p:childTnLst>
                          </p:cTn>
                        </p:par>
                        <p:par>
                          <p:cTn id="31" fill="hold">
                            <p:stCondLst>
                              <p:cond delay="0"/>
                            </p:stCondLst>
                            <p:childTnLst>
                              <p:par>
                                <p:cTn id="32" presetID="1" presetClass="entr" presetSubtype="0" fill="hold" grpId="0" nodeType="afterEffect">
                                  <p:stCondLst>
                                    <p:cond delay="0"/>
                                  </p:stCondLst>
                                  <p:iterate>
                                    <p:tmAbs val="0"/>
                                  </p:iterate>
                                  <p:childTnLst>
                                    <p:set>
                                      <p:cBhvr>
                                        <p:cTn id="33" fill="hold"/>
                                        <p:tgtEl>
                                          <p:spTgt spid="303"/>
                                        </p:tgtEl>
                                        <p:attrNameLst>
                                          <p:attrName>style.visibility</p:attrName>
                                        </p:attrNameLst>
                                      </p:cBhvr>
                                      <p:to>
                                        <p:strVal val="visible"/>
                                      </p:to>
                                    </p:set>
                                  </p:childTnLst>
                                </p:cTn>
                              </p:par>
                            </p:childTnLst>
                          </p:cTn>
                        </p:par>
                        <p:par>
                          <p:cTn id="34" fill="hold">
                            <p:stCondLst>
                              <p:cond delay="0"/>
                            </p:stCondLst>
                            <p:childTnLst>
                              <p:par>
                                <p:cTn id="35" presetID="1" presetClass="entr" presetSubtype="0" fill="hold" grpId="0" nodeType="afterEffect">
                                  <p:stCondLst>
                                    <p:cond delay="0"/>
                                  </p:stCondLst>
                                  <p:iterate>
                                    <p:tmAbs val="0"/>
                                  </p:iterate>
                                  <p:childTnLst>
                                    <p:set>
                                      <p:cBhvr>
                                        <p:cTn id="36" fill="hold"/>
                                        <p:tgtEl>
                                          <p:spTgt spid="294">
                                            <p:txEl>
                                              <p:pRg st="1" end="1"/>
                                            </p:txEl>
                                          </p:spTgt>
                                        </p:tgtEl>
                                        <p:attrNameLst>
                                          <p:attrName>style.visibility</p:attrName>
                                        </p:attrNameLst>
                                      </p:cBhvr>
                                      <p:to>
                                        <p:strVal val="visible"/>
                                      </p:to>
                                    </p:set>
                                  </p:childTnLst>
                                </p:cTn>
                              </p:par>
                            </p:childTnLst>
                          </p:cTn>
                        </p:par>
                        <p:par>
                          <p:cTn id="37" fill="hold">
                            <p:stCondLst>
                              <p:cond delay="0"/>
                            </p:stCondLst>
                            <p:childTnLst>
                              <p:par>
                                <p:cTn id="38" presetID="1" presetClass="entr" presetSubtype="0" fill="hold" grpId="0" nodeType="afterEffect">
                                  <p:stCondLst>
                                    <p:cond delay="0"/>
                                  </p:stCondLst>
                                  <p:iterate>
                                    <p:tmAbs val="0"/>
                                  </p:iterate>
                                  <p:childTnLst>
                                    <p:set>
                                      <p:cBhvr>
                                        <p:cTn id="39" fill="hold"/>
                                        <p:tgtEl>
                                          <p:spTgt spid="29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4" grpId="0" build="p" bldLvl="5" animBg="1" advAuto="0"/>
      <p:bldP spid="303" grpId="0" animBg="1" advAuto="0"/>
      <p:bldP spid="305" grpId="0" animBg="1" advAuto="0"/>
      <p:bldP spid="306" grpId="0" animBg="1" advAuto="0"/>
      <p:bldP spid="307" grpId="0" animBg="1" advAuto="0"/>
      <p:bldP spid="308" grpId="0" animBg="1" advAuto="0"/>
      <p:bldP spid="309" grpId="0" animBg="1" advAuto="0"/>
      <p:bldP spid="310" grpId="0" animBg="1" advAuto="0"/>
      <p:bldP spid="311" grpId="0" animBg="1" advAuto="0"/>
      <p:bldP spid="312" grpId="0" animBg="1" advAuto="0"/>
      <p:bldP spid="313" grpId="0" animBg="1" advAuto="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 name="Title 1"/>
          <p:cNvSpPr txBox="1">
            <a:spLocks noGrp="1"/>
          </p:cNvSpPr>
          <p:nvPr>
            <p:ph type="title"/>
          </p:nvPr>
        </p:nvSpPr>
        <p:spPr>
          <a:xfrm>
            <a:off x="838200" y="365125"/>
            <a:ext cx="10515600" cy="1325563"/>
          </a:xfrm>
          <a:prstGeom prst="rect">
            <a:avLst/>
          </a:prstGeom>
        </p:spPr>
        <p:txBody>
          <a:bodyPr/>
          <a:lstStyle/>
          <a:p>
            <a:r>
              <a:t>Global distribution</a:t>
            </a:r>
          </a:p>
        </p:txBody>
      </p:sp>
      <p:sp>
        <p:nvSpPr>
          <p:cNvPr id="316" name="Content Placeholder 2"/>
          <p:cNvSpPr txBox="1">
            <a:spLocks noGrp="1"/>
          </p:cNvSpPr>
          <p:nvPr>
            <p:ph type="body" sz="half" idx="1"/>
          </p:nvPr>
        </p:nvSpPr>
        <p:spPr>
          <a:xfrm>
            <a:off x="2514600" y="3867151"/>
            <a:ext cx="7772400" cy="2466976"/>
          </a:xfrm>
          <a:prstGeom prst="rect">
            <a:avLst/>
          </a:prstGeom>
        </p:spPr>
        <p:txBody>
          <a:bodyPr/>
          <a:lstStyle/>
          <a:p>
            <a:pPr>
              <a:lnSpc>
                <a:spcPct val="81000"/>
              </a:lnSpc>
            </a:pPr>
            <a:r>
              <a:t>Data centers are often globally distributed</a:t>
            </a:r>
          </a:p>
          <a:p>
            <a:pPr marL="685800" lvl="1" indent="-228600">
              <a:lnSpc>
                <a:spcPct val="81000"/>
              </a:lnSpc>
              <a:spcBef>
                <a:spcPts val="500"/>
              </a:spcBef>
              <a:defRPr sz="2400"/>
            </a:pPr>
            <a:r>
              <a:t>Example above: Google data center locations (inferred)</a:t>
            </a:r>
          </a:p>
          <a:p>
            <a:pPr>
              <a:lnSpc>
                <a:spcPct val="81000"/>
              </a:lnSpc>
            </a:pPr>
            <a:r>
              <a:t>Why?</a:t>
            </a:r>
          </a:p>
          <a:p>
            <a:pPr marL="685800" lvl="1" indent="-228600">
              <a:lnSpc>
                <a:spcPct val="81000"/>
              </a:lnSpc>
              <a:spcBef>
                <a:spcPts val="500"/>
              </a:spcBef>
              <a:defRPr sz="2400"/>
            </a:pPr>
            <a:r>
              <a:t>Need to be close to users (physics!)</a:t>
            </a:r>
          </a:p>
          <a:p>
            <a:pPr marL="685800" lvl="1" indent="-228600">
              <a:lnSpc>
                <a:spcPct val="81000"/>
              </a:lnSpc>
              <a:spcBef>
                <a:spcPts val="500"/>
              </a:spcBef>
              <a:defRPr sz="2400"/>
            </a:pPr>
            <a:r>
              <a:t>Cheaper resources</a:t>
            </a:r>
          </a:p>
          <a:p>
            <a:pPr marL="685800" lvl="1" indent="-228600">
              <a:lnSpc>
                <a:spcPct val="81000"/>
              </a:lnSpc>
              <a:spcBef>
                <a:spcPts val="500"/>
              </a:spcBef>
              <a:defRPr sz="2400"/>
            </a:pPr>
            <a:r>
              <a:t>Protection against failures</a:t>
            </a:r>
          </a:p>
        </p:txBody>
      </p:sp>
      <p:sp>
        <p:nvSpPr>
          <p:cNvPr id="317" name="Slide Number Placeholder 3"/>
          <p:cNvSpPr txBox="1">
            <a:spLocks noGrp="1"/>
          </p:cNvSpPr>
          <p:nvPr>
            <p:ph type="sldNum" sz="quarter" idx="4294967295"/>
          </p:nvPr>
        </p:nvSpPr>
        <p:spPr>
          <a:xfrm>
            <a:off x="11083270" y="6404292"/>
            <a:ext cx="270531" cy="269241"/>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23</a:t>
            </a:fld>
            <a:endParaRPr/>
          </a:p>
        </p:txBody>
      </p:sp>
      <p:pic>
        <p:nvPicPr>
          <p:cNvPr id="318" name="Content Placeholder 5" descr="Content Placeholder 5"/>
          <p:cNvPicPr>
            <a:picLocks noChangeAspect="1"/>
          </p:cNvPicPr>
          <p:nvPr/>
        </p:nvPicPr>
        <p:blipFill>
          <a:blip r:embed="rId2">
            <a:extLst/>
          </a:blip>
          <a:stretch>
            <a:fillRect/>
          </a:stretch>
        </p:blipFill>
        <p:spPr>
          <a:xfrm>
            <a:off x="6381520" y="1657350"/>
            <a:ext cx="3937822" cy="1828801"/>
          </a:xfrm>
          <a:prstGeom prst="rect">
            <a:avLst/>
          </a:prstGeom>
          <a:ln w="12700">
            <a:miter lim="400000"/>
          </a:ln>
        </p:spPr>
      </p:pic>
      <p:pic>
        <p:nvPicPr>
          <p:cNvPr id="319" name="Picture 6" descr="Picture 6"/>
          <p:cNvPicPr>
            <a:picLocks noChangeAspect="1"/>
          </p:cNvPicPr>
          <p:nvPr/>
        </p:nvPicPr>
        <p:blipFill>
          <a:blip r:embed="rId3">
            <a:extLst/>
          </a:blip>
          <a:stretch>
            <a:fillRect/>
          </a:stretch>
        </p:blipFill>
        <p:spPr>
          <a:xfrm>
            <a:off x="2847975" y="1657350"/>
            <a:ext cx="3421628" cy="1828800"/>
          </a:xfrm>
          <a:prstGeom prst="rect">
            <a:avLst/>
          </a:prstGeom>
          <a:ln w="12700">
            <a:miter lim="400000"/>
          </a:ln>
        </p:spPr>
      </p:pic>
    </p:spTree>
    <p:extLst>
      <p:ext uri="{BB962C8B-B14F-4D97-AF65-F5344CB8AC3E}">
        <p14:creationId xmlns:p14="http://schemas.microsoft.com/office/powerpoint/2010/main" val="410405615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316">
                                            <p:txEl>
                                              <p:pRg st="3" end="3"/>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iterate>
                                    <p:tmAbs val="0"/>
                                  </p:iterate>
                                  <p:childTnLst>
                                    <p:set>
                                      <p:cBhvr>
                                        <p:cTn id="9" fill="hold"/>
                                        <p:tgtEl>
                                          <p:spTgt spid="316">
                                            <p:txEl>
                                              <p:pRg st="4" end="4"/>
                                            </p:txEl>
                                          </p:spTgt>
                                        </p:tgtEl>
                                        <p:attrNameLst>
                                          <p:attrName>style.visibility</p:attrName>
                                        </p:attrNameLst>
                                      </p:cBhvr>
                                      <p:to>
                                        <p:strVal val="visible"/>
                                      </p:to>
                                    </p:set>
                                  </p:childTnLst>
                                </p:cTn>
                              </p:par>
                            </p:childTnLst>
                          </p:cTn>
                        </p:par>
                        <p:par>
                          <p:cTn id="10" fill="hold">
                            <p:stCondLst>
                              <p:cond delay="0"/>
                            </p:stCondLst>
                            <p:childTnLst>
                              <p:par>
                                <p:cTn id="11" presetID="1" presetClass="entr" presetSubtype="0" fill="hold" grpId="0" nodeType="afterEffect">
                                  <p:stCondLst>
                                    <p:cond delay="0"/>
                                  </p:stCondLst>
                                  <p:iterate>
                                    <p:tmAbs val="0"/>
                                  </p:iterate>
                                  <p:childTnLst>
                                    <p:set>
                                      <p:cBhvr>
                                        <p:cTn id="12" fill="hold"/>
                                        <p:tgtEl>
                                          <p:spTgt spid="31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6" grpId="0" build="p" bldLvl="5" animBg="1" advAuto="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1" name="Title 1"/>
          <p:cNvSpPr txBox="1">
            <a:spLocks noGrp="1"/>
          </p:cNvSpPr>
          <p:nvPr>
            <p:ph type="title"/>
          </p:nvPr>
        </p:nvSpPr>
        <p:spPr>
          <a:xfrm>
            <a:off x="838200" y="365125"/>
            <a:ext cx="10515600" cy="1325563"/>
          </a:xfrm>
          <a:prstGeom prst="rect">
            <a:avLst/>
          </a:prstGeom>
        </p:spPr>
        <p:txBody>
          <a:bodyPr/>
          <a:lstStyle/>
          <a:p>
            <a:r>
              <a:t>Trend: Modular data center</a:t>
            </a:r>
          </a:p>
        </p:txBody>
      </p:sp>
      <p:sp>
        <p:nvSpPr>
          <p:cNvPr id="322" name="Content Placeholder 2"/>
          <p:cNvSpPr txBox="1">
            <a:spLocks noGrp="1"/>
          </p:cNvSpPr>
          <p:nvPr>
            <p:ph type="body" sz="half" idx="1"/>
          </p:nvPr>
        </p:nvSpPr>
        <p:spPr>
          <a:xfrm>
            <a:off x="787846" y="4029074"/>
            <a:ext cx="9499154" cy="2162176"/>
          </a:xfrm>
          <a:prstGeom prst="rect">
            <a:avLst/>
          </a:prstGeom>
        </p:spPr>
        <p:txBody>
          <a:bodyPr/>
          <a:lstStyle/>
          <a:p>
            <a:r>
              <a:t>Need more capacity? Just deploy another container!</a:t>
            </a:r>
          </a:p>
        </p:txBody>
      </p:sp>
      <p:sp>
        <p:nvSpPr>
          <p:cNvPr id="323" name="Slide Number Placeholder 3"/>
          <p:cNvSpPr txBox="1">
            <a:spLocks noGrp="1"/>
          </p:cNvSpPr>
          <p:nvPr>
            <p:ph type="sldNum" sz="quarter" idx="4294967295"/>
          </p:nvPr>
        </p:nvSpPr>
        <p:spPr>
          <a:xfrm>
            <a:off x="11083270" y="6404292"/>
            <a:ext cx="270531" cy="269241"/>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24</a:t>
            </a:fld>
            <a:endParaRPr/>
          </a:p>
        </p:txBody>
      </p:sp>
      <p:pic>
        <p:nvPicPr>
          <p:cNvPr id="324" name="Picture 5" descr="Picture 5"/>
          <p:cNvPicPr>
            <a:picLocks noChangeAspect="1"/>
          </p:cNvPicPr>
          <p:nvPr/>
        </p:nvPicPr>
        <p:blipFill>
          <a:blip r:embed="rId2">
            <a:extLst/>
          </a:blip>
          <a:stretch>
            <a:fillRect/>
          </a:stretch>
        </p:blipFill>
        <p:spPr>
          <a:xfrm>
            <a:off x="2990850" y="1587500"/>
            <a:ext cx="2962275" cy="1974850"/>
          </a:xfrm>
          <a:prstGeom prst="rect">
            <a:avLst/>
          </a:prstGeom>
          <a:ln w="12700">
            <a:miter lim="400000"/>
          </a:ln>
        </p:spPr>
      </p:pic>
      <p:pic>
        <p:nvPicPr>
          <p:cNvPr id="325" name="Picture 6" descr="Picture 6"/>
          <p:cNvPicPr>
            <a:picLocks noChangeAspect="1"/>
          </p:cNvPicPr>
          <p:nvPr/>
        </p:nvPicPr>
        <p:blipFill>
          <a:blip r:embed="rId3">
            <a:extLst/>
          </a:blip>
          <a:stretch>
            <a:fillRect/>
          </a:stretch>
        </p:blipFill>
        <p:spPr>
          <a:xfrm>
            <a:off x="6672261" y="1590675"/>
            <a:ext cx="2986090" cy="1990726"/>
          </a:xfrm>
          <a:prstGeom prst="rect">
            <a:avLst/>
          </a:prstGeom>
          <a:ln w="12700">
            <a:miter lim="400000"/>
          </a:ln>
        </p:spPr>
      </p:pic>
      <p:pic>
        <p:nvPicPr>
          <p:cNvPr id="326" name="Picture 7" descr="Picture 7"/>
          <p:cNvPicPr>
            <a:picLocks noChangeAspect="1"/>
          </p:cNvPicPr>
          <p:nvPr/>
        </p:nvPicPr>
        <p:blipFill>
          <a:blip r:embed="rId4">
            <a:extLst/>
          </a:blip>
          <a:stretch>
            <a:fillRect/>
          </a:stretch>
        </p:blipFill>
        <p:spPr>
          <a:xfrm>
            <a:off x="8981233" y="4106613"/>
            <a:ext cx="2036018" cy="2007098"/>
          </a:xfrm>
          <a:prstGeom prst="rect">
            <a:avLst/>
          </a:prstGeom>
          <a:ln w="12700">
            <a:miter lim="400000"/>
          </a:ln>
        </p:spPr>
      </p:pic>
    </p:spTree>
    <p:extLst>
      <p:ext uri="{BB962C8B-B14F-4D97-AF65-F5344CB8AC3E}">
        <p14:creationId xmlns:p14="http://schemas.microsoft.com/office/powerpoint/2010/main" val="246000381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8" name="Title 1"/>
          <p:cNvSpPr txBox="1">
            <a:spLocks noGrp="1"/>
          </p:cNvSpPr>
          <p:nvPr>
            <p:ph type="title"/>
          </p:nvPr>
        </p:nvSpPr>
        <p:spPr>
          <a:xfrm>
            <a:off x="838200" y="365125"/>
            <a:ext cx="10515600" cy="1325563"/>
          </a:xfrm>
          <a:prstGeom prst="rect">
            <a:avLst/>
          </a:prstGeom>
        </p:spPr>
        <p:txBody>
          <a:bodyPr/>
          <a:lstStyle/>
          <a:p>
            <a:r>
              <a:t>Plan for today</a:t>
            </a:r>
          </a:p>
        </p:txBody>
      </p:sp>
      <p:sp>
        <p:nvSpPr>
          <p:cNvPr id="329" name="Content Placeholder 2"/>
          <p:cNvSpPr txBox="1">
            <a:spLocks noGrp="1"/>
          </p:cNvSpPr>
          <p:nvPr>
            <p:ph type="body" idx="1"/>
          </p:nvPr>
        </p:nvSpPr>
        <p:spPr>
          <a:xfrm>
            <a:off x="857349" y="1658938"/>
            <a:ext cx="9515376" cy="4532313"/>
          </a:xfrm>
          <a:prstGeom prst="rect">
            <a:avLst/>
          </a:prstGeom>
        </p:spPr>
        <p:txBody>
          <a:bodyPr/>
          <a:lstStyle/>
          <a:p>
            <a:pPr marL="226313" indent="-226313" defTabSz="905255">
              <a:spcBef>
                <a:spcPts val="900"/>
              </a:spcBef>
              <a:defRPr sz="2772"/>
            </a:pPr>
            <a:r>
              <a:t>Computing at scale</a:t>
            </a:r>
          </a:p>
          <a:p>
            <a:pPr marL="678941" lvl="1" indent="-226313" defTabSz="905255">
              <a:spcBef>
                <a:spcPts val="400"/>
              </a:spcBef>
              <a:defRPr sz="2376"/>
            </a:pPr>
            <a:r>
              <a:t>The need for scalability; scale of current services</a:t>
            </a:r>
          </a:p>
          <a:p>
            <a:pPr marL="678941" lvl="1" indent="-226313" defTabSz="905255">
              <a:spcBef>
                <a:spcPts val="400"/>
              </a:spcBef>
              <a:defRPr sz="2376"/>
            </a:pPr>
            <a:r>
              <a:t>Scaling up: From PCs to data centers</a:t>
            </a:r>
          </a:p>
          <a:p>
            <a:pPr marL="678941" lvl="1" indent="-226313" defTabSz="905255">
              <a:spcBef>
                <a:spcPts val="400"/>
              </a:spcBef>
              <a:defRPr sz="2376">
                <a:solidFill>
                  <a:srgbClr val="FF9900"/>
                </a:solidFill>
              </a:defRPr>
            </a:pPr>
            <a:r>
              <a:t>Problems with 'classical' scaling techniques </a:t>
            </a:r>
            <a:br/>
            <a:endParaRPr/>
          </a:p>
          <a:p>
            <a:pPr marL="226313" indent="-226313" defTabSz="905255">
              <a:spcBef>
                <a:spcPts val="900"/>
              </a:spcBef>
              <a:defRPr sz="2772"/>
            </a:pPr>
            <a:r>
              <a:t>Utility computing and cloud computing</a:t>
            </a:r>
          </a:p>
          <a:p>
            <a:pPr marL="678941" lvl="1" indent="-226313" defTabSz="905255">
              <a:spcBef>
                <a:spcPts val="400"/>
              </a:spcBef>
              <a:defRPr sz="2376"/>
            </a:pPr>
            <a:r>
              <a:t>What are utility computing and cloud computing?</a:t>
            </a:r>
          </a:p>
          <a:p>
            <a:pPr marL="678941" lvl="1" indent="-226313" defTabSz="905255">
              <a:spcBef>
                <a:spcPts val="400"/>
              </a:spcBef>
              <a:defRPr sz="2376"/>
            </a:pPr>
            <a:r>
              <a:t>What kinds of clouds exist today?</a:t>
            </a:r>
          </a:p>
          <a:p>
            <a:pPr marL="678941" lvl="1" indent="-226313" defTabSz="905255">
              <a:spcBef>
                <a:spcPts val="400"/>
              </a:spcBef>
              <a:defRPr sz="2376"/>
            </a:pPr>
            <a:r>
              <a:t>What kinds of applications run on the cloud?</a:t>
            </a:r>
          </a:p>
          <a:p>
            <a:pPr marL="678941" lvl="1" indent="-226313" defTabSz="905255">
              <a:spcBef>
                <a:spcPts val="400"/>
              </a:spcBef>
              <a:defRPr sz="2376"/>
            </a:pPr>
            <a:r>
              <a:t>Virtualization: How clouds work 'under the hood'</a:t>
            </a:r>
          </a:p>
          <a:p>
            <a:pPr marL="678941" lvl="1" indent="-226313" defTabSz="905255">
              <a:spcBef>
                <a:spcPts val="400"/>
              </a:spcBef>
              <a:defRPr sz="2376"/>
            </a:pPr>
            <a:r>
              <a:t>Some cloud computing challenges</a:t>
            </a:r>
          </a:p>
        </p:txBody>
      </p:sp>
      <p:sp>
        <p:nvSpPr>
          <p:cNvPr id="330" name="Slide Number Placeholder 3"/>
          <p:cNvSpPr txBox="1">
            <a:spLocks noGrp="1"/>
          </p:cNvSpPr>
          <p:nvPr>
            <p:ph type="sldNum" sz="quarter" idx="4294967295"/>
          </p:nvPr>
        </p:nvSpPr>
        <p:spPr>
          <a:xfrm>
            <a:off x="11083270" y="6404292"/>
            <a:ext cx="270531" cy="269241"/>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25</a:t>
            </a:fld>
            <a:endParaRPr/>
          </a:p>
        </p:txBody>
      </p:sp>
    </p:spTree>
    <p:extLst>
      <p:ext uri="{BB962C8B-B14F-4D97-AF65-F5344CB8AC3E}">
        <p14:creationId xmlns:p14="http://schemas.microsoft.com/office/powerpoint/2010/main" val="355449679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TotalTime>
  <Words>1200</Words>
  <Application>Microsoft Office PowerPoint</Application>
  <PresentationFormat>Widescreen</PresentationFormat>
  <Paragraphs>233</Paragraphs>
  <Slides>25</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25</vt:i4>
      </vt:variant>
    </vt:vector>
  </HeadingPairs>
  <TitlesOfParts>
    <vt:vector size="32" baseType="lpstr">
      <vt:lpstr>Arial</vt:lpstr>
      <vt:lpstr>Calibri</vt:lpstr>
      <vt:lpstr>Calibri Light</vt:lpstr>
      <vt:lpstr>Symbol</vt:lpstr>
      <vt:lpstr>Tahoma</vt:lpstr>
      <vt:lpstr>Times New Roman</vt:lpstr>
      <vt:lpstr>Office Theme</vt:lpstr>
      <vt:lpstr>Characteristics of Cloud Computing</vt:lpstr>
      <vt:lpstr>Key Characteristics of Cloud Computing</vt:lpstr>
      <vt:lpstr>PowerPoint Presentation</vt:lpstr>
      <vt:lpstr>Cloud Computing– Focal Points by Definition </vt:lpstr>
      <vt:lpstr>How many users and objects?</vt:lpstr>
      <vt:lpstr>How much data?</vt:lpstr>
      <vt:lpstr>How much computation?</vt:lpstr>
      <vt:lpstr>Why should I care?</vt:lpstr>
      <vt:lpstr>Intro to Cloud Computing: Agenda</vt:lpstr>
      <vt:lpstr>Scaling up</vt:lpstr>
      <vt:lpstr>Clusters</vt:lpstr>
      <vt:lpstr>Power and cooling</vt:lpstr>
      <vt:lpstr>Scaling up</vt:lpstr>
      <vt:lpstr>Scaling the Cloud</vt:lpstr>
      <vt:lpstr>What does a data center look like?</vt:lpstr>
      <vt:lpstr>What's in a data center?</vt:lpstr>
      <vt:lpstr>What's in a data center?</vt:lpstr>
      <vt:lpstr>What's in a data center?</vt:lpstr>
      <vt:lpstr>What's in a data center?</vt:lpstr>
      <vt:lpstr>Energy matters!</vt:lpstr>
      <vt:lpstr>Energy matters!</vt:lpstr>
      <vt:lpstr>Scaling up</vt:lpstr>
      <vt:lpstr>Global distribution</vt:lpstr>
      <vt:lpstr>Trend: Modular data center</vt:lpstr>
      <vt:lpstr>Plan for today</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USER</cp:lastModifiedBy>
  <cp:revision>3</cp:revision>
  <dcterms:created xsi:type="dcterms:W3CDTF">2026-05-09T12:33:29Z</dcterms:created>
  <dcterms:modified xsi:type="dcterms:W3CDTF">2026-05-09T13:12:06Z</dcterms:modified>
</cp:coreProperties>
</file>