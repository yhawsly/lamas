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7" r:id="rId7"/>
    <p:sldId id="279" r:id="rId8"/>
    <p:sldId id="261" r:id="rId9"/>
    <p:sldId id="268" r:id="rId10"/>
    <p:sldId id="269" r:id="rId11"/>
    <p:sldId id="264" r:id="rId12"/>
    <p:sldId id="265" r:id="rId13"/>
    <p:sldId id="278" r:id="rId14"/>
    <p:sldId id="266" r:id="rId15"/>
    <p:sldId id="273" r:id="rId16"/>
    <p:sldId id="274" r:id="rId17"/>
    <p:sldId id="277" r:id="rId18"/>
    <p:sldId id="276" r:id="rId19"/>
    <p:sldId id="275" r:id="rId20"/>
    <p:sldId id="270"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2527" autoAdjust="0"/>
  </p:normalViewPr>
  <p:slideViewPr>
    <p:cSldViewPr snapToGrid="0">
      <p:cViewPr>
        <p:scale>
          <a:sx n="98" d="100"/>
          <a:sy n="98" d="100"/>
        </p:scale>
        <p:origin x="1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1F937-1BCF-4832-B259-E93F8703E879}" type="datetimeFigureOut">
              <a:rPr lang="en-US" smtClean="0"/>
              <a:t>8/6/2026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1BBEA-4A60-467E-9F5D-27C1BB6C9C8B}" type="slidenum">
              <a:rPr lang="en-US" smtClean="0"/>
              <a:t>‹#›</a:t>
            </a:fld>
            <a:endParaRPr lang="en-US"/>
          </a:p>
        </p:txBody>
      </p:sp>
    </p:spTree>
    <p:extLst>
      <p:ext uri="{BB962C8B-B14F-4D97-AF65-F5344CB8AC3E}">
        <p14:creationId xmlns:p14="http://schemas.microsoft.com/office/powerpoint/2010/main" val="2203766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an Ironical twist the founder of Lincoln developed the first closed body automobile, but it was a Cadillac. Henry Leland, who took over the Henry Ford Company in 1902 and later establish the Cadillac Automobile Company, developed a prototype in 1905 called the Osceola that offered solid protection from the outside elements.</a:t>
            </a:r>
            <a:endParaRPr lang="en-US" dirty="0"/>
          </a:p>
        </p:txBody>
      </p:sp>
      <p:sp>
        <p:nvSpPr>
          <p:cNvPr id="4" name="Slide Number Placeholder 3"/>
          <p:cNvSpPr>
            <a:spLocks noGrp="1"/>
          </p:cNvSpPr>
          <p:nvPr>
            <p:ph type="sldNum" sz="quarter" idx="5"/>
          </p:nvPr>
        </p:nvSpPr>
        <p:spPr/>
        <p:txBody>
          <a:bodyPr/>
          <a:lstStyle/>
          <a:p>
            <a:fld id="{2E61BBEA-4A60-467E-9F5D-27C1BB6C9C8B}" type="slidenum">
              <a:rPr lang="en-US" smtClean="0"/>
              <a:t>7</a:t>
            </a:fld>
            <a:endParaRPr lang="en-US"/>
          </a:p>
        </p:txBody>
      </p:sp>
    </p:spTree>
    <p:extLst>
      <p:ext uri="{BB962C8B-B14F-4D97-AF65-F5344CB8AC3E}">
        <p14:creationId xmlns:p14="http://schemas.microsoft.com/office/powerpoint/2010/main" val="571031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Modern HVAC systems may also include automatic climate control, which uses sensors and electronic controls to maintain a desired cabin temperature automatically for improved comfort and convenience.</a:t>
            </a:r>
          </a:p>
          <a:p>
            <a:endParaRPr lang="en-US" dirty="0"/>
          </a:p>
        </p:txBody>
      </p:sp>
      <p:sp>
        <p:nvSpPr>
          <p:cNvPr id="4" name="Slide Number Placeholder 3"/>
          <p:cNvSpPr>
            <a:spLocks noGrp="1"/>
          </p:cNvSpPr>
          <p:nvPr>
            <p:ph type="sldNum" sz="quarter" idx="5"/>
          </p:nvPr>
        </p:nvSpPr>
        <p:spPr/>
        <p:txBody>
          <a:bodyPr/>
          <a:lstStyle/>
          <a:p>
            <a:fld id="{2E61BBEA-4A60-467E-9F5D-27C1BB6C9C8B}" type="slidenum">
              <a:rPr lang="en-US" smtClean="0"/>
              <a:t>11</a:t>
            </a:fld>
            <a:endParaRPr lang="en-US"/>
          </a:p>
        </p:txBody>
      </p:sp>
    </p:spTree>
    <p:extLst>
      <p:ext uri="{BB962C8B-B14F-4D97-AF65-F5344CB8AC3E}">
        <p14:creationId xmlns:p14="http://schemas.microsoft.com/office/powerpoint/2010/main" val="1670741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dehumidify means to remove moisture or water vapor from the air or a surrounding environment. The process lowers the overall level of humidity (dampness), making the air drier and more comfortable.</a:t>
            </a:r>
            <a:endParaRPr lang="en-US" dirty="0"/>
          </a:p>
        </p:txBody>
      </p:sp>
      <p:sp>
        <p:nvSpPr>
          <p:cNvPr id="4" name="Slide Number Placeholder 3"/>
          <p:cNvSpPr>
            <a:spLocks noGrp="1"/>
          </p:cNvSpPr>
          <p:nvPr>
            <p:ph type="sldNum" sz="quarter" idx="5"/>
          </p:nvPr>
        </p:nvSpPr>
        <p:spPr/>
        <p:txBody>
          <a:bodyPr/>
          <a:lstStyle/>
          <a:p>
            <a:fld id="{2E61BBEA-4A60-467E-9F5D-27C1BB6C9C8B}" type="slidenum">
              <a:rPr lang="en-US" smtClean="0"/>
              <a:t>12</a:t>
            </a:fld>
            <a:endParaRPr lang="en-US"/>
          </a:p>
        </p:txBody>
      </p:sp>
    </p:spTree>
    <p:extLst>
      <p:ext uri="{BB962C8B-B14F-4D97-AF65-F5344CB8AC3E}">
        <p14:creationId xmlns:p14="http://schemas.microsoft.com/office/powerpoint/2010/main" val="1225033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dehumidify means to remove moisture or water vapor from the air or a surrounding environment. The process lowers the overall level of humidity (dampness), making the air drier and more comfortable.</a:t>
            </a:r>
            <a:endParaRPr lang="en-US" dirty="0"/>
          </a:p>
        </p:txBody>
      </p:sp>
      <p:sp>
        <p:nvSpPr>
          <p:cNvPr id="4" name="Slide Number Placeholder 3"/>
          <p:cNvSpPr>
            <a:spLocks noGrp="1"/>
          </p:cNvSpPr>
          <p:nvPr>
            <p:ph type="sldNum" sz="quarter" idx="5"/>
          </p:nvPr>
        </p:nvSpPr>
        <p:spPr/>
        <p:txBody>
          <a:bodyPr/>
          <a:lstStyle/>
          <a:p>
            <a:fld id="{2E61BBEA-4A60-467E-9F5D-27C1BB6C9C8B}" type="slidenum">
              <a:rPr lang="en-US" smtClean="0"/>
              <a:t>13</a:t>
            </a:fld>
            <a:endParaRPr lang="en-US"/>
          </a:p>
        </p:txBody>
      </p:sp>
    </p:spTree>
    <p:extLst>
      <p:ext uri="{BB962C8B-B14F-4D97-AF65-F5344CB8AC3E}">
        <p14:creationId xmlns:p14="http://schemas.microsoft.com/office/powerpoint/2010/main" val="3380086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DE1-4E90-4C27-A8A0-D1A0803045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CB5B02-4FA5-46DD-9CE8-66E39B9134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CAC2A4-6821-4132-9D9E-7FC53816E8E7}"/>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5" name="Footer Placeholder 4">
            <a:extLst>
              <a:ext uri="{FF2B5EF4-FFF2-40B4-BE49-F238E27FC236}">
                <a16:creationId xmlns:a16="http://schemas.microsoft.com/office/drawing/2014/main" id="{CE033A5D-E7EF-4E4A-890C-44B2A11C5A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4E044-4A43-4D02-A35A-C84831103C09}"/>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623069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1C41-CEE9-4691-BCDD-30FB8C95F1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354363-2607-43A1-9962-5A167CBE8F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8F81FB-EA3F-4D06-91E9-F8919B692900}"/>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5" name="Footer Placeholder 4">
            <a:extLst>
              <a:ext uri="{FF2B5EF4-FFF2-40B4-BE49-F238E27FC236}">
                <a16:creationId xmlns:a16="http://schemas.microsoft.com/office/drawing/2014/main" id="{C710BBA1-C034-4088-8FE6-3DB970847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37CA4-09C8-4A1D-8414-0DC7C3DD0E74}"/>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33185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A892A-81D9-41EB-BFC2-544697B8F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D476FB-ADD9-40DF-9163-4431C20F7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C79183-15BE-46D7-A44D-FA300B03D765}"/>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5" name="Footer Placeholder 4">
            <a:extLst>
              <a:ext uri="{FF2B5EF4-FFF2-40B4-BE49-F238E27FC236}">
                <a16:creationId xmlns:a16="http://schemas.microsoft.com/office/drawing/2014/main" id="{B554164D-6550-41AF-92D2-962D1A6C0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5B020-EB19-4C3F-857A-C2B07D3B51EC}"/>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2141289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5721E-3E44-4EB5-9EBA-4AD13E73AC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7B028B-07DD-430A-92EE-235B35B00E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E9623E-5F77-4723-88B6-242608AB28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34A7C8-60CC-4990-801C-2763A41CCEBB}"/>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6" name="Footer Placeholder 5">
            <a:extLst>
              <a:ext uri="{FF2B5EF4-FFF2-40B4-BE49-F238E27FC236}">
                <a16:creationId xmlns:a16="http://schemas.microsoft.com/office/drawing/2014/main" id="{490B70A1-794B-4575-803D-C6E24B9435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5429C7-47DA-42D8-9641-98F3D068617D}"/>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1540414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CBF78-9C41-4016-9346-675CE30F6D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6343CD-AC83-4941-ABA1-F5E46F6303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DE85F8-0671-4FE9-8AF5-05462D3EF6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C8EEAE-47D8-45F4-A9AB-A0C74646DB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564771-847C-4A58-80DE-2301C8E872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2599B8-7164-4FC2-9DE3-F28DCD757C53}"/>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8" name="Footer Placeholder 7">
            <a:extLst>
              <a:ext uri="{FF2B5EF4-FFF2-40B4-BE49-F238E27FC236}">
                <a16:creationId xmlns:a16="http://schemas.microsoft.com/office/drawing/2014/main" id="{4972188B-A2C3-4D49-B9C2-6BFD41AB73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3C694C-3D8D-48E1-AFAD-D8F49C4FBCE3}"/>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2655076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49CF6-1D65-4675-B12D-87FA7DEBA9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7F9060-2711-42B7-9EDB-A4DF46FC093A}"/>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4" name="Footer Placeholder 3">
            <a:extLst>
              <a:ext uri="{FF2B5EF4-FFF2-40B4-BE49-F238E27FC236}">
                <a16:creationId xmlns:a16="http://schemas.microsoft.com/office/drawing/2014/main" id="{89333FBB-F86D-48A7-9562-97E312A06F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F87864-29FF-443F-9673-0E98F714BC2A}"/>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2145963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ACE4FA-345B-407F-AA11-542CD714C143}"/>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3" name="Footer Placeholder 2">
            <a:extLst>
              <a:ext uri="{FF2B5EF4-FFF2-40B4-BE49-F238E27FC236}">
                <a16:creationId xmlns:a16="http://schemas.microsoft.com/office/drawing/2014/main" id="{F91FA5CB-A812-4FE9-9EAE-DD88F674A8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D15AA8-D7FD-414B-94F8-8F0B2567C447}"/>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3453605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37A9F-0FF5-463F-9531-0A02D429E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02552A-2D96-47A6-8003-D50E09BD2E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50FB73-4A58-49FF-A626-81B9728BB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A31245-1CF0-438C-A430-780659C30BBC}"/>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6" name="Footer Placeholder 5">
            <a:extLst>
              <a:ext uri="{FF2B5EF4-FFF2-40B4-BE49-F238E27FC236}">
                <a16:creationId xmlns:a16="http://schemas.microsoft.com/office/drawing/2014/main" id="{C5A42A09-9E30-4378-8E8F-662156BA5C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F605E5-FF33-4609-BEEA-E0568E26AEE0}"/>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3012623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6C5E-8E21-485F-95D0-181FE8BAE9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38FEE3-0D75-4571-BC75-E518C17E3A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0CBB49-FF30-46EC-8B27-8097F0988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A61D8-71E3-4EF0-99BA-72BB49BFC5FB}"/>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6" name="Footer Placeholder 5">
            <a:extLst>
              <a:ext uri="{FF2B5EF4-FFF2-40B4-BE49-F238E27FC236}">
                <a16:creationId xmlns:a16="http://schemas.microsoft.com/office/drawing/2014/main" id="{C21C9AF6-7B81-42E2-9250-F50EA8D8C2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4D05D-36FB-42FB-B6F7-84ACA58F8164}"/>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239414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6002-6C7D-404F-A273-945C903A98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8973C2-19EF-41C6-9174-EAD17B401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9215C-6679-42E1-A850-2113A09ABE36}"/>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5" name="Footer Placeholder 4">
            <a:extLst>
              <a:ext uri="{FF2B5EF4-FFF2-40B4-BE49-F238E27FC236}">
                <a16:creationId xmlns:a16="http://schemas.microsoft.com/office/drawing/2014/main" id="{CBCB8501-D9C0-4A38-BE97-0499050892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438F8F-FE0E-4A58-8C8F-724ED12EA48F}"/>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1997158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5131B4-6F2E-468F-A3D9-D318BDEF38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6130DE-C7F4-4E1C-8A5D-94C82AD225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08D975-5E78-4B9C-8D88-457971999CAC}"/>
              </a:ext>
            </a:extLst>
          </p:cNvPr>
          <p:cNvSpPr>
            <a:spLocks noGrp="1"/>
          </p:cNvSpPr>
          <p:nvPr>
            <p:ph type="dt" sz="half" idx="10"/>
          </p:nvPr>
        </p:nvSpPr>
        <p:spPr/>
        <p:txBody>
          <a:bodyPr/>
          <a:lstStyle/>
          <a:p>
            <a:fld id="{D00D1940-7D9D-47E5-ABD5-7147C56EED53}" type="datetimeFigureOut">
              <a:rPr lang="en-US" smtClean="0"/>
              <a:t>8/6/2026</a:t>
            </a:fld>
            <a:endParaRPr lang="en-US"/>
          </a:p>
        </p:txBody>
      </p:sp>
      <p:sp>
        <p:nvSpPr>
          <p:cNvPr id="5" name="Footer Placeholder 4">
            <a:extLst>
              <a:ext uri="{FF2B5EF4-FFF2-40B4-BE49-F238E27FC236}">
                <a16:creationId xmlns:a16="http://schemas.microsoft.com/office/drawing/2014/main" id="{D7F1AD82-B4A2-4EE7-A2E6-FE607F5493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BDC74-7060-4DD0-AF54-91B2D3467949}"/>
              </a:ext>
            </a:extLst>
          </p:cNvPr>
          <p:cNvSpPr>
            <a:spLocks noGrp="1"/>
          </p:cNvSpPr>
          <p:nvPr>
            <p:ph type="sldNum" sz="quarter" idx="12"/>
          </p:nvPr>
        </p:nvSpPr>
        <p:spPr/>
        <p:txBody>
          <a:bodyPr/>
          <a:lstStyle/>
          <a:p>
            <a:fld id="{F6B37835-A92D-4684-864C-5AD51AD74FF1}" type="slidenum">
              <a:rPr lang="en-US" smtClean="0"/>
              <a:t>‹#›</a:t>
            </a:fld>
            <a:endParaRPr lang="en-US"/>
          </a:p>
        </p:txBody>
      </p:sp>
    </p:spTree>
    <p:extLst>
      <p:ext uri="{BB962C8B-B14F-4D97-AF65-F5344CB8AC3E}">
        <p14:creationId xmlns:p14="http://schemas.microsoft.com/office/powerpoint/2010/main" val="217476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AB20FB-8571-410C-B018-8CA3853FFA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587798-FAAC-4D4D-82B2-8144CDF1D4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3B8E31-C518-45DC-B030-A079DB3387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0D1940-7D9D-47E5-ABD5-7147C56EED53}" type="datetimeFigureOut">
              <a:rPr lang="en-US" smtClean="0"/>
              <a:t>8/6/2026</a:t>
            </a:fld>
            <a:endParaRPr lang="en-US"/>
          </a:p>
        </p:txBody>
      </p:sp>
      <p:sp>
        <p:nvSpPr>
          <p:cNvPr id="5" name="Footer Placeholder 4">
            <a:extLst>
              <a:ext uri="{FF2B5EF4-FFF2-40B4-BE49-F238E27FC236}">
                <a16:creationId xmlns:a16="http://schemas.microsoft.com/office/drawing/2014/main" id="{E139644E-C41C-493B-8FBA-5ADEE69C59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1F5826-4E70-47FF-B479-983520E743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B37835-A92D-4684-864C-5AD51AD74FF1}" type="slidenum">
              <a:rPr lang="en-US" smtClean="0"/>
              <a:t>‹#›</a:t>
            </a:fld>
            <a:endParaRPr lang="en-US"/>
          </a:p>
        </p:txBody>
      </p:sp>
    </p:spTree>
    <p:extLst>
      <p:ext uri="{BB962C8B-B14F-4D97-AF65-F5344CB8AC3E}">
        <p14:creationId xmlns:p14="http://schemas.microsoft.com/office/powerpoint/2010/main" val="1926544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2.png" /><Relationship Id="rId1" Type="http://schemas.openxmlformats.org/officeDocument/2006/relationships/slideLayout" Target="../slideLayouts/slideLayout1.xml" /><Relationship Id="rId5" Type="http://schemas.microsoft.com/office/2007/relationships/hdphoto" Target="../media/hdphoto1.wdp" /><Relationship Id="rId4" Type="http://schemas.openxmlformats.org/officeDocument/2006/relationships/image" Target="../media/image5.png"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image" Target="../media/image7.png" /><Relationship Id="rId4" Type="http://schemas.openxmlformats.org/officeDocument/2006/relationships/image" Target="../media/image6.png" /></Relationships>
</file>

<file path=ppt/slides/_rels/slide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2.png" /><Relationship Id="rId1" Type="http://schemas.openxmlformats.org/officeDocument/2006/relationships/slideLayout" Target="../slideLayouts/slideLayout1.xml" /><Relationship Id="rId4" Type="http://schemas.openxmlformats.org/officeDocument/2006/relationships/image" Target="../media/image10.png" /></Relationships>
</file>

<file path=ppt/slides/_rels/slide1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3" Type="http://schemas.openxmlformats.org/officeDocument/2006/relationships/hyperlink" Target="Automotive%20%20Air%20Conditioning%20and%20Climate%20Control%20Systems%20(%20PDFDrive%20)%20Steven%20Daly.pdf" TargetMode="External" /><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3218F28C-E95F-4EEB-904F-04233E1A87DC}"/>
              </a:ext>
            </a:extLst>
          </p:cNvPr>
          <p:cNvGrpSpPr/>
          <p:nvPr/>
        </p:nvGrpSpPr>
        <p:grpSpPr>
          <a:xfrm>
            <a:off x="0" y="0"/>
            <a:ext cx="12459128" cy="7111521"/>
            <a:chOff x="0" y="0"/>
            <a:chExt cx="12459128" cy="7111521"/>
          </a:xfrm>
        </p:grpSpPr>
        <p:sp>
          <p:nvSpPr>
            <p:cNvPr id="8" name="Flowchart: Delay 7">
              <a:extLst>
                <a:ext uri="{FF2B5EF4-FFF2-40B4-BE49-F238E27FC236}">
                  <a16:creationId xmlns:a16="http://schemas.microsoft.com/office/drawing/2014/main" id="{CB34349A-71A1-48C5-AE3D-406AE6410815}"/>
                </a:ext>
              </a:extLst>
            </p:cNvPr>
            <p:cNvSpPr/>
            <p:nvPr/>
          </p:nvSpPr>
          <p:spPr>
            <a:xfrm>
              <a:off x="0" y="0"/>
              <a:ext cx="8124093" cy="6858000"/>
            </a:xfrm>
            <a:prstGeom prst="flowChartDelay">
              <a:avLst/>
            </a:prstGeom>
            <a:solidFill>
              <a:schemeClr val="accent1">
                <a:lumMod val="40000"/>
                <a:lumOff val="60000"/>
              </a:schemeClr>
            </a:solidFill>
            <a:ln>
              <a:solidFill>
                <a:schemeClr val="bg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9" name="Flowchart: Connector 8">
              <a:extLst>
                <a:ext uri="{FF2B5EF4-FFF2-40B4-BE49-F238E27FC236}">
                  <a16:creationId xmlns:a16="http://schemas.microsoft.com/office/drawing/2014/main" id="{815CC649-8337-4D40-9BA2-C04F882969FD}"/>
                </a:ext>
              </a:extLst>
            </p:cNvPr>
            <p:cNvSpPr/>
            <p:nvPr/>
          </p:nvSpPr>
          <p:spPr>
            <a:xfrm>
              <a:off x="33839" y="5268930"/>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p:nvPr/>
          </p:nvCxnSpPr>
          <p:spPr>
            <a:xfrm>
              <a:off x="0" y="708917"/>
              <a:ext cx="7397393" cy="0"/>
            </a:xfrm>
            <a:prstGeom prst="line">
              <a:avLst/>
            </a:prstGeom>
          </p:spPr>
          <p:style>
            <a:lnRef idx="3">
              <a:schemeClr val="dk1"/>
            </a:lnRef>
            <a:fillRef idx="0">
              <a:schemeClr val="dk1"/>
            </a:fillRef>
            <a:effectRef idx="2">
              <a:schemeClr val="dk1"/>
            </a:effectRef>
            <a:fontRef idx="minor">
              <a:schemeClr val="tx1"/>
            </a:fontRef>
          </p:style>
        </p:cxnSp>
        <p:sp>
          <p:nvSpPr>
            <p:cNvPr id="13" name="Flowchart: Connector 12">
              <a:extLst>
                <a:ext uri="{FF2B5EF4-FFF2-40B4-BE49-F238E27FC236}">
                  <a16:creationId xmlns:a16="http://schemas.microsoft.com/office/drawing/2014/main" id="{650F8BA4-D270-4654-84BC-DA873AA50769}"/>
                </a:ext>
              </a:extLst>
            </p:cNvPr>
            <p:cNvSpPr/>
            <p:nvPr/>
          </p:nvSpPr>
          <p:spPr>
            <a:xfrm>
              <a:off x="7351159" y="616448"/>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E421A748-2440-4443-919B-574A69E00482}"/>
                </a:ext>
              </a:extLst>
            </p:cNvPr>
            <p:cNvCxnSpPr/>
            <p:nvPr/>
          </p:nvCxnSpPr>
          <p:spPr>
            <a:xfrm>
              <a:off x="4794607" y="6137097"/>
              <a:ext cx="7397393"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4794607" y="6044629"/>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6AF7586-7062-41E1-8DD2-AAE76925A565}"/>
                </a:ext>
              </a:extLst>
            </p:cNvPr>
            <p:cNvSpPr txBox="1"/>
            <p:nvPr/>
          </p:nvSpPr>
          <p:spPr>
            <a:xfrm>
              <a:off x="0" y="1674690"/>
              <a:ext cx="12192000" cy="2000548"/>
            </a:xfrm>
            <a:prstGeom prst="rect">
              <a:avLst/>
            </a:prstGeom>
            <a:noFill/>
          </p:spPr>
          <p:txBody>
            <a:bodyPr wrap="square" rtlCol="0">
              <a:spAutoFit/>
            </a:bodyPr>
            <a:lstStyle/>
            <a:p>
              <a:r>
                <a:rPr kumimoji="0" lang="en-GB" sz="4400" b="1" i="0" u="none" strike="noStrike" kern="1200" cap="none" spc="0" normalizeH="0" baseline="0" noProof="0" dirty="0">
                  <a:ln>
                    <a:noFill/>
                  </a:ln>
                  <a:solidFill>
                    <a:prstClr val="black"/>
                  </a:solidFill>
                  <a:effectLst/>
                  <a:uLnTx/>
                  <a:uFillTx/>
                  <a:latin typeface="Calibri" panose="020F0502020204030204"/>
                  <a:ea typeface="+mj-ea"/>
                  <a:cs typeface="+mj-cs"/>
                </a:rPr>
                <a:t>Course Title: </a:t>
              </a:r>
              <a:r>
                <a:rPr kumimoji="0" lang="en-GB" sz="4000" b="1" i="0" u="none" strike="noStrike" kern="1200" cap="none" spc="0" normalizeH="0" baseline="0" noProof="0" dirty="0">
                  <a:ln>
                    <a:noFill/>
                  </a:ln>
                  <a:solidFill>
                    <a:prstClr val="black"/>
                  </a:solidFill>
                  <a:effectLst/>
                  <a:uLnTx/>
                  <a:uFillTx/>
                  <a:latin typeface="Calibri" panose="020F0502020204030204"/>
                  <a:ea typeface="+mj-ea"/>
                  <a:cs typeface="+mj-cs"/>
                </a:rPr>
                <a:t>Automotive Heating And Air Conditioning</a:t>
              </a:r>
            </a:p>
            <a:p>
              <a:r>
                <a:rPr kumimoji="0" lang="en-GB" sz="4000" b="1" i="0" u="none" strike="noStrike" kern="1200" cap="none" spc="0" normalizeH="0" baseline="0" noProof="0" dirty="0">
                  <a:ln>
                    <a:noFill/>
                  </a:ln>
                  <a:solidFill>
                    <a:prstClr val="black"/>
                  </a:solidFill>
                  <a:effectLst/>
                  <a:uLnTx/>
                  <a:uFillTx/>
                  <a:latin typeface="Calibri" panose="020F0502020204030204"/>
                  <a:ea typeface="+mj-ea"/>
                  <a:cs typeface="+mj-cs"/>
                </a:rPr>
                <a:t> </a:t>
              </a:r>
            </a:p>
            <a:p>
              <a:r>
                <a:rPr kumimoji="0" lang="en-GB" sz="4000" b="1" i="0" u="none" strike="noStrike" kern="1200" cap="none" spc="0" normalizeH="0" baseline="0" noProof="0" dirty="0">
                  <a:ln>
                    <a:noFill/>
                  </a:ln>
                  <a:solidFill>
                    <a:prstClr val="black"/>
                  </a:solidFill>
                  <a:effectLst/>
                  <a:uLnTx/>
                  <a:uFillTx/>
                  <a:latin typeface="Calibri" panose="020F0502020204030204"/>
                  <a:ea typeface="+mj-ea"/>
                  <a:cs typeface="+mj-cs"/>
                </a:rPr>
                <a:t>Course Code: BAE 276/MCE 276</a:t>
              </a:r>
              <a:endParaRPr lang="en-US" sz="4000" dirty="0"/>
            </a:p>
          </p:txBody>
        </p:sp>
        <p:pic>
          <p:nvPicPr>
            <p:cNvPr id="18" name="Picture 17">
              <a:extLst>
                <a:ext uri="{FF2B5EF4-FFF2-40B4-BE49-F238E27FC236}">
                  <a16:creationId xmlns:a16="http://schemas.microsoft.com/office/drawing/2014/main" id="{EEED8B4B-C343-48CD-951F-3411C5273479}"/>
                </a:ext>
              </a:extLst>
            </p:cNvPr>
            <p:cNvPicPr>
              <a:picLocks noChangeAspect="1"/>
            </p:cNvPicPr>
            <p:nvPr/>
          </p:nvPicPr>
          <p:blipFill>
            <a:blip r:embed="rId2"/>
            <a:stretch>
              <a:fillRect/>
            </a:stretch>
          </p:blipFill>
          <p:spPr>
            <a:xfrm>
              <a:off x="5673692" y="6044629"/>
              <a:ext cx="6785436" cy="1066892"/>
            </a:xfrm>
            <a:prstGeom prst="rect">
              <a:avLst/>
            </a:prstGeom>
          </p:spPr>
        </p:pic>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3"/>
            <a:stretch>
              <a:fillRect/>
            </a:stretch>
          </p:blipFill>
          <p:spPr>
            <a:xfrm>
              <a:off x="8167321" y="0"/>
              <a:ext cx="3981450" cy="1143000"/>
            </a:xfrm>
            <a:prstGeom prst="rect">
              <a:avLst/>
            </a:prstGeom>
          </p:spPr>
        </p:pic>
        <p:sp>
          <p:nvSpPr>
            <p:cNvPr id="20" name="TextBox 19">
              <a:extLst>
                <a:ext uri="{FF2B5EF4-FFF2-40B4-BE49-F238E27FC236}">
                  <a16:creationId xmlns:a16="http://schemas.microsoft.com/office/drawing/2014/main" id="{2B44A4C9-B383-45E3-A8C8-F69CB67089EB}"/>
                </a:ext>
              </a:extLst>
            </p:cNvPr>
            <p:cNvSpPr txBox="1"/>
            <p:nvPr/>
          </p:nvSpPr>
          <p:spPr>
            <a:xfrm>
              <a:off x="2054831" y="5134943"/>
              <a:ext cx="2537717" cy="646331"/>
            </a:xfrm>
            <a:prstGeom prst="rect">
              <a:avLst/>
            </a:prstGeom>
            <a:noFill/>
          </p:spPr>
          <p:txBody>
            <a:bodyPr wrap="square" rtlCol="0">
              <a:spAutoFit/>
            </a:bodyPr>
            <a:lstStyle/>
            <a:p>
              <a:r>
                <a:rPr lang="en-US" sz="3600" b="1" i="1" dirty="0"/>
                <a:t>MAY,2026</a:t>
              </a:r>
            </a:p>
          </p:txBody>
        </p:sp>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grpSp>
      <p:pic>
        <p:nvPicPr>
          <p:cNvPr id="25" name="Picture 24">
            <a:extLst>
              <a:ext uri="{FF2B5EF4-FFF2-40B4-BE49-F238E27FC236}">
                <a16:creationId xmlns:a16="http://schemas.microsoft.com/office/drawing/2014/main" id="{00B2A78F-3BE1-4613-A601-77B3F5FBD382}"/>
              </a:ext>
            </a:extLst>
          </p:cNvPr>
          <p:cNvPicPr>
            <a:picLocks noChangeAspect="1"/>
          </p:cNvPicPr>
          <p:nvPr/>
        </p:nvPicPr>
        <p:blipFill>
          <a:blip r:embed="rId4"/>
          <a:stretch>
            <a:fillRect/>
          </a:stretch>
        </p:blipFill>
        <p:spPr>
          <a:xfrm>
            <a:off x="286213" y="5438498"/>
            <a:ext cx="1128876" cy="1113891"/>
          </a:xfrm>
          <a:prstGeom prst="rect">
            <a:avLst/>
          </a:prstGeom>
        </p:spPr>
      </p:pic>
    </p:spTree>
    <p:extLst>
      <p:ext uri="{BB962C8B-B14F-4D97-AF65-F5344CB8AC3E}">
        <p14:creationId xmlns:p14="http://schemas.microsoft.com/office/powerpoint/2010/main" val="1080173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20548" y="832207"/>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002135" y="727281"/>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816795" y="85272"/>
            <a:ext cx="6118260" cy="769441"/>
          </a:xfrm>
          <a:prstGeom prst="rect">
            <a:avLst/>
          </a:prstGeom>
          <a:noFill/>
        </p:spPr>
        <p:txBody>
          <a:bodyPr wrap="square">
            <a:spAutoFit/>
          </a:bodyPr>
          <a:lstStyle/>
          <a:p>
            <a:r>
              <a:rPr kumimoji="0" lang="en-US" sz="4400" b="1" i="1" u="none" strike="noStrike" kern="1200" cap="none" spc="0" normalizeH="0" baseline="0" noProof="0" dirty="0">
                <a:ln>
                  <a:noFill/>
                </a:ln>
                <a:solidFill>
                  <a:srgbClr val="FF0000"/>
                </a:solidFill>
                <a:effectLst/>
                <a:uLnTx/>
                <a:uFillTx/>
                <a:latin typeface="Calibri Light" panose="020F0302020204030204"/>
                <a:ea typeface="+mj-ea"/>
                <a:cs typeface="+mj-cs"/>
              </a:rPr>
              <a:t>General Course Objectives</a:t>
            </a:r>
            <a:endParaRPr lang="en-US" dirty="0"/>
          </a:p>
        </p:txBody>
      </p:sp>
      <p:sp>
        <p:nvSpPr>
          <p:cNvPr id="29" name="Wave 28">
            <a:extLst>
              <a:ext uri="{FF2B5EF4-FFF2-40B4-BE49-F238E27FC236}">
                <a16:creationId xmlns:a16="http://schemas.microsoft.com/office/drawing/2014/main" id="{29E28B03-1CC8-495E-80B3-9496ED98EA2B}"/>
              </a:ext>
            </a:extLst>
          </p:cNvPr>
          <p:cNvSpPr/>
          <p:nvPr/>
        </p:nvSpPr>
        <p:spPr>
          <a:xfrm>
            <a:off x="431515" y="1243173"/>
            <a:ext cx="1321737" cy="769441"/>
          </a:xfrm>
          <a:prstGeom prst="wav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0" name="TextBox 29">
            <a:extLst>
              <a:ext uri="{FF2B5EF4-FFF2-40B4-BE49-F238E27FC236}">
                <a16:creationId xmlns:a16="http://schemas.microsoft.com/office/drawing/2014/main" id="{7120355E-DAB3-4710-86C4-A0FE786487FD}"/>
              </a:ext>
            </a:extLst>
          </p:cNvPr>
          <p:cNvSpPr txBox="1"/>
          <p:nvPr/>
        </p:nvSpPr>
        <p:spPr>
          <a:xfrm>
            <a:off x="97276" y="2422191"/>
            <a:ext cx="3714435" cy="3911135"/>
          </a:xfrm>
          <a:prstGeom prst="rect">
            <a:avLst/>
          </a:prstGeom>
          <a:noFill/>
          <a:ln w="38100">
            <a:solidFill>
              <a:srgbClr val="FF0000"/>
            </a:solidFill>
            <a:prstDash val="lgDash"/>
          </a:ln>
        </p:spPr>
        <p:txBody>
          <a:bodyPr wrap="square" rtlCol="0">
            <a:spAutoFit/>
          </a:bodyPr>
          <a:lstStyle/>
          <a:p>
            <a:pPr marR="0" lvl="0" algn="just">
              <a:lnSpc>
                <a:spcPct val="150000"/>
              </a:lnSpc>
              <a:spcBef>
                <a:spcPts val="0"/>
              </a:spcBef>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1. Ability to explain the basic functions, requirements, layouts, and operations of vehicle heating, ventilation, air conditioning and climate control systems.</a:t>
            </a:r>
            <a:endParaRPr lang="en-US" sz="2400" kern="100" dirty="0">
              <a:effectLst/>
              <a:latin typeface="Aptos"/>
              <a:ea typeface="Aptos"/>
              <a:cs typeface="Times New Roman" panose="02020603050405020304" pitchFamily="18" charset="0"/>
            </a:endParaRPr>
          </a:p>
        </p:txBody>
      </p:sp>
      <p:sp>
        <p:nvSpPr>
          <p:cNvPr id="31" name="Wave 30">
            <a:extLst>
              <a:ext uri="{FF2B5EF4-FFF2-40B4-BE49-F238E27FC236}">
                <a16:creationId xmlns:a16="http://schemas.microsoft.com/office/drawing/2014/main" id="{A3FCF4F0-D9F8-4075-B808-675F02496620}"/>
              </a:ext>
            </a:extLst>
          </p:cNvPr>
          <p:cNvSpPr/>
          <p:nvPr/>
        </p:nvSpPr>
        <p:spPr>
          <a:xfrm>
            <a:off x="5094474" y="1194422"/>
            <a:ext cx="1321737" cy="769441"/>
          </a:xfrm>
          <a:prstGeom prst="wav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3" name="Wave 32">
            <a:extLst>
              <a:ext uri="{FF2B5EF4-FFF2-40B4-BE49-F238E27FC236}">
                <a16:creationId xmlns:a16="http://schemas.microsoft.com/office/drawing/2014/main" id="{2ABCD541-E644-4472-8A70-CFC47F1F99AE}"/>
              </a:ext>
            </a:extLst>
          </p:cNvPr>
          <p:cNvSpPr/>
          <p:nvPr/>
        </p:nvSpPr>
        <p:spPr>
          <a:xfrm>
            <a:off x="9748463" y="1243173"/>
            <a:ext cx="1321737" cy="769441"/>
          </a:xfrm>
          <a:prstGeom prst="wav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4" name="TextBox 33">
            <a:extLst>
              <a:ext uri="{FF2B5EF4-FFF2-40B4-BE49-F238E27FC236}">
                <a16:creationId xmlns:a16="http://schemas.microsoft.com/office/drawing/2014/main" id="{DFDDFC31-E66F-40E0-B7F5-E1E3C2DEB226}"/>
              </a:ext>
            </a:extLst>
          </p:cNvPr>
          <p:cNvSpPr txBox="1"/>
          <p:nvPr/>
        </p:nvSpPr>
        <p:spPr>
          <a:xfrm>
            <a:off x="4190144" y="2386357"/>
            <a:ext cx="3811712" cy="2249142"/>
          </a:xfrm>
          <a:prstGeom prst="rect">
            <a:avLst/>
          </a:prstGeom>
          <a:noFill/>
          <a:ln w="57150">
            <a:solidFill>
              <a:schemeClr val="tx1"/>
            </a:solidFill>
            <a:prstDash val="lgDash"/>
          </a:ln>
        </p:spPr>
        <p:txBody>
          <a:bodyPr wrap="square" rtlCol="0">
            <a:spAutoFit/>
          </a:bodyPr>
          <a:lstStyle/>
          <a:p>
            <a:pPr marR="0" lvl="0" algn="just">
              <a:lnSpc>
                <a:spcPct val="150000"/>
              </a:lnSpc>
              <a:spcBef>
                <a:spcPts val="0"/>
              </a:spcBef>
              <a:spcAft>
                <a:spcPts val="800"/>
              </a:spcAft>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2. </a:t>
            </a: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Knowledge regarding the working of different vehicle HVAC components used in automobiles. </a:t>
            </a:r>
            <a:endParaRPr lang="en-US" sz="2400" kern="100" dirty="0">
              <a:effectLst/>
              <a:latin typeface="Aptos"/>
              <a:ea typeface="Aptos"/>
              <a:cs typeface="Times New Roman" panose="02020603050405020304" pitchFamily="18" charset="0"/>
            </a:endParaRPr>
          </a:p>
        </p:txBody>
      </p:sp>
      <p:sp>
        <p:nvSpPr>
          <p:cNvPr id="35" name="TextBox 34">
            <a:extLst>
              <a:ext uri="{FF2B5EF4-FFF2-40B4-BE49-F238E27FC236}">
                <a16:creationId xmlns:a16="http://schemas.microsoft.com/office/drawing/2014/main" id="{03589870-48BB-40A3-B640-253165EC6E80}"/>
              </a:ext>
            </a:extLst>
          </p:cNvPr>
          <p:cNvSpPr txBox="1"/>
          <p:nvPr/>
        </p:nvSpPr>
        <p:spPr>
          <a:xfrm>
            <a:off x="8167322" y="2423579"/>
            <a:ext cx="4024680" cy="2249142"/>
          </a:xfrm>
          <a:prstGeom prst="rect">
            <a:avLst/>
          </a:prstGeom>
          <a:noFill/>
          <a:ln w="57150">
            <a:solidFill>
              <a:schemeClr val="accent1"/>
            </a:solidFill>
          </a:ln>
        </p:spPr>
        <p:txBody>
          <a:bodyPr wrap="square" rtlCol="0">
            <a:spAutoFit/>
          </a:bodyPr>
          <a:lstStyle/>
          <a:p>
            <a:pPr marR="0" lvl="0" algn="just">
              <a:lnSpc>
                <a:spcPct val="150000"/>
              </a:lnSpc>
              <a:spcBef>
                <a:spcPts val="0"/>
              </a:spcBef>
              <a:spcAft>
                <a:spcPts val="0"/>
              </a:spcAft>
            </a:pPr>
            <a:r>
              <a:rPr lang="en-US" sz="1800"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r>
              <a:rPr lang="en-US" sz="2400"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Ability to diagnose problems with basic vehicle HVAC systems and components using appropriate tools</a:t>
            </a:r>
            <a:endParaRPr lang="en-US" sz="2400" kern="100" dirty="0">
              <a:effectLst/>
              <a:latin typeface="Aptos"/>
              <a:ea typeface="Aptos"/>
              <a:cs typeface="Times New Roman" panose="02020603050405020304" pitchFamily="18" charset="0"/>
            </a:endParaRPr>
          </a:p>
        </p:txBody>
      </p:sp>
    </p:spTree>
    <p:extLst>
      <p:ext uri="{BB962C8B-B14F-4D97-AF65-F5344CB8AC3E}">
        <p14:creationId xmlns:p14="http://schemas.microsoft.com/office/powerpoint/2010/main" val="153014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20548" y="832207"/>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002135" y="727281"/>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816795" y="85272"/>
            <a:ext cx="6118260" cy="769441"/>
          </a:xfrm>
          <a:prstGeom prst="rect">
            <a:avLst/>
          </a:prstGeom>
          <a:noFill/>
        </p:spPr>
        <p:txBody>
          <a:bodyPr wrap="square">
            <a:spAutoFit/>
          </a:bodyPr>
          <a:lstStyle/>
          <a:p>
            <a:r>
              <a:rPr kumimoji="0" lang="en-US" sz="4400" b="1" i="1" u="none" strike="noStrike" kern="1200" cap="none" spc="0" normalizeH="0" baseline="0" noProof="0" dirty="0">
                <a:ln>
                  <a:noFill/>
                </a:ln>
                <a:solidFill>
                  <a:srgbClr val="FF0000"/>
                </a:solidFill>
                <a:effectLst/>
                <a:uLnTx/>
                <a:uFillTx/>
                <a:latin typeface="Calibri Light" panose="020F0302020204030204"/>
                <a:ea typeface="+mj-ea"/>
                <a:cs typeface="+mj-cs"/>
              </a:rPr>
              <a:t>Reading Materials </a:t>
            </a:r>
            <a:endParaRPr lang="en-US" dirty="0"/>
          </a:p>
        </p:txBody>
      </p:sp>
      <p:sp>
        <p:nvSpPr>
          <p:cNvPr id="20" name="TextBox 19">
            <a:extLst>
              <a:ext uri="{FF2B5EF4-FFF2-40B4-BE49-F238E27FC236}">
                <a16:creationId xmlns:a16="http://schemas.microsoft.com/office/drawing/2014/main" id="{444E2818-6435-44EE-BBBE-584389B01FFC}"/>
              </a:ext>
            </a:extLst>
          </p:cNvPr>
          <p:cNvSpPr txBox="1"/>
          <p:nvPr/>
        </p:nvSpPr>
        <p:spPr>
          <a:xfrm>
            <a:off x="482885" y="1384862"/>
            <a:ext cx="11709115" cy="5109091"/>
          </a:xfrm>
          <a:prstGeom prst="rect">
            <a:avLst/>
          </a:prstGeom>
          <a:noFill/>
        </p:spPr>
        <p:txBody>
          <a:bodyPr wrap="square">
            <a:spAutoFit/>
          </a:bodyPr>
          <a:lstStyle/>
          <a:p>
            <a:pPr marL="285750" indent="-285750">
              <a:buFont typeface="Wingdings" panose="05000000000000000000" pitchFamily="2" charset="2"/>
              <a:buChar char="Ø"/>
            </a:pPr>
            <a:r>
              <a:rPr lang="en-US" sz="3200" dirty="0">
                <a:solidFill>
                  <a:srgbClr val="000000"/>
                </a:solidFill>
                <a:effectLst/>
                <a:latin typeface="Times New Roman" panose="02020603050405020304" pitchFamily="18" charset="0"/>
                <a:ea typeface="Times New Roman" panose="02020603050405020304" pitchFamily="18" charset="0"/>
              </a:rPr>
              <a:t>Schnubel, M. (2009). Automotive heating and air conditioning classroom manual and shop manual (3rd ed.). Boston: Cengage Learning</a:t>
            </a:r>
            <a:r>
              <a:rPr lang="en-US" sz="3200" dirty="0">
                <a:solidFill>
                  <a:srgbClr val="000000"/>
                </a:solidFill>
                <a:latin typeface="Times New Roman" panose="02020603050405020304" pitchFamily="18" charset="0"/>
                <a:ea typeface="Times New Roman" panose="02020603050405020304" pitchFamily="18" charset="0"/>
              </a:rPr>
              <a:t>. </a:t>
            </a:r>
          </a:p>
          <a:p>
            <a:pPr marL="285750" indent="-285750">
              <a:buFont typeface="Wingdings" panose="05000000000000000000" pitchFamily="2" charset="2"/>
              <a:buChar char="Ø"/>
            </a:pPr>
            <a:endParaRPr lang="en-US" sz="3200" dirty="0">
              <a:solidFill>
                <a:srgbClr val="000000"/>
              </a:solidFill>
              <a:latin typeface="Times New Roman" panose="02020603050405020304" pitchFamily="18" charset="0"/>
              <a:ea typeface="Times New Roman" panose="02020603050405020304" pitchFamily="18" charset="0"/>
            </a:endParaRPr>
          </a:p>
          <a:p>
            <a:pPr marL="285750" indent="-285750">
              <a:buFont typeface="Wingdings" panose="05000000000000000000" pitchFamily="2" charset="2"/>
              <a:buChar char="Ø"/>
            </a:pPr>
            <a:r>
              <a:rPr lang="en-US" sz="3200" dirty="0">
                <a:solidFill>
                  <a:srgbClr val="000000"/>
                </a:solidFill>
                <a:latin typeface="Times New Roman" panose="02020603050405020304" pitchFamily="18" charset="0"/>
                <a:ea typeface="Times New Roman" panose="02020603050405020304" pitchFamily="18" charset="0"/>
              </a:rPr>
              <a:t>Daly, S. (2011). Automotive air conditioning and climate control systems. Elsevier.</a:t>
            </a:r>
            <a:r>
              <a:rPr lang="en-US" sz="3200" dirty="0">
                <a:solidFill>
                  <a:srgbClr val="000000"/>
                </a:solidFill>
                <a:effectLst/>
                <a:latin typeface="Times New Roman" panose="02020603050405020304" pitchFamily="18" charset="0"/>
                <a:ea typeface="Times New Roman" panose="02020603050405020304" pitchFamily="18" charset="0"/>
              </a:rPr>
              <a:t> </a:t>
            </a:r>
          </a:p>
          <a:p>
            <a:pPr marL="285750" indent="-285750">
              <a:buFont typeface="Wingdings" panose="05000000000000000000" pitchFamily="2" charset="2"/>
              <a:buChar char="Ø"/>
            </a:pPr>
            <a:endParaRPr lang="en-US" sz="3200" dirty="0">
              <a:solidFill>
                <a:srgbClr val="000000"/>
              </a:solidFill>
              <a:effectLst/>
              <a:latin typeface="Times New Roman" panose="02020603050405020304" pitchFamily="18" charset="0"/>
              <a:ea typeface="Times New Roman" panose="02020603050405020304" pitchFamily="18" charset="0"/>
            </a:endParaRPr>
          </a:p>
          <a:p>
            <a:pPr marL="285750" indent="-285750">
              <a:buFont typeface="Wingdings" panose="05000000000000000000" pitchFamily="2" charset="2"/>
              <a:buChar char="Ø"/>
            </a:pPr>
            <a:r>
              <a:rPr lang="en-US" sz="3200" dirty="0">
                <a:solidFill>
                  <a:srgbClr val="000000"/>
                </a:solidFill>
                <a:effectLst/>
                <a:latin typeface="Times New Roman" panose="02020603050405020304" pitchFamily="18" charset="0"/>
                <a:ea typeface="Times New Roman" panose="02020603050405020304" pitchFamily="18" charset="0"/>
              </a:rPr>
              <a:t>Stubblefield, M., &amp; Haynes, J. H. (2009). The Haynes Automotive Heating &amp; Air-conditioning Systems Manual</a:t>
            </a:r>
            <a:endParaRPr lang="en-US" sz="3200" dirty="0"/>
          </a:p>
          <a:p>
            <a:pPr marL="285750" indent="-285750">
              <a:buFont typeface="Wingdings" panose="05000000000000000000" pitchFamily="2" charset="2"/>
              <a:buChar char="Ø"/>
            </a:pPr>
            <a:endParaRPr lang="en-US" sz="2000" dirty="0">
              <a:effectLst/>
              <a:latin typeface="Times New Roman" panose="02020603050405020304" pitchFamily="18" charset="0"/>
              <a:ea typeface="Times New Roman" panose="02020603050405020304" pitchFamily="18" charset="0"/>
            </a:endParaRP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3062386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20548" y="832207"/>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002135" y="727281"/>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816823A4-EBCD-4E35-B486-AE4412CE7CBF}"/>
              </a:ext>
            </a:extLst>
          </p:cNvPr>
          <p:cNvSpPr txBox="1">
            <a:spLocks/>
          </p:cNvSpPr>
          <p:nvPr/>
        </p:nvSpPr>
        <p:spPr>
          <a:xfrm>
            <a:off x="0" y="1970480"/>
            <a:ext cx="12192000" cy="2990819"/>
          </a:xfrm>
          <a:prstGeom prst="rect">
            <a:avLst/>
          </a:prstGeom>
          <a:solidFill>
            <a:schemeClr val="accent5"/>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5400" dirty="0">
                <a:solidFill>
                  <a:schemeClr val="bg1"/>
                </a:solidFill>
              </a:rPr>
              <a:t>LESSON ONE</a:t>
            </a:r>
          </a:p>
          <a:p>
            <a:r>
              <a:rPr lang="en-GB" sz="5400" dirty="0">
                <a:solidFill>
                  <a:schemeClr val="bg1"/>
                </a:solidFill>
              </a:rPr>
              <a:t> Fundamentals of Automotive Air-conditioning</a:t>
            </a:r>
          </a:p>
        </p:txBody>
      </p:sp>
    </p:spTree>
    <p:extLst>
      <p:ext uri="{BB962C8B-B14F-4D97-AF65-F5344CB8AC3E}">
        <p14:creationId xmlns:p14="http://schemas.microsoft.com/office/powerpoint/2010/main" val="1828336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LESSON 1 OBJECTIVES</a:t>
            </a:r>
          </a:p>
        </p:txBody>
      </p:sp>
      <p:sp>
        <p:nvSpPr>
          <p:cNvPr id="13" name="TextBox 12">
            <a:extLst>
              <a:ext uri="{FF2B5EF4-FFF2-40B4-BE49-F238E27FC236}">
                <a16:creationId xmlns:a16="http://schemas.microsoft.com/office/drawing/2014/main" id="{A45E7331-E5AF-44E2-BE2C-88FA7A88831C}"/>
              </a:ext>
            </a:extLst>
          </p:cNvPr>
          <p:cNvSpPr txBox="1"/>
          <p:nvPr/>
        </p:nvSpPr>
        <p:spPr>
          <a:xfrm>
            <a:off x="43230" y="762514"/>
            <a:ext cx="12148770" cy="4339650"/>
          </a:xfrm>
          <a:prstGeom prst="rect">
            <a:avLst/>
          </a:prstGeom>
          <a:noFill/>
        </p:spPr>
        <p:txBody>
          <a:bodyPr wrap="square">
            <a:spAutoFit/>
          </a:bodyPr>
          <a:lstStyle/>
          <a:p>
            <a:pPr marL="285750" indent="-285750">
              <a:buFont typeface="Wingdings" panose="05000000000000000000" pitchFamily="2" charset="2"/>
              <a:buChar char="Ø"/>
            </a:pPr>
            <a:endParaRPr lang="en-GB" sz="1800" dirty="0">
              <a:solidFill>
                <a:srgbClr val="000000"/>
              </a:solidFill>
              <a:effectLst/>
              <a:latin typeface="TimesTen-Roman"/>
            </a:endParaRPr>
          </a:p>
          <a:p>
            <a:pPr marL="285750" indent="-285750">
              <a:buFont typeface="Wingdings" panose="05000000000000000000" pitchFamily="2" charset="2"/>
              <a:buChar char="Ø"/>
            </a:pPr>
            <a:endParaRPr lang="en-GB" dirty="0">
              <a:solidFill>
                <a:srgbClr val="000000"/>
              </a:solidFill>
              <a:latin typeface="TimesTen-Roman"/>
            </a:endParaRPr>
          </a:p>
          <a:p>
            <a:pPr marL="285750" indent="-285750">
              <a:buFont typeface="Wingdings" panose="05000000000000000000" pitchFamily="2" charset="2"/>
              <a:buChar char="Ø"/>
            </a:pPr>
            <a:r>
              <a:rPr lang="en-GB" sz="4000" dirty="0">
                <a:solidFill>
                  <a:srgbClr val="000000"/>
                </a:solidFill>
                <a:effectLst/>
                <a:latin typeface="TimesTen-Roman"/>
              </a:rPr>
              <a:t>Give an overview of the historical development of the heating and ventilation system and </a:t>
            </a:r>
            <a:r>
              <a:rPr lang="en-GB" sz="4000" dirty="0"/>
              <a:t>the </a:t>
            </a:r>
            <a:r>
              <a:rPr lang="en-GB" sz="4000" dirty="0">
                <a:solidFill>
                  <a:srgbClr val="000000"/>
                </a:solidFill>
                <a:effectLst/>
                <a:latin typeface="TimesTen-Roman"/>
              </a:rPr>
              <a:t>Introduction of the air-conditioning (A/C) system.</a:t>
            </a:r>
          </a:p>
          <a:p>
            <a:pPr marL="285750" indent="-285750">
              <a:buFont typeface="Wingdings" panose="05000000000000000000" pitchFamily="2" charset="2"/>
              <a:buChar char="Ø"/>
            </a:pPr>
            <a:r>
              <a:rPr lang="en-GB" sz="4000" dirty="0">
                <a:solidFill>
                  <a:srgbClr val="000000"/>
                </a:solidFill>
                <a:effectLst/>
                <a:latin typeface="TimesTen-Roman"/>
              </a:rPr>
              <a:t>to understand the fundamental requirements of the heating, cooling, ventilation and air-conditioning system.</a:t>
            </a:r>
          </a:p>
          <a:p>
            <a:endParaRPr lang="en-GB" sz="4000" dirty="0">
              <a:solidFill>
                <a:srgbClr val="000000"/>
              </a:solidFill>
              <a:effectLst/>
              <a:latin typeface="TimesTen-Roman"/>
            </a:endParaRPr>
          </a:p>
        </p:txBody>
      </p:sp>
    </p:spTree>
    <p:extLst>
      <p:ext uri="{BB962C8B-B14F-4D97-AF65-F5344CB8AC3E}">
        <p14:creationId xmlns:p14="http://schemas.microsoft.com/office/powerpoint/2010/main" val="3117999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History of automotive air-conditioning systems</a:t>
            </a:r>
            <a:endParaRPr lang="en-US" sz="3200" dirty="0"/>
          </a:p>
        </p:txBody>
      </p:sp>
      <p:sp>
        <p:nvSpPr>
          <p:cNvPr id="17" name="TextBox 16">
            <a:extLst>
              <a:ext uri="{FF2B5EF4-FFF2-40B4-BE49-F238E27FC236}">
                <a16:creationId xmlns:a16="http://schemas.microsoft.com/office/drawing/2014/main" id="{FBAF2BA3-CCA0-42EB-B975-A0D964122A10}"/>
              </a:ext>
            </a:extLst>
          </p:cNvPr>
          <p:cNvSpPr txBox="1"/>
          <p:nvPr/>
        </p:nvSpPr>
        <p:spPr>
          <a:xfrm>
            <a:off x="0" y="1156280"/>
            <a:ext cx="12209475" cy="1815882"/>
          </a:xfrm>
          <a:prstGeom prst="rect">
            <a:avLst/>
          </a:prstGeom>
          <a:noFill/>
        </p:spPr>
        <p:txBody>
          <a:bodyPr wrap="square">
            <a:spAutoFit/>
          </a:bodyPr>
          <a:lstStyle/>
          <a:p>
            <a:pPr marL="285750" indent="-285750">
              <a:buFont typeface="Wingdings" panose="05000000000000000000" pitchFamily="2" charset="2"/>
              <a:buChar char="Ø"/>
            </a:pPr>
            <a:r>
              <a:rPr lang="en-GB" sz="2800" dirty="0"/>
              <a:t>Early automobiles had cabin spaces that were open to the outside environment. This means that the occupants had to adjust their clothing to accommodate different weather conditions.</a:t>
            </a:r>
          </a:p>
          <a:p>
            <a:pPr marL="285750" indent="-285750">
              <a:buFont typeface="Wingdings" panose="05000000000000000000" pitchFamily="2" charset="2"/>
              <a:buChar char="Ø"/>
            </a:pPr>
            <a:endParaRPr lang="en-GB" sz="2800" dirty="0"/>
          </a:p>
        </p:txBody>
      </p:sp>
      <p:pic>
        <p:nvPicPr>
          <p:cNvPr id="8" name="Picture 7">
            <a:extLst>
              <a:ext uri="{FF2B5EF4-FFF2-40B4-BE49-F238E27FC236}">
                <a16:creationId xmlns:a16="http://schemas.microsoft.com/office/drawing/2014/main" id="{276E61D3-F7A6-4FA7-866E-DE3D8EB94F45}"/>
              </a:ext>
            </a:extLst>
          </p:cNvPr>
          <p:cNvPicPr>
            <a:picLocks noChangeAspect="1"/>
          </p:cNvPicPr>
          <p:nvPr/>
        </p:nvPicPr>
        <p:blipFill>
          <a:blip r:embed="rId3"/>
          <a:stretch>
            <a:fillRect/>
          </a:stretch>
        </p:blipFill>
        <p:spPr>
          <a:xfrm>
            <a:off x="110558" y="2972162"/>
            <a:ext cx="6984407" cy="3760835"/>
          </a:xfrm>
          <a:prstGeom prst="rect">
            <a:avLst/>
          </a:prstGeom>
        </p:spPr>
      </p:pic>
      <p:pic>
        <p:nvPicPr>
          <p:cNvPr id="10" name="Picture 9">
            <a:extLst>
              <a:ext uri="{FF2B5EF4-FFF2-40B4-BE49-F238E27FC236}">
                <a16:creationId xmlns:a16="http://schemas.microsoft.com/office/drawing/2014/main" id="{DC7801D2-0B01-48A4-8458-2C09FCFF62C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6770669" y="2762846"/>
            <a:ext cx="5243741" cy="3495827"/>
          </a:xfrm>
          <a:prstGeom prst="rect">
            <a:avLst/>
          </a:prstGeom>
        </p:spPr>
      </p:pic>
    </p:spTree>
    <p:extLst>
      <p:ext uri="{BB962C8B-B14F-4D97-AF65-F5344CB8AC3E}">
        <p14:creationId xmlns:p14="http://schemas.microsoft.com/office/powerpoint/2010/main" val="308013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3"/>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History of automotive air-conditioning systems</a:t>
            </a:r>
            <a:endParaRPr lang="en-US" sz="3200" dirty="0"/>
          </a:p>
        </p:txBody>
      </p:sp>
      <p:sp>
        <p:nvSpPr>
          <p:cNvPr id="17" name="TextBox 16">
            <a:extLst>
              <a:ext uri="{FF2B5EF4-FFF2-40B4-BE49-F238E27FC236}">
                <a16:creationId xmlns:a16="http://schemas.microsoft.com/office/drawing/2014/main" id="{FBAF2BA3-CCA0-42EB-B975-A0D964122A10}"/>
              </a:ext>
            </a:extLst>
          </p:cNvPr>
          <p:cNvSpPr txBox="1"/>
          <p:nvPr/>
        </p:nvSpPr>
        <p:spPr>
          <a:xfrm>
            <a:off x="0" y="1156280"/>
            <a:ext cx="12209475" cy="2246769"/>
          </a:xfrm>
          <a:prstGeom prst="rect">
            <a:avLst/>
          </a:prstGeom>
          <a:noFill/>
        </p:spPr>
        <p:txBody>
          <a:bodyPr wrap="square">
            <a:spAutoFit/>
          </a:bodyPr>
          <a:lstStyle/>
          <a:p>
            <a:pPr marL="457200" indent="-457200">
              <a:buFont typeface="Wingdings" panose="05000000000000000000" pitchFamily="2" charset="2"/>
              <a:buChar char="Ø"/>
            </a:pPr>
            <a:r>
              <a:rPr lang="en-GB" sz="2800" dirty="0"/>
              <a:t>Closed cabin spaces were eventually introduced, which required heating, cooling and ventilating to meet customer expectations.</a:t>
            </a:r>
          </a:p>
          <a:p>
            <a:pPr marL="285750" indent="-285750">
              <a:buFont typeface="Wingdings" panose="05000000000000000000" pitchFamily="2" charset="2"/>
              <a:buChar char="Ø"/>
            </a:pPr>
            <a:endParaRPr lang="en-GB" sz="2800" dirty="0"/>
          </a:p>
          <a:p>
            <a:pPr marL="285750" indent="-285750">
              <a:buFont typeface="Wingdings" panose="05000000000000000000" pitchFamily="2" charset="2"/>
              <a:buChar char="Ø"/>
            </a:pPr>
            <a:r>
              <a:rPr lang="en-GB" sz="2800" dirty="0"/>
              <a:t>Early heating systems included heating clay bricks and placing them inside the vehicle or using simple fuel burners to add heat to the vehicle’s interior.</a:t>
            </a:r>
          </a:p>
        </p:txBody>
      </p:sp>
      <p:pic>
        <p:nvPicPr>
          <p:cNvPr id="2" name="Picture 1">
            <a:extLst>
              <a:ext uri="{FF2B5EF4-FFF2-40B4-BE49-F238E27FC236}">
                <a16:creationId xmlns:a16="http://schemas.microsoft.com/office/drawing/2014/main" id="{50B53D91-8735-48AE-B884-9ED84C173F97}"/>
              </a:ext>
            </a:extLst>
          </p:cNvPr>
          <p:cNvPicPr>
            <a:picLocks noChangeAspect="1"/>
          </p:cNvPicPr>
          <p:nvPr/>
        </p:nvPicPr>
        <p:blipFill>
          <a:blip r:embed="rId4"/>
          <a:stretch>
            <a:fillRect/>
          </a:stretch>
        </p:blipFill>
        <p:spPr>
          <a:xfrm>
            <a:off x="0" y="3706574"/>
            <a:ext cx="4040840" cy="3109553"/>
          </a:xfrm>
          <a:prstGeom prst="rect">
            <a:avLst/>
          </a:prstGeom>
        </p:spPr>
      </p:pic>
      <p:pic>
        <p:nvPicPr>
          <p:cNvPr id="3" name="Picture 2">
            <a:extLst>
              <a:ext uri="{FF2B5EF4-FFF2-40B4-BE49-F238E27FC236}">
                <a16:creationId xmlns:a16="http://schemas.microsoft.com/office/drawing/2014/main" id="{ABEC2251-CCBF-4D62-B3F8-52545989E5FB}"/>
              </a:ext>
            </a:extLst>
          </p:cNvPr>
          <p:cNvPicPr>
            <a:picLocks noChangeAspect="1"/>
          </p:cNvPicPr>
          <p:nvPr/>
        </p:nvPicPr>
        <p:blipFill>
          <a:blip r:embed="rId5"/>
          <a:stretch>
            <a:fillRect/>
          </a:stretch>
        </p:blipFill>
        <p:spPr>
          <a:xfrm>
            <a:off x="5963055" y="3426923"/>
            <a:ext cx="3367302" cy="3201679"/>
          </a:xfrm>
          <a:prstGeom prst="rect">
            <a:avLst/>
          </a:prstGeom>
        </p:spPr>
      </p:pic>
    </p:spTree>
    <p:extLst>
      <p:ext uri="{BB962C8B-B14F-4D97-AF65-F5344CB8AC3E}">
        <p14:creationId xmlns:p14="http://schemas.microsoft.com/office/powerpoint/2010/main" val="2504576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History of automotive air-conditioning systems</a:t>
            </a:r>
            <a:endParaRPr lang="en-US" sz="3200" dirty="0"/>
          </a:p>
        </p:txBody>
      </p:sp>
      <p:sp>
        <p:nvSpPr>
          <p:cNvPr id="13" name="TextBox 12">
            <a:extLst>
              <a:ext uri="{FF2B5EF4-FFF2-40B4-BE49-F238E27FC236}">
                <a16:creationId xmlns:a16="http://schemas.microsoft.com/office/drawing/2014/main" id="{4581027F-8788-4CEB-96B9-5EDC8CC6BD49}"/>
              </a:ext>
            </a:extLst>
          </p:cNvPr>
          <p:cNvSpPr txBox="1"/>
          <p:nvPr/>
        </p:nvSpPr>
        <p:spPr>
          <a:xfrm>
            <a:off x="43230" y="1072663"/>
            <a:ext cx="12105542" cy="3785652"/>
          </a:xfrm>
          <a:prstGeom prst="rect">
            <a:avLst/>
          </a:prstGeom>
          <a:noFill/>
        </p:spPr>
        <p:txBody>
          <a:bodyPr wrap="square">
            <a:spAutoFit/>
          </a:bodyPr>
          <a:lstStyle/>
          <a:p>
            <a:pPr marL="285750" indent="-285750">
              <a:buFont typeface="Wingdings" panose="05000000000000000000" pitchFamily="2" charset="2"/>
              <a:buChar char="Ø"/>
            </a:pPr>
            <a:r>
              <a:rPr lang="en-GB" sz="2400" dirty="0"/>
              <a:t>Ventilation inside the vehicle was achieved through opening or tilting windows or the windscreen; vents were added to doors and the bulkhead to improve air circulation</a:t>
            </a:r>
          </a:p>
          <a:p>
            <a:pPr marL="285750" indent="-285750">
              <a:buFont typeface="Wingdings" panose="05000000000000000000" pitchFamily="2" charset="2"/>
              <a:buChar char="Ø"/>
            </a:pPr>
            <a:endParaRPr lang="en-GB" sz="2400" dirty="0"/>
          </a:p>
          <a:p>
            <a:pPr marL="285750" indent="-285750">
              <a:buFont typeface="Wingdings" panose="05000000000000000000" pitchFamily="2" charset="2"/>
              <a:buChar char="Ø"/>
            </a:pPr>
            <a:r>
              <a:rPr lang="en-GB" sz="2400" dirty="0"/>
              <a:t>Air flow was difficult to control because it was dependent upon the vehicle speed and sometimes would allow dirty, humid air, which contained fumes, to enter the interior from the engine compartment. </a:t>
            </a:r>
          </a:p>
          <a:p>
            <a:pPr marL="285750" indent="-285750">
              <a:buFont typeface="Wingdings" panose="05000000000000000000" pitchFamily="2" charset="2"/>
              <a:buChar char="Ø"/>
            </a:pPr>
            <a:endParaRPr lang="en-GB" sz="2400" dirty="0"/>
          </a:p>
          <a:p>
            <a:pPr marL="285750" indent="-285750">
              <a:buFont typeface="Wingdings" panose="05000000000000000000" pitchFamily="2" charset="2"/>
              <a:buChar char="Ø"/>
            </a:pPr>
            <a:r>
              <a:rPr lang="en-GB" sz="2400" dirty="0"/>
              <a:t>Cooling could be as simple as having a block of ice inside the vehicle and allowing it to melt</a:t>
            </a:r>
          </a:p>
          <a:p>
            <a:pPr marL="285750" indent="-285750">
              <a:buFont typeface="Wingdings" panose="05000000000000000000" pitchFamily="2" charset="2"/>
              <a:buChar char="Ø"/>
            </a:pPr>
            <a:endParaRPr lang="en-GB" sz="2400" dirty="0"/>
          </a:p>
          <a:p>
            <a:pPr marL="285750" indent="-285750">
              <a:buFont typeface="Wingdings" panose="05000000000000000000" pitchFamily="2" charset="2"/>
              <a:buChar char="Ø"/>
            </a:pPr>
            <a:r>
              <a:rPr lang="en-GB" sz="2400" dirty="0"/>
              <a:t>However, these methods were not effective during extremely hot or cold weather conditions.</a:t>
            </a:r>
            <a:endParaRPr lang="en-US" sz="2400" dirty="0"/>
          </a:p>
        </p:txBody>
      </p:sp>
      <p:pic>
        <p:nvPicPr>
          <p:cNvPr id="4" name="Picture 3">
            <a:extLst>
              <a:ext uri="{FF2B5EF4-FFF2-40B4-BE49-F238E27FC236}">
                <a16:creationId xmlns:a16="http://schemas.microsoft.com/office/drawing/2014/main" id="{AD2BB9C8-7F9B-4AAF-BB82-4AE7BD680407}"/>
              </a:ext>
            </a:extLst>
          </p:cNvPr>
          <p:cNvPicPr>
            <a:picLocks noChangeAspect="1"/>
          </p:cNvPicPr>
          <p:nvPr/>
        </p:nvPicPr>
        <p:blipFill>
          <a:blip r:embed="rId3"/>
          <a:stretch>
            <a:fillRect/>
          </a:stretch>
        </p:blipFill>
        <p:spPr>
          <a:xfrm>
            <a:off x="0" y="4945489"/>
            <a:ext cx="3044757" cy="1899713"/>
          </a:xfrm>
          <a:prstGeom prst="rect">
            <a:avLst/>
          </a:prstGeom>
        </p:spPr>
      </p:pic>
    </p:spTree>
    <p:extLst>
      <p:ext uri="{BB962C8B-B14F-4D97-AF65-F5344CB8AC3E}">
        <p14:creationId xmlns:p14="http://schemas.microsoft.com/office/powerpoint/2010/main" val="2060470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History of automotive air-conditioning systems</a:t>
            </a:r>
            <a:endParaRPr lang="en-US" sz="3200" dirty="0"/>
          </a:p>
        </p:txBody>
      </p:sp>
      <p:sp>
        <p:nvSpPr>
          <p:cNvPr id="16" name="TextBox 15">
            <a:extLst>
              <a:ext uri="{FF2B5EF4-FFF2-40B4-BE49-F238E27FC236}">
                <a16:creationId xmlns:a16="http://schemas.microsoft.com/office/drawing/2014/main" id="{DB10325F-8DEB-4684-8F0C-797FDBF6E44B}"/>
              </a:ext>
            </a:extLst>
          </p:cNvPr>
          <p:cNvSpPr txBox="1"/>
          <p:nvPr/>
        </p:nvSpPr>
        <p:spPr>
          <a:xfrm>
            <a:off x="0" y="1084076"/>
            <a:ext cx="12235229" cy="2677656"/>
          </a:xfrm>
          <a:prstGeom prst="rect">
            <a:avLst/>
          </a:prstGeom>
          <a:noFill/>
        </p:spPr>
        <p:txBody>
          <a:bodyPr wrap="square">
            <a:spAutoFit/>
          </a:bodyPr>
          <a:lstStyle/>
          <a:p>
            <a:pPr marL="285750" indent="-285750">
              <a:buFont typeface="Wingdings" panose="05000000000000000000" pitchFamily="2" charset="2"/>
              <a:buChar char="Ø"/>
            </a:pPr>
            <a:r>
              <a:rPr lang="en-GB" sz="2400" dirty="0"/>
              <a:t>The first automotive air-conditioning systems were introduced in the late 1930s. Packard became one of the first automobile manufacturers to install factory-fitted air-conditioning systems in passenger cars. </a:t>
            </a:r>
          </a:p>
          <a:p>
            <a:pPr marL="285750" indent="-285750">
              <a:buFont typeface="Wingdings" panose="05000000000000000000" pitchFamily="2" charset="2"/>
              <a:buChar char="Ø"/>
            </a:pPr>
            <a:endParaRPr lang="en-GB" sz="2400" dirty="0"/>
          </a:p>
          <a:p>
            <a:pPr marL="285750" indent="-285750">
              <a:buFont typeface="Wingdings" panose="05000000000000000000" pitchFamily="2" charset="2"/>
              <a:buChar char="Ø"/>
            </a:pPr>
            <a:r>
              <a:rPr lang="en-GB" sz="2400" dirty="0"/>
              <a:t>These early systems were bulky, expensive, and mounted in the trunk of the vehicle. They lacked automatic temperature control and were difficult to operate. The only system control was a blower switch.</a:t>
            </a:r>
            <a:endParaRPr lang="en-US" sz="2400" dirty="0"/>
          </a:p>
        </p:txBody>
      </p:sp>
      <p:pic>
        <p:nvPicPr>
          <p:cNvPr id="5" name="Picture 4">
            <a:extLst>
              <a:ext uri="{FF2B5EF4-FFF2-40B4-BE49-F238E27FC236}">
                <a16:creationId xmlns:a16="http://schemas.microsoft.com/office/drawing/2014/main" id="{77EED024-F3B4-4B0F-98DD-96F922AD5FCB}"/>
              </a:ext>
            </a:extLst>
          </p:cNvPr>
          <p:cNvPicPr>
            <a:picLocks noChangeAspect="1"/>
          </p:cNvPicPr>
          <p:nvPr/>
        </p:nvPicPr>
        <p:blipFill>
          <a:blip r:embed="rId3"/>
          <a:stretch>
            <a:fillRect/>
          </a:stretch>
        </p:blipFill>
        <p:spPr>
          <a:xfrm>
            <a:off x="7315198" y="3671893"/>
            <a:ext cx="3171013" cy="2633014"/>
          </a:xfrm>
          <a:prstGeom prst="rect">
            <a:avLst/>
          </a:prstGeom>
        </p:spPr>
      </p:pic>
      <p:pic>
        <p:nvPicPr>
          <p:cNvPr id="7" name="Picture 6">
            <a:extLst>
              <a:ext uri="{FF2B5EF4-FFF2-40B4-BE49-F238E27FC236}">
                <a16:creationId xmlns:a16="http://schemas.microsoft.com/office/drawing/2014/main" id="{B726CD08-8D5E-41FE-A560-BAF79D3838B4}"/>
              </a:ext>
            </a:extLst>
          </p:cNvPr>
          <p:cNvPicPr>
            <a:picLocks noChangeAspect="1"/>
          </p:cNvPicPr>
          <p:nvPr/>
        </p:nvPicPr>
        <p:blipFill>
          <a:blip r:embed="rId4"/>
          <a:stretch>
            <a:fillRect/>
          </a:stretch>
        </p:blipFill>
        <p:spPr>
          <a:xfrm>
            <a:off x="0" y="3889568"/>
            <a:ext cx="3945924" cy="2955634"/>
          </a:xfrm>
          <a:prstGeom prst="rect">
            <a:avLst/>
          </a:prstGeom>
        </p:spPr>
      </p:pic>
    </p:spTree>
    <p:extLst>
      <p:ext uri="{BB962C8B-B14F-4D97-AF65-F5344CB8AC3E}">
        <p14:creationId xmlns:p14="http://schemas.microsoft.com/office/powerpoint/2010/main" val="3511880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Basic Functions of an Automotive HVAC System</a:t>
            </a:r>
          </a:p>
        </p:txBody>
      </p:sp>
      <p:sp>
        <p:nvSpPr>
          <p:cNvPr id="13" name="TextBox 12">
            <a:extLst>
              <a:ext uri="{FF2B5EF4-FFF2-40B4-BE49-F238E27FC236}">
                <a16:creationId xmlns:a16="http://schemas.microsoft.com/office/drawing/2014/main" id="{5395323F-380A-4A97-9A9E-521D922EE110}"/>
              </a:ext>
            </a:extLst>
          </p:cNvPr>
          <p:cNvSpPr txBox="1"/>
          <p:nvPr/>
        </p:nvSpPr>
        <p:spPr>
          <a:xfrm>
            <a:off x="0" y="1143000"/>
            <a:ext cx="12148771" cy="5016758"/>
          </a:xfrm>
          <a:prstGeom prst="rect">
            <a:avLst/>
          </a:prstGeom>
          <a:noFill/>
        </p:spPr>
        <p:txBody>
          <a:bodyPr wrap="square">
            <a:spAutoFit/>
          </a:bodyPr>
          <a:lstStyle/>
          <a:p>
            <a:pPr marL="285750" indent="-285750">
              <a:buFont typeface="Wingdings" panose="05000000000000000000" pitchFamily="2" charset="2"/>
              <a:buChar char="Ø"/>
            </a:pPr>
            <a:r>
              <a:rPr lang="en-GB" sz="3200" dirty="0"/>
              <a:t>An automotive HVAC (Heating, Ventilation, and Air-Conditioning) system is designed to provide passenger comfort, maintain good air quality, and improve driving safety under different weather conditions.</a:t>
            </a:r>
          </a:p>
          <a:p>
            <a:endParaRPr lang="en-GB" sz="3200" dirty="0"/>
          </a:p>
          <a:p>
            <a:pPr marL="285750" indent="-285750">
              <a:buFont typeface="Wingdings" panose="05000000000000000000" pitchFamily="2" charset="2"/>
              <a:buChar char="Ø"/>
            </a:pPr>
            <a:r>
              <a:rPr lang="en-GB" sz="3200" dirty="0"/>
              <a:t> The basic purpose of a heating, ventilation, and air conditioning (HVAC) system in vehicle air conditioning is not only to add heat or remove unwanted heat from the passenger cabin, but also to purify and circulate air throughout the vehicle.</a:t>
            </a:r>
          </a:p>
          <a:p>
            <a:pPr marL="285750" indent="-285750">
              <a:buFont typeface="Wingdings" panose="05000000000000000000" pitchFamily="2" charset="2"/>
              <a:buChar char="Ø"/>
            </a:pPr>
            <a:endParaRPr lang="en-GB" sz="3200" dirty="0"/>
          </a:p>
          <a:p>
            <a:endParaRPr lang="en-GB" sz="3200" dirty="0"/>
          </a:p>
        </p:txBody>
      </p:sp>
    </p:spTree>
    <p:extLst>
      <p:ext uri="{BB962C8B-B14F-4D97-AF65-F5344CB8AC3E}">
        <p14:creationId xmlns:p14="http://schemas.microsoft.com/office/powerpoint/2010/main" val="1933946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3"/>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Basic Functions of an Automotive HVAC System</a:t>
            </a:r>
          </a:p>
        </p:txBody>
      </p:sp>
      <p:sp>
        <p:nvSpPr>
          <p:cNvPr id="16" name="TextBox 15">
            <a:extLst>
              <a:ext uri="{FF2B5EF4-FFF2-40B4-BE49-F238E27FC236}">
                <a16:creationId xmlns:a16="http://schemas.microsoft.com/office/drawing/2014/main" id="{300CA3C2-645E-4BEA-B64B-7794795DB2C3}"/>
              </a:ext>
            </a:extLst>
          </p:cNvPr>
          <p:cNvSpPr txBox="1"/>
          <p:nvPr/>
        </p:nvSpPr>
        <p:spPr>
          <a:xfrm>
            <a:off x="43229" y="945224"/>
            <a:ext cx="12105542" cy="5539978"/>
          </a:xfrm>
          <a:prstGeom prst="rect">
            <a:avLst/>
          </a:prstGeom>
          <a:noFill/>
        </p:spPr>
        <p:txBody>
          <a:bodyPr wrap="square">
            <a:spAutoFit/>
          </a:bodyPr>
          <a:lstStyle/>
          <a:p>
            <a:pPr marL="285750" indent="-285750">
              <a:buFont typeface="Wingdings" panose="05000000000000000000" pitchFamily="2" charset="2"/>
              <a:buChar char="Ø"/>
            </a:pPr>
            <a:r>
              <a:rPr lang="en-GB" sz="2800" dirty="0"/>
              <a:t>The operation of the HVAC system may be controlled either automatically or manually by the driver. In some high-end luxury vehicles, conditioned air distribution can be “Zone” controlled for each seating position. The objective here is to provide a thermally comfortable environment for every passenger as per his or her requirements.</a:t>
            </a:r>
          </a:p>
          <a:p>
            <a:pPr marL="285750" indent="-285750">
              <a:buFont typeface="Wingdings" panose="05000000000000000000" pitchFamily="2" charset="2"/>
              <a:buChar char="Ø"/>
            </a:pPr>
            <a:endParaRPr lang="en-GB" sz="2800" dirty="0"/>
          </a:p>
          <a:p>
            <a:pPr marL="285750" indent="-285750">
              <a:buFont typeface="Wingdings" panose="05000000000000000000" pitchFamily="2" charset="2"/>
              <a:buChar char="Ø"/>
            </a:pPr>
            <a:r>
              <a:rPr lang="en-GB" sz="2800" dirty="0"/>
              <a:t>The basic functions of the system include;</a:t>
            </a:r>
          </a:p>
          <a:p>
            <a:pPr marL="457200" indent="-457200">
              <a:buFont typeface="Wingdings" panose="05000000000000000000" pitchFamily="2" charset="2"/>
              <a:buChar char="§"/>
            </a:pPr>
            <a:r>
              <a:rPr lang="en-GB" sz="2800" dirty="0"/>
              <a:t>heating</a:t>
            </a:r>
          </a:p>
          <a:p>
            <a:pPr marL="457200" indent="-457200">
              <a:buFont typeface="Wingdings" panose="05000000000000000000" pitchFamily="2" charset="2"/>
              <a:buChar char="§"/>
            </a:pPr>
            <a:r>
              <a:rPr lang="en-GB" sz="2800" dirty="0"/>
              <a:t>ventilation, </a:t>
            </a:r>
          </a:p>
          <a:p>
            <a:pPr marL="457200" indent="-457200">
              <a:buFont typeface="Wingdings" panose="05000000000000000000" pitchFamily="2" charset="2"/>
              <a:buChar char="§"/>
            </a:pPr>
            <a:r>
              <a:rPr lang="en-GB" sz="2800" dirty="0"/>
              <a:t>air conditioning, </a:t>
            </a:r>
          </a:p>
          <a:p>
            <a:pPr marL="457200" indent="-457200">
              <a:buFont typeface="Wingdings" panose="05000000000000000000" pitchFamily="2" charset="2"/>
              <a:buChar char="§"/>
            </a:pPr>
            <a:r>
              <a:rPr lang="en-GB" sz="2800" dirty="0"/>
              <a:t>humidity control, and </a:t>
            </a:r>
          </a:p>
          <a:p>
            <a:pPr marL="457200" indent="-457200">
              <a:buFont typeface="Wingdings" panose="05000000000000000000" pitchFamily="2" charset="2"/>
              <a:buChar char="§"/>
            </a:pPr>
            <a:r>
              <a:rPr lang="en-GB" sz="2800" dirty="0"/>
              <a:t>windshield defrosting.</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2783823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3"/>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Basic Functions of an Automotive HVAC System</a:t>
            </a:r>
          </a:p>
        </p:txBody>
      </p:sp>
      <p:sp>
        <p:nvSpPr>
          <p:cNvPr id="13" name="TextBox 12">
            <a:extLst>
              <a:ext uri="{FF2B5EF4-FFF2-40B4-BE49-F238E27FC236}">
                <a16:creationId xmlns:a16="http://schemas.microsoft.com/office/drawing/2014/main" id="{33BA1FF1-284F-40A4-AF94-FE6FF196FFAE}"/>
              </a:ext>
            </a:extLst>
          </p:cNvPr>
          <p:cNvSpPr txBox="1"/>
          <p:nvPr/>
        </p:nvSpPr>
        <p:spPr>
          <a:xfrm>
            <a:off x="0" y="902845"/>
            <a:ext cx="12192000" cy="6401753"/>
          </a:xfrm>
          <a:prstGeom prst="rect">
            <a:avLst/>
          </a:prstGeom>
          <a:noFill/>
        </p:spPr>
        <p:txBody>
          <a:bodyPr wrap="square">
            <a:spAutoFit/>
          </a:bodyPr>
          <a:lstStyle/>
          <a:p>
            <a:pPr marL="457200" indent="-457200">
              <a:buFont typeface="+mj-lt"/>
              <a:buAutoNum type="arabicPeriod"/>
            </a:pPr>
            <a:r>
              <a:rPr lang="en-GB" sz="2800" b="1" dirty="0"/>
              <a:t>The heating </a:t>
            </a:r>
            <a:r>
              <a:rPr lang="en-GB" sz="2800" dirty="0"/>
              <a:t>function warms the passenger compartment during cold weather by using heat from the engine coolant. Hot coolant passes through the heater core, and air is blown across it and directed into the cabin to increase passenger comfort.</a:t>
            </a:r>
          </a:p>
          <a:p>
            <a:pPr marL="457200" indent="-457200">
              <a:buFont typeface="+mj-lt"/>
              <a:buAutoNum type="arabicPeriod"/>
            </a:pPr>
            <a:endParaRPr lang="en-GB" sz="2800" b="1" dirty="0"/>
          </a:p>
          <a:p>
            <a:pPr marL="457200" indent="-457200">
              <a:buFont typeface="+mj-lt"/>
              <a:buAutoNum type="arabicPeriod"/>
            </a:pPr>
            <a:endParaRPr lang="en-GB" sz="2800" b="1" dirty="0"/>
          </a:p>
          <a:p>
            <a:pPr marL="457200" indent="-457200">
              <a:buFont typeface="+mj-lt"/>
              <a:buAutoNum type="arabicPeriod"/>
            </a:pPr>
            <a:r>
              <a:rPr lang="en-GB" sz="2800" b="1" dirty="0"/>
              <a:t>The ventilation </a:t>
            </a:r>
            <a:r>
              <a:rPr lang="en-GB" sz="2800" dirty="0"/>
              <a:t>function supplies fresh air into the vehicle and removes stale or contaminated air from the cabin. Proper ventilation improves air circulation, reduces odours, and helps maintain a healthy and comfortable interior environment.</a:t>
            </a:r>
          </a:p>
          <a:p>
            <a:pPr marL="285750" indent="-285750">
              <a:buFont typeface="Wingdings" panose="05000000000000000000" pitchFamily="2" charset="2"/>
              <a:buChar char="Ø"/>
            </a:pPr>
            <a:endParaRPr lang="en-GB" sz="2800" dirty="0"/>
          </a:p>
          <a:p>
            <a:endParaRPr lang="en-GB" sz="2400" dirty="0"/>
          </a:p>
          <a:p>
            <a:pPr marL="285750" indent="-285750">
              <a:buFont typeface="Wingdings" panose="05000000000000000000" pitchFamily="2" charset="2"/>
              <a:buChar char="Ø"/>
            </a:pPr>
            <a:endParaRPr lang="en-GB" sz="2400"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endParaRPr lang="en-GB" dirty="0"/>
          </a:p>
        </p:txBody>
      </p:sp>
    </p:spTree>
    <p:extLst>
      <p:ext uri="{BB962C8B-B14F-4D97-AF65-F5344CB8AC3E}">
        <p14:creationId xmlns:p14="http://schemas.microsoft.com/office/powerpoint/2010/main" val="4093432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3"/>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30" y="85272"/>
            <a:ext cx="8330208" cy="584775"/>
          </a:xfrm>
          <a:prstGeom prst="rect">
            <a:avLst/>
          </a:prstGeom>
          <a:noFill/>
        </p:spPr>
        <p:txBody>
          <a:bodyPr wrap="square">
            <a:spAutoFit/>
          </a:bodyPr>
          <a:lstStyle/>
          <a:p>
            <a:r>
              <a:rPr kumimoji="0" lang="en-GB" sz="3200" b="1" i="1" u="none" strike="noStrike" kern="1200" cap="none" spc="0" normalizeH="0" baseline="0" noProof="0" dirty="0">
                <a:ln>
                  <a:noFill/>
                </a:ln>
                <a:solidFill>
                  <a:srgbClr val="FF0000"/>
                </a:solidFill>
                <a:effectLst/>
                <a:uLnTx/>
                <a:uFillTx/>
                <a:latin typeface="Calibri Light" panose="020F0302020204030204"/>
                <a:ea typeface="+mj-ea"/>
                <a:cs typeface="+mj-cs"/>
              </a:rPr>
              <a:t>Basic Functions of an Automotive HVAC System</a:t>
            </a:r>
          </a:p>
        </p:txBody>
      </p:sp>
      <p:sp>
        <p:nvSpPr>
          <p:cNvPr id="13" name="TextBox 12">
            <a:extLst>
              <a:ext uri="{FF2B5EF4-FFF2-40B4-BE49-F238E27FC236}">
                <a16:creationId xmlns:a16="http://schemas.microsoft.com/office/drawing/2014/main" id="{33BA1FF1-284F-40A4-AF94-FE6FF196FFAE}"/>
              </a:ext>
            </a:extLst>
          </p:cNvPr>
          <p:cNvSpPr txBox="1"/>
          <p:nvPr/>
        </p:nvSpPr>
        <p:spPr>
          <a:xfrm>
            <a:off x="0" y="902845"/>
            <a:ext cx="12192000" cy="7263527"/>
          </a:xfrm>
          <a:prstGeom prst="rect">
            <a:avLst/>
          </a:prstGeom>
          <a:noFill/>
        </p:spPr>
        <p:txBody>
          <a:bodyPr wrap="square">
            <a:spAutoFit/>
          </a:bodyPr>
          <a:lstStyle/>
          <a:p>
            <a:endParaRPr lang="en-GB" sz="2800" dirty="0"/>
          </a:p>
          <a:p>
            <a:r>
              <a:rPr lang="en-GB" sz="2800" b="1" dirty="0"/>
              <a:t>3. The air-conditioning </a:t>
            </a:r>
            <a:r>
              <a:rPr lang="en-GB" sz="2800" dirty="0"/>
              <a:t>function cools and dehumidifies the cabin air during hot weather conditions. The system removes heat and moisture from the air using the refrigeration cycle, thereby improving passenger comfort and reducing fatigue during driving.</a:t>
            </a:r>
          </a:p>
          <a:p>
            <a:pPr marL="285750" indent="-285750">
              <a:buFont typeface="Wingdings" panose="05000000000000000000" pitchFamily="2" charset="2"/>
              <a:buChar char="Ø"/>
            </a:pPr>
            <a:endParaRPr lang="en-GB" sz="2800" dirty="0"/>
          </a:p>
          <a:p>
            <a:pPr marL="285750" indent="-285750">
              <a:buFont typeface="Wingdings" panose="05000000000000000000" pitchFamily="2" charset="2"/>
              <a:buChar char="Ø"/>
            </a:pPr>
            <a:endParaRPr lang="en-GB" sz="2800" dirty="0"/>
          </a:p>
          <a:p>
            <a:endParaRPr lang="en-GB" sz="2800" dirty="0"/>
          </a:p>
          <a:p>
            <a:r>
              <a:rPr lang="en-GB" sz="2800" b="1" dirty="0"/>
              <a:t>4</a:t>
            </a:r>
            <a:r>
              <a:rPr lang="en-GB" sz="2800" dirty="0"/>
              <a:t>. Another important function is </a:t>
            </a:r>
            <a:r>
              <a:rPr lang="en-GB" sz="2800" b="1" dirty="0"/>
              <a:t>humidity control and defrosting</a:t>
            </a:r>
            <a:r>
              <a:rPr lang="en-GB" sz="2800" dirty="0"/>
              <a:t>. The HVAC system removes excess moisture from the cabin air, helping to prevent fogging and frosting of the windshield and windows. This improves visibility and enhances driving safety during rainy or cold conditions.</a:t>
            </a:r>
          </a:p>
          <a:p>
            <a:pPr marL="285750" indent="-285750">
              <a:buFont typeface="Wingdings" panose="05000000000000000000" pitchFamily="2" charset="2"/>
              <a:buChar char="Ø"/>
            </a:pPr>
            <a:endParaRPr lang="en-GB" sz="2800" dirty="0"/>
          </a:p>
          <a:p>
            <a:endParaRPr lang="en-GB" sz="2400" dirty="0"/>
          </a:p>
          <a:p>
            <a:pPr marL="285750" indent="-285750">
              <a:buFont typeface="Wingdings" panose="05000000000000000000" pitchFamily="2" charset="2"/>
              <a:buChar char="Ø"/>
            </a:pPr>
            <a:endParaRPr lang="en-GB" sz="2400"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endParaRPr lang="en-GB" dirty="0"/>
          </a:p>
        </p:txBody>
      </p:sp>
    </p:spTree>
    <p:extLst>
      <p:ext uri="{BB962C8B-B14F-4D97-AF65-F5344CB8AC3E}">
        <p14:creationId xmlns:p14="http://schemas.microsoft.com/office/powerpoint/2010/main" val="68494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Fundamental Requirements of an Automotive HVAC System</a:t>
            </a:r>
          </a:p>
        </p:txBody>
      </p:sp>
      <p:sp>
        <p:nvSpPr>
          <p:cNvPr id="13" name="TextBox 12">
            <a:extLst>
              <a:ext uri="{FF2B5EF4-FFF2-40B4-BE49-F238E27FC236}">
                <a16:creationId xmlns:a16="http://schemas.microsoft.com/office/drawing/2014/main" id="{B31E6E01-A552-4BE5-999F-C84D84359157}"/>
              </a:ext>
            </a:extLst>
          </p:cNvPr>
          <p:cNvSpPr txBox="1"/>
          <p:nvPr/>
        </p:nvSpPr>
        <p:spPr>
          <a:xfrm>
            <a:off x="43229" y="1053648"/>
            <a:ext cx="12105542" cy="2554545"/>
          </a:xfrm>
          <a:prstGeom prst="rect">
            <a:avLst/>
          </a:prstGeom>
          <a:noFill/>
        </p:spPr>
        <p:txBody>
          <a:bodyPr wrap="square">
            <a:spAutoFit/>
          </a:bodyPr>
          <a:lstStyle/>
          <a:p>
            <a:pPr marL="457200" indent="-457200">
              <a:buFont typeface="Wingdings" panose="05000000000000000000" pitchFamily="2" charset="2"/>
              <a:buChar char="Ø"/>
            </a:pPr>
            <a:r>
              <a:rPr lang="en-GB" sz="3200" dirty="0"/>
              <a:t>The fundamental requirements of an automotive HVAC (Heating, Ventilation, and Air-Conditioning) system are the essential conditions and functions needed to ensure passenger comfort, proper air circulation, safety, and efficient system operation inside a vehicle. These requirements include the following:</a:t>
            </a:r>
            <a:endParaRPr lang="en-US" sz="3200" dirty="0"/>
          </a:p>
        </p:txBody>
      </p:sp>
      <p:pic>
        <p:nvPicPr>
          <p:cNvPr id="3" name="Picture 2">
            <a:extLst>
              <a:ext uri="{FF2B5EF4-FFF2-40B4-BE49-F238E27FC236}">
                <a16:creationId xmlns:a16="http://schemas.microsoft.com/office/drawing/2014/main" id="{0449DE51-A6CC-4A40-878F-A34F84C16DBB}"/>
              </a:ext>
            </a:extLst>
          </p:cNvPr>
          <p:cNvPicPr>
            <a:picLocks noChangeAspect="1"/>
          </p:cNvPicPr>
          <p:nvPr/>
        </p:nvPicPr>
        <p:blipFill>
          <a:blip r:embed="rId3"/>
          <a:stretch>
            <a:fillRect/>
          </a:stretch>
        </p:blipFill>
        <p:spPr>
          <a:xfrm>
            <a:off x="0" y="3583125"/>
            <a:ext cx="5263096" cy="3262077"/>
          </a:xfrm>
          <a:prstGeom prst="rect">
            <a:avLst/>
          </a:prstGeom>
        </p:spPr>
      </p:pic>
    </p:spTree>
    <p:extLst>
      <p:ext uri="{BB962C8B-B14F-4D97-AF65-F5344CB8AC3E}">
        <p14:creationId xmlns:p14="http://schemas.microsoft.com/office/powerpoint/2010/main" val="4035941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Fundamental Requirements of an Automotive HVAC System</a:t>
            </a:r>
          </a:p>
        </p:txBody>
      </p:sp>
      <p:sp>
        <p:nvSpPr>
          <p:cNvPr id="13" name="TextBox 12">
            <a:extLst>
              <a:ext uri="{FF2B5EF4-FFF2-40B4-BE49-F238E27FC236}">
                <a16:creationId xmlns:a16="http://schemas.microsoft.com/office/drawing/2014/main" id="{B31E6E01-A552-4BE5-999F-C84D84359157}"/>
              </a:ext>
            </a:extLst>
          </p:cNvPr>
          <p:cNvSpPr txBox="1"/>
          <p:nvPr/>
        </p:nvSpPr>
        <p:spPr>
          <a:xfrm>
            <a:off x="0" y="1007769"/>
            <a:ext cx="12192000" cy="4524315"/>
          </a:xfrm>
          <a:prstGeom prst="rect">
            <a:avLst/>
          </a:prstGeom>
          <a:noFill/>
        </p:spPr>
        <p:txBody>
          <a:bodyPr wrap="square">
            <a:spAutoFit/>
          </a:bodyPr>
          <a:lstStyle/>
          <a:p>
            <a:pPr marL="457200" indent="-457200">
              <a:buFont typeface="Wingdings" panose="05000000000000000000" pitchFamily="2" charset="2"/>
              <a:buChar char="Ø"/>
            </a:pPr>
            <a:r>
              <a:rPr lang="en-GB" sz="3200" b="1" dirty="0"/>
              <a:t>Temperature Control: </a:t>
            </a:r>
            <a:r>
              <a:rPr lang="en-GB" sz="3200" dirty="0"/>
              <a:t>The HVAC system must be capable of maintaining a comfortable cabin temperature under different weather conditions.</a:t>
            </a:r>
          </a:p>
          <a:p>
            <a:endParaRPr lang="en-GB" sz="3200" dirty="0"/>
          </a:p>
          <a:p>
            <a:r>
              <a:rPr lang="en-GB" sz="3200" b="1" dirty="0"/>
              <a:t> Explanation: </a:t>
            </a:r>
          </a:p>
          <a:p>
            <a:pPr marL="457200" indent="-457200">
              <a:buFont typeface="Wingdings" panose="05000000000000000000" pitchFamily="2" charset="2"/>
              <a:buChar char="Ø"/>
            </a:pPr>
            <a:r>
              <a:rPr lang="en-GB" sz="3200" dirty="0"/>
              <a:t>During cold weather, the heating system should warm the passenger compartment, while during hot weather, the air-conditioning system should cool the cabin effectively. Proper temperature control improves passenger comfort and reduces driver fatigue.</a:t>
            </a:r>
            <a:endParaRPr lang="en-US" sz="3200" dirty="0"/>
          </a:p>
        </p:txBody>
      </p:sp>
    </p:spTree>
    <p:extLst>
      <p:ext uri="{BB962C8B-B14F-4D97-AF65-F5344CB8AC3E}">
        <p14:creationId xmlns:p14="http://schemas.microsoft.com/office/powerpoint/2010/main" val="1575389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Fundamental Requirements of an Automotive HVAC System</a:t>
            </a:r>
          </a:p>
        </p:txBody>
      </p:sp>
      <p:sp>
        <p:nvSpPr>
          <p:cNvPr id="16" name="TextBox 15">
            <a:extLst>
              <a:ext uri="{FF2B5EF4-FFF2-40B4-BE49-F238E27FC236}">
                <a16:creationId xmlns:a16="http://schemas.microsoft.com/office/drawing/2014/main" id="{49784FE6-42DE-4A3A-8B9F-AC45A473E140}"/>
              </a:ext>
            </a:extLst>
          </p:cNvPr>
          <p:cNvSpPr txBox="1"/>
          <p:nvPr/>
        </p:nvSpPr>
        <p:spPr>
          <a:xfrm>
            <a:off x="0" y="1049740"/>
            <a:ext cx="12148771" cy="6247864"/>
          </a:xfrm>
          <a:prstGeom prst="rect">
            <a:avLst/>
          </a:prstGeom>
          <a:noFill/>
        </p:spPr>
        <p:txBody>
          <a:bodyPr wrap="square">
            <a:spAutoFit/>
          </a:bodyPr>
          <a:lstStyle/>
          <a:p>
            <a:pPr marL="285750" indent="-285750">
              <a:buFont typeface="Wingdings" panose="05000000000000000000" pitchFamily="2" charset="2"/>
              <a:buChar char="Ø"/>
            </a:pPr>
            <a:r>
              <a:rPr lang="en-GB" sz="2800" b="1" dirty="0"/>
              <a:t>Adequate Ventilation: </a:t>
            </a:r>
            <a:r>
              <a:rPr lang="en-GB" sz="2800" dirty="0"/>
              <a:t>The system must provide continuous circulation of fresh air inside the vehicle cabin.</a:t>
            </a:r>
          </a:p>
          <a:p>
            <a:r>
              <a:rPr lang="en-GB" sz="2800" b="1" dirty="0"/>
              <a:t>Explanation</a:t>
            </a:r>
          </a:p>
          <a:p>
            <a:r>
              <a:rPr lang="en-GB" sz="2800" dirty="0"/>
              <a:t>Ventilation removes stale air, odours, smoke, and harmful gases while supplying fresh air to passengers. Good ventilation improves air quality and creates a healthier cabin environment.</a:t>
            </a:r>
          </a:p>
          <a:p>
            <a:endParaRPr lang="en-GB" sz="2800" dirty="0"/>
          </a:p>
          <a:p>
            <a:pPr marL="457200" indent="-457200">
              <a:buFont typeface="Wingdings" panose="05000000000000000000" pitchFamily="2" charset="2"/>
              <a:buChar char="Ø"/>
            </a:pPr>
            <a:r>
              <a:rPr lang="en-GB" sz="2800" b="1" dirty="0"/>
              <a:t>Humidity Control: </a:t>
            </a:r>
            <a:r>
              <a:rPr lang="en-GB" sz="2800" dirty="0"/>
              <a:t>The HVAC system should control moisture levels inside the vehicle.</a:t>
            </a:r>
          </a:p>
          <a:p>
            <a:r>
              <a:rPr lang="en-GB" sz="2800" b="1" dirty="0"/>
              <a:t>Explanation: </a:t>
            </a:r>
            <a:r>
              <a:rPr lang="en-GB" sz="2800" dirty="0"/>
              <a:t>Excess humidity can cause discomfort and fogging of windows. The air-conditioning system removes moisture from the air through dehumidification, improving visibility and passenger comfort.</a:t>
            </a:r>
          </a:p>
          <a:p>
            <a:endParaRPr lang="en-GB" sz="3200" dirty="0"/>
          </a:p>
          <a:p>
            <a:endParaRPr lang="en-US" sz="3200" dirty="0"/>
          </a:p>
        </p:txBody>
      </p:sp>
    </p:spTree>
    <p:extLst>
      <p:ext uri="{BB962C8B-B14F-4D97-AF65-F5344CB8AC3E}">
        <p14:creationId xmlns:p14="http://schemas.microsoft.com/office/powerpoint/2010/main" val="248630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Fundamental Requirements of an Automotive HVAC System</a:t>
            </a:r>
          </a:p>
        </p:txBody>
      </p:sp>
      <p:sp>
        <p:nvSpPr>
          <p:cNvPr id="13" name="TextBox 12">
            <a:extLst>
              <a:ext uri="{FF2B5EF4-FFF2-40B4-BE49-F238E27FC236}">
                <a16:creationId xmlns:a16="http://schemas.microsoft.com/office/drawing/2014/main" id="{47D38253-40B1-4AF5-9B37-E18399283044}"/>
              </a:ext>
            </a:extLst>
          </p:cNvPr>
          <p:cNvSpPr txBox="1"/>
          <p:nvPr/>
        </p:nvSpPr>
        <p:spPr>
          <a:xfrm>
            <a:off x="43229" y="945223"/>
            <a:ext cx="12105542" cy="4832092"/>
          </a:xfrm>
          <a:prstGeom prst="rect">
            <a:avLst/>
          </a:prstGeom>
          <a:noFill/>
        </p:spPr>
        <p:txBody>
          <a:bodyPr wrap="square">
            <a:spAutoFit/>
          </a:bodyPr>
          <a:lstStyle/>
          <a:p>
            <a:pPr marL="285750" indent="-285750">
              <a:buFont typeface="Wingdings" panose="05000000000000000000" pitchFamily="2" charset="2"/>
              <a:buChar char="Ø"/>
            </a:pPr>
            <a:r>
              <a:rPr lang="en-GB" sz="2800" b="1" dirty="0"/>
              <a:t>Air Cleaning and Filtration: </a:t>
            </a:r>
            <a:r>
              <a:rPr lang="en-GB" sz="2800" dirty="0"/>
              <a:t>The system should remove dust, pollen, and contaminants from incoming air.</a:t>
            </a:r>
          </a:p>
          <a:p>
            <a:r>
              <a:rPr lang="en-GB" sz="2800" b="1" dirty="0"/>
              <a:t>Explanation: </a:t>
            </a:r>
            <a:r>
              <a:rPr lang="en-GB" sz="2800" dirty="0"/>
              <a:t>Cabin air filters are used to trap airborne particles before air enters the passenger compartment. This improves air quality and protects passengers from allergens and pollutants.</a:t>
            </a:r>
          </a:p>
          <a:p>
            <a:endParaRPr lang="en-GB" sz="2800" dirty="0"/>
          </a:p>
          <a:p>
            <a:pPr marL="285750" indent="-285750">
              <a:buFont typeface="Wingdings" panose="05000000000000000000" pitchFamily="2" charset="2"/>
              <a:buChar char="Ø"/>
            </a:pPr>
            <a:r>
              <a:rPr lang="en-GB" sz="2800" b="1" dirty="0"/>
              <a:t>Proper Air Distribution:</a:t>
            </a:r>
            <a:r>
              <a:rPr lang="en-GB" sz="2800" dirty="0"/>
              <a:t> The HVAC system must distribute conditioned air evenly throughout the cabin.</a:t>
            </a:r>
          </a:p>
          <a:p>
            <a:r>
              <a:rPr lang="en-GB" sz="2800" dirty="0"/>
              <a:t> </a:t>
            </a:r>
            <a:r>
              <a:rPr lang="en-GB" sz="2800" b="1" dirty="0"/>
              <a:t>Explanation:</a:t>
            </a:r>
            <a:r>
              <a:rPr lang="en-GB" sz="2800" dirty="0"/>
              <a:t> Air ducts, vents, and blower systems direct heated or cooled air to different parts of the vehicle, including the dashboard, floor, and windshield areas, ensuring uniform comfort.</a:t>
            </a:r>
            <a:endParaRPr lang="en-US" sz="2800" dirty="0"/>
          </a:p>
        </p:txBody>
      </p:sp>
    </p:spTree>
    <p:extLst>
      <p:ext uri="{BB962C8B-B14F-4D97-AF65-F5344CB8AC3E}">
        <p14:creationId xmlns:p14="http://schemas.microsoft.com/office/powerpoint/2010/main" val="160448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Fundamental Requirements of an Automotive HVAC System</a:t>
            </a:r>
          </a:p>
        </p:txBody>
      </p:sp>
      <p:sp>
        <p:nvSpPr>
          <p:cNvPr id="13" name="TextBox 12">
            <a:extLst>
              <a:ext uri="{FF2B5EF4-FFF2-40B4-BE49-F238E27FC236}">
                <a16:creationId xmlns:a16="http://schemas.microsoft.com/office/drawing/2014/main" id="{6F7A326A-FF3D-4ED2-B3F9-351DD3E33C76}"/>
              </a:ext>
            </a:extLst>
          </p:cNvPr>
          <p:cNvSpPr txBox="1"/>
          <p:nvPr/>
        </p:nvSpPr>
        <p:spPr>
          <a:xfrm>
            <a:off x="0" y="1087780"/>
            <a:ext cx="12148771" cy="4456983"/>
          </a:xfrm>
          <a:prstGeom prst="rect">
            <a:avLst/>
          </a:prstGeom>
          <a:noFill/>
        </p:spPr>
        <p:txBody>
          <a:bodyPr wrap="square">
            <a:spAutoFit/>
          </a:bodyPr>
          <a:lstStyle/>
          <a:p>
            <a:pPr marL="285750" indent="-285750">
              <a:buFont typeface="Wingdings" panose="05000000000000000000" pitchFamily="2" charset="2"/>
              <a:buChar char="Ø"/>
            </a:pPr>
            <a:r>
              <a:rPr lang="en-US" sz="2800" b="1" dirty="0"/>
              <a:t>Safety and Environmental Protection: </a:t>
            </a:r>
            <a:r>
              <a:rPr lang="en-US" sz="2800" dirty="0"/>
              <a:t>The HVAC system must operate safely and use environmentally friendly refrigerants.</a:t>
            </a:r>
          </a:p>
          <a:p>
            <a:r>
              <a:rPr lang="en-US" sz="2800" b="1" dirty="0"/>
              <a:t>Explanation:</a:t>
            </a:r>
            <a:r>
              <a:rPr lang="en-US" sz="2800" dirty="0"/>
              <a:t> Modern HVAC systems use refrigerants with low ozone depletion and low global warming potential. Proper system design also prevents refrigerant leakage and protects passengers during operation and servicing.</a:t>
            </a:r>
          </a:p>
          <a:p>
            <a:endParaRPr lang="en-US" sz="2800" dirty="0"/>
          </a:p>
          <a:p>
            <a:pPr marL="285750" indent="-285750">
              <a:buFont typeface="Wingdings" panose="05000000000000000000" pitchFamily="2" charset="2"/>
              <a:buChar char="Ø"/>
            </a:pPr>
            <a:r>
              <a:rPr lang="en-US" sz="2800" b="1" dirty="0"/>
              <a:t>Energy Efficiency: </a:t>
            </a:r>
            <a:r>
              <a:rPr lang="en-US" sz="2800" dirty="0"/>
              <a:t>The HVAC system should provide comfort with minimum energy consumption.</a:t>
            </a:r>
          </a:p>
          <a:p>
            <a:r>
              <a:rPr lang="en-US" sz="2800" b="1" dirty="0"/>
              <a:t>Explanation: </a:t>
            </a:r>
            <a:r>
              <a:rPr lang="en-US" sz="2800" dirty="0"/>
              <a:t>Efficient HVAC systems reduce engine load and fuel consumption while maintaining effective heating and cooling performance.</a:t>
            </a:r>
          </a:p>
        </p:txBody>
      </p:sp>
    </p:spTree>
    <p:extLst>
      <p:ext uri="{BB962C8B-B14F-4D97-AF65-F5344CB8AC3E}">
        <p14:creationId xmlns:p14="http://schemas.microsoft.com/office/powerpoint/2010/main" val="3564211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D78B4D7-D2ED-40DF-AF15-9B6DE6918181}"/>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Fundamental Requirements of an Automotive HVAC System</a:t>
            </a:r>
          </a:p>
        </p:txBody>
      </p:sp>
      <p:sp>
        <p:nvSpPr>
          <p:cNvPr id="13" name="TextBox 12">
            <a:extLst>
              <a:ext uri="{FF2B5EF4-FFF2-40B4-BE49-F238E27FC236}">
                <a16:creationId xmlns:a16="http://schemas.microsoft.com/office/drawing/2014/main" id="{27D9B0CA-242C-421D-B962-F3EB2D5297FC}"/>
              </a:ext>
            </a:extLst>
          </p:cNvPr>
          <p:cNvSpPr txBox="1"/>
          <p:nvPr/>
        </p:nvSpPr>
        <p:spPr>
          <a:xfrm>
            <a:off x="0" y="1235468"/>
            <a:ext cx="12192000" cy="4401205"/>
          </a:xfrm>
          <a:prstGeom prst="rect">
            <a:avLst/>
          </a:prstGeom>
          <a:noFill/>
        </p:spPr>
        <p:txBody>
          <a:bodyPr wrap="square">
            <a:spAutoFit/>
          </a:bodyPr>
          <a:lstStyle/>
          <a:p>
            <a:pPr marL="285750" indent="-285750">
              <a:buFont typeface="Wingdings" panose="05000000000000000000" pitchFamily="2" charset="2"/>
              <a:buChar char="Ø"/>
            </a:pPr>
            <a:r>
              <a:rPr lang="en-GB" sz="2800" b="1" dirty="0"/>
              <a:t>Windshield Defrosting and Defogging</a:t>
            </a:r>
            <a:r>
              <a:rPr lang="en-GB" sz="2800" dirty="0"/>
              <a:t>: The system must be capable of clearing fog, frost, or moisture from the windshield and windows. </a:t>
            </a:r>
          </a:p>
          <a:p>
            <a:r>
              <a:rPr lang="en-GB" sz="2800" b="1" dirty="0"/>
              <a:t>Explanation: </a:t>
            </a:r>
            <a:r>
              <a:rPr lang="en-GB" sz="2800" dirty="0"/>
              <a:t>Warm and dry air is directed toward the windshield to improve visibility and driving safety during cold or rainy weather conditions.</a:t>
            </a:r>
          </a:p>
          <a:p>
            <a:endParaRPr lang="en-GB" sz="2800" dirty="0"/>
          </a:p>
          <a:p>
            <a:pPr marL="285750" indent="-285750">
              <a:buFont typeface="Wingdings" panose="05000000000000000000" pitchFamily="2" charset="2"/>
              <a:buChar char="Ø"/>
            </a:pPr>
            <a:r>
              <a:rPr lang="en-GB" sz="2800" dirty="0"/>
              <a:t>The fundamental requirements of an automotive HVAC system are aimed at providing thermal comfort, clean air, proper ventilation, safety, and efficient operation under varying environmental conditions. A properly designed HVAC system improves passenger comfort, enhances visibility, and contributes to safe and efficient vehicle operation.</a:t>
            </a:r>
            <a:endParaRPr lang="en-US" sz="2800" dirty="0"/>
          </a:p>
        </p:txBody>
      </p:sp>
    </p:spTree>
    <p:extLst>
      <p:ext uri="{BB962C8B-B14F-4D97-AF65-F5344CB8AC3E}">
        <p14:creationId xmlns:p14="http://schemas.microsoft.com/office/powerpoint/2010/main" val="2707389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899AD42-F974-4540-85DF-0B9CC6BF3383}"/>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Lesson Recap</a:t>
            </a:r>
          </a:p>
        </p:txBody>
      </p:sp>
      <p:sp>
        <p:nvSpPr>
          <p:cNvPr id="17" name="TextBox 16">
            <a:extLst>
              <a:ext uri="{FF2B5EF4-FFF2-40B4-BE49-F238E27FC236}">
                <a16:creationId xmlns:a16="http://schemas.microsoft.com/office/drawing/2014/main" id="{9A7611D9-6B24-4F9D-B3F8-6C1ABF90272C}"/>
              </a:ext>
            </a:extLst>
          </p:cNvPr>
          <p:cNvSpPr txBox="1"/>
          <p:nvPr/>
        </p:nvSpPr>
        <p:spPr>
          <a:xfrm>
            <a:off x="2015294" y="2159541"/>
            <a:ext cx="7126273" cy="954107"/>
          </a:xfrm>
          <a:prstGeom prst="rect">
            <a:avLst/>
          </a:prstGeom>
          <a:noFill/>
        </p:spPr>
        <p:txBody>
          <a:bodyPr wrap="square">
            <a:spAutoFit/>
          </a:bodyPr>
          <a:lstStyle/>
          <a:p>
            <a:r>
              <a:rPr lang="en-US" sz="2800" dirty="0">
                <a:hlinkClick r:id="rId3" action="ppaction://hlinkfile"/>
              </a:rPr>
              <a:t>https://youtu.be/KQ77pSVyCik?si=x5ObIwwP8FWWnq7i</a:t>
            </a:r>
            <a:endParaRPr lang="en-US" sz="2800" dirty="0"/>
          </a:p>
        </p:txBody>
      </p:sp>
    </p:spTree>
    <p:extLst>
      <p:ext uri="{BB962C8B-B14F-4D97-AF65-F5344CB8AC3E}">
        <p14:creationId xmlns:p14="http://schemas.microsoft.com/office/powerpoint/2010/main" val="403356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Connector 8">
            <a:extLst>
              <a:ext uri="{FF2B5EF4-FFF2-40B4-BE49-F238E27FC236}">
                <a16:creationId xmlns:a16="http://schemas.microsoft.com/office/drawing/2014/main" id="{815CC649-8337-4D40-9BA2-C04F882969FD}"/>
              </a:ext>
            </a:extLst>
          </p:cNvPr>
          <p:cNvSpPr/>
          <p:nvPr/>
        </p:nvSpPr>
        <p:spPr>
          <a:xfrm>
            <a:off x="0" y="5293805"/>
            <a:ext cx="1633590" cy="1551397"/>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0ECF3D21-86BB-4FCC-A8AF-7C26DF859C52}"/>
              </a:ext>
            </a:extLst>
          </p:cNvPr>
          <p:cNvCxnSpPr>
            <a:cxnSpLocks/>
          </p:cNvCxnSpPr>
          <p:nvPr/>
        </p:nvCxnSpPr>
        <p:spPr>
          <a:xfrm>
            <a:off x="0" y="747830"/>
            <a:ext cx="7126273"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421A748-2440-4443-919B-574A69E00482}"/>
              </a:ext>
            </a:extLst>
          </p:cNvPr>
          <p:cNvCxnSpPr>
            <a:cxnSpLocks/>
          </p:cNvCxnSpPr>
          <p:nvPr/>
        </p:nvCxnSpPr>
        <p:spPr>
          <a:xfrm>
            <a:off x="6924782" y="6397375"/>
            <a:ext cx="5267218" cy="0"/>
          </a:xfrm>
          <a:prstGeom prst="line">
            <a:avLst/>
          </a:prstGeom>
        </p:spPr>
        <p:style>
          <a:lnRef idx="3">
            <a:schemeClr val="dk1"/>
          </a:lnRef>
          <a:fillRef idx="0">
            <a:schemeClr val="dk1"/>
          </a:fillRef>
          <a:effectRef idx="2">
            <a:schemeClr val="dk1"/>
          </a:effectRef>
          <a:fontRef idx="minor">
            <a:schemeClr val="tx1"/>
          </a:fontRef>
        </p:style>
      </p:cxnSp>
      <p:sp>
        <p:nvSpPr>
          <p:cNvPr id="15" name="Flowchart: Connector 14">
            <a:extLst>
              <a:ext uri="{FF2B5EF4-FFF2-40B4-BE49-F238E27FC236}">
                <a16:creationId xmlns:a16="http://schemas.microsoft.com/office/drawing/2014/main" id="{E1158500-79E1-40C2-B6C3-CE991AD6A463}"/>
              </a:ext>
            </a:extLst>
          </p:cNvPr>
          <p:cNvSpPr/>
          <p:nvPr/>
        </p:nvSpPr>
        <p:spPr>
          <a:xfrm>
            <a:off x="6770669" y="6304907"/>
            <a:ext cx="154113" cy="18493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9802429-BD88-4289-AC55-1F1583D85437}"/>
              </a:ext>
            </a:extLst>
          </p:cNvPr>
          <p:cNvPicPr>
            <a:picLocks noChangeAspect="1"/>
          </p:cNvPicPr>
          <p:nvPr/>
        </p:nvPicPr>
        <p:blipFill>
          <a:blip r:embed="rId2"/>
          <a:stretch>
            <a:fillRect/>
          </a:stretch>
        </p:blipFill>
        <p:spPr>
          <a:xfrm>
            <a:off x="8167321" y="0"/>
            <a:ext cx="3981450" cy="1143000"/>
          </a:xfrm>
          <a:prstGeom prst="rect">
            <a:avLst/>
          </a:prstGeom>
        </p:spPr>
      </p:pic>
      <p:sp>
        <p:nvSpPr>
          <p:cNvPr id="21" name="Flowchart: Connector 20">
            <a:extLst>
              <a:ext uri="{FF2B5EF4-FFF2-40B4-BE49-F238E27FC236}">
                <a16:creationId xmlns:a16="http://schemas.microsoft.com/office/drawing/2014/main" id="{F5DEECA6-3042-42A2-B470-FA52DB6150F8}"/>
              </a:ext>
            </a:extLst>
          </p:cNvPr>
          <p:cNvSpPr/>
          <p:nvPr/>
        </p:nvSpPr>
        <p:spPr>
          <a:xfrm>
            <a:off x="1458317" y="6397375"/>
            <a:ext cx="294935" cy="33562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Flowchart: Connector 21">
            <a:extLst>
              <a:ext uri="{FF2B5EF4-FFF2-40B4-BE49-F238E27FC236}">
                <a16:creationId xmlns:a16="http://schemas.microsoft.com/office/drawing/2014/main" id="{D07BD72D-42BA-4213-A53B-EBD8BE7E2DC0}"/>
              </a:ext>
            </a:extLst>
          </p:cNvPr>
          <p:cNvSpPr/>
          <p:nvPr/>
        </p:nvSpPr>
        <p:spPr>
          <a:xfrm>
            <a:off x="1656416" y="6552389"/>
            <a:ext cx="294935" cy="292813"/>
          </a:xfrm>
          <a:prstGeom prst="flowChartConnector">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A55969D9-EACB-4F14-962F-248044A9EDFF}"/>
              </a:ext>
            </a:extLst>
          </p:cNvPr>
          <p:cNvSpPr/>
          <p:nvPr/>
        </p:nvSpPr>
        <p:spPr>
          <a:xfrm>
            <a:off x="7126273" y="642904"/>
            <a:ext cx="188925" cy="209851"/>
          </a:xfrm>
          <a:prstGeom prst="flowChartConnector">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899AD42-F974-4540-85DF-0B9CC6BF3383}"/>
              </a:ext>
            </a:extLst>
          </p:cNvPr>
          <p:cNvSpPr txBox="1"/>
          <p:nvPr/>
        </p:nvSpPr>
        <p:spPr>
          <a:xfrm>
            <a:off x="43229" y="85272"/>
            <a:ext cx="11474320" cy="461665"/>
          </a:xfrm>
          <a:prstGeom prst="rect">
            <a:avLst/>
          </a:prstGeom>
          <a:noFill/>
        </p:spPr>
        <p:txBody>
          <a:bodyPr wrap="square">
            <a:spAutoFit/>
          </a:bodyPr>
          <a:lstStyle/>
          <a:p>
            <a:r>
              <a:rPr kumimoji="0" lang="en-GB" sz="2400" b="1" i="1" u="none" strike="noStrike" kern="1200" cap="none" spc="0" normalizeH="0" baseline="0" noProof="0" dirty="0">
                <a:ln>
                  <a:noFill/>
                </a:ln>
                <a:solidFill>
                  <a:srgbClr val="FF0000"/>
                </a:solidFill>
                <a:effectLst/>
                <a:uLnTx/>
                <a:uFillTx/>
                <a:latin typeface="Calibri Light" panose="020F0302020204030204"/>
                <a:ea typeface="+mj-ea"/>
                <a:cs typeface="+mj-cs"/>
              </a:rPr>
              <a:t>Lesson Recap</a:t>
            </a:r>
          </a:p>
        </p:txBody>
      </p:sp>
      <p:sp>
        <p:nvSpPr>
          <p:cNvPr id="2" name="TextBox 1">
            <a:extLst>
              <a:ext uri="{FF2B5EF4-FFF2-40B4-BE49-F238E27FC236}">
                <a16:creationId xmlns:a16="http://schemas.microsoft.com/office/drawing/2014/main" id="{2D7D27DA-43A2-49A2-9B36-A205A8F8DABD}"/>
              </a:ext>
            </a:extLst>
          </p:cNvPr>
          <p:cNvSpPr txBox="1"/>
          <p:nvPr/>
        </p:nvSpPr>
        <p:spPr>
          <a:xfrm>
            <a:off x="0" y="1228272"/>
            <a:ext cx="12148771" cy="1384995"/>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t>Briefly describe how HVAC was achieved in the early automobiles</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Describes the functional requirements of the automotive HVAC system</a:t>
            </a:r>
          </a:p>
        </p:txBody>
      </p:sp>
    </p:spTree>
    <p:extLst>
      <p:ext uri="{BB962C8B-B14F-4D97-AF65-F5344CB8AC3E}">
        <p14:creationId xmlns:p14="http://schemas.microsoft.com/office/powerpoint/2010/main" val="2012130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12811</TotalTime>
  <Words>1538</Words>
  <Application>Microsoft Office PowerPoint</Application>
  <PresentationFormat>Widescreen</PresentationFormat>
  <Paragraphs>120</Paragraphs>
  <Slides>21</Slides>
  <Notes>4</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Adzah</dc:creator>
  <cp:lastModifiedBy>Kwaku Fiagbedzi</cp:lastModifiedBy>
  <cp:revision>44</cp:revision>
  <dcterms:created xsi:type="dcterms:W3CDTF">2026-05-11T15:16:27Z</dcterms:created>
  <dcterms:modified xsi:type="dcterms:W3CDTF">2026-08-06T10:28:32Z</dcterms:modified>
</cp:coreProperties>
</file>